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8" r:id="rId2"/>
    <p:sldId id="259" r:id="rId3"/>
    <p:sldId id="257" r:id="rId4"/>
    <p:sldId id="268" r:id="rId5"/>
    <p:sldId id="261" r:id="rId6"/>
    <p:sldId id="264" r:id="rId7"/>
    <p:sldId id="262" r:id="rId8"/>
    <p:sldId id="263" r:id="rId9"/>
    <p:sldId id="260" r:id="rId10"/>
    <p:sldId id="269" r:id="rId1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98E2EA-EF36-41AA-BFA7-1264C04B556F}" type="datetimeFigureOut">
              <a:rPr lang="fr-FR" smtClean="0"/>
              <a:t>20/02/2024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E4F71F-7B45-4D52-B411-DD2BFE9A9F4F}" type="slidenum">
              <a:rPr lang="fr-FR" smtClean="0"/>
              <a:t>‹N°›</a:t>
            </a:fld>
            <a:endParaRPr lang="fr-FR"/>
          </a:p>
        </p:txBody>
      </p:sp>
    </p:spTree>
    <p:extLst>
      <p:ext uri="{BB962C8B-B14F-4D97-AF65-F5344CB8AC3E}">
        <p14:creationId xmlns:p14="http://schemas.microsoft.com/office/powerpoint/2010/main" val="2214280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C6C16136-1C11-42B0-ABB8-0A2F8061703E}" type="slidenum">
              <a:rPr lang="fr-FR" smtClean="0"/>
              <a:pPr/>
              <a:t>1</a:t>
            </a:fld>
            <a:endParaRPr lang="fr-FR"/>
          </a:p>
        </p:txBody>
      </p:sp>
    </p:spTree>
    <p:extLst>
      <p:ext uri="{BB962C8B-B14F-4D97-AF65-F5344CB8AC3E}">
        <p14:creationId xmlns:p14="http://schemas.microsoft.com/office/powerpoint/2010/main" val="4086600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baseline="0" dirty="0" smtClean="0"/>
          </a:p>
        </p:txBody>
      </p:sp>
      <p:sp>
        <p:nvSpPr>
          <p:cNvPr id="4" name="Espace réservé du numéro de diapositive 3"/>
          <p:cNvSpPr>
            <a:spLocks noGrp="1"/>
          </p:cNvSpPr>
          <p:nvPr>
            <p:ph type="sldNum" sz="quarter" idx="10"/>
          </p:nvPr>
        </p:nvSpPr>
        <p:spPr/>
        <p:txBody>
          <a:bodyPr/>
          <a:lstStyle/>
          <a:p>
            <a:fld id="{A4BBB2FA-EF91-48C7-8A2C-59D533651C84}" type="slidenum">
              <a:rPr lang="fr-FR" smtClean="0"/>
              <a:pPr/>
              <a:t>2</a:t>
            </a:fld>
            <a:endParaRPr lang="fr-FR"/>
          </a:p>
        </p:txBody>
      </p:sp>
    </p:spTree>
    <p:extLst>
      <p:ext uri="{BB962C8B-B14F-4D97-AF65-F5344CB8AC3E}">
        <p14:creationId xmlns:p14="http://schemas.microsoft.com/office/powerpoint/2010/main" val="30233599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6C16136-1C11-42B0-ABB8-0A2F8061703E}" type="slidenum">
              <a:rPr lang="fr-FR" smtClean="0"/>
              <a:pPr/>
              <a:t>3</a:t>
            </a:fld>
            <a:endParaRPr lang="fr-FR"/>
          </a:p>
        </p:txBody>
      </p:sp>
    </p:spTree>
    <p:extLst>
      <p:ext uri="{BB962C8B-B14F-4D97-AF65-F5344CB8AC3E}">
        <p14:creationId xmlns:p14="http://schemas.microsoft.com/office/powerpoint/2010/main" val="37990961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6C16136-1C11-42B0-ABB8-0A2F8061703E}" type="slidenum">
              <a:rPr lang="fr-FR" smtClean="0"/>
              <a:pPr/>
              <a:t>4</a:t>
            </a:fld>
            <a:endParaRPr lang="fr-FR"/>
          </a:p>
        </p:txBody>
      </p:sp>
    </p:spTree>
    <p:extLst>
      <p:ext uri="{BB962C8B-B14F-4D97-AF65-F5344CB8AC3E}">
        <p14:creationId xmlns:p14="http://schemas.microsoft.com/office/powerpoint/2010/main" val="25116228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6C16136-1C11-42B0-ABB8-0A2F8061703E}" type="slidenum">
              <a:rPr lang="fr-FR" smtClean="0"/>
              <a:pPr/>
              <a:t>5</a:t>
            </a:fld>
            <a:endParaRPr lang="fr-FR"/>
          </a:p>
        </p:txBody>
      </p:sp>
    </p:spTree>
    <p:extLst>
      <p:ext uri="{BB962C8B-B14F-4D97-AF65-F5344CB8AC3E}">
        <p14:creationId xmlns:p14="http://schemas.microsoft.com/office/powerpoint/2010/main" val="31372892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6C16136-1C11-42B0-ABB8-0A2F8061703E}" type="slidenum">
              <a:rPr lang="fr-FR" smtClean="0"/>
              <a:pPr/>
              <a:t>6</a:t>
            </a:fld>
            <a:endParaRPr lang="fr-FR"/>
          </a:p>
        </p:txBody>
      </p:sp>
    </p:spTree>
    <p:extLst>
      <p:ext uri="{BB962C8B-B14F-4D97-AF65-F5344CB8AC3E}">
        <p14:creationId xmlns:p14="http://schemas.microsoft.com/office/powerpoint/2010/main" val="7278167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6C16136-1C11-42B0-ABB8-0A2F8061703E}" type="slidenum">
              <a:rPr lang="fr-FR" smtClean="0"/>
              <a:pPr/>
              <a:t>7</a:t>
            </a:fld>
            <a:endParaRPr lang="fr-FR"/>
          </a:p>
        </p:txBody>
      </p:sp>
    </p:spTree>
    <p:extLst>
      <p:ext uri="{BB962C8B-B14F-4D97-AF65-F5344CB8AC3E}">
        <p14:creationId xmlns:p14="http://schemas.microsoft.com/office/powerpoint/2010/main" val="11529541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6C16136-1C11-42B0-ABB8-0A2F8061703E}" type="slidenum">
              <a:rPr lang="fr-FR" smtClean="0"/>
              <a:pPr/>
              <a:t>8</a:t>
            </a:fld>
            <a:endParaRPr lang="fr-FR"/>
          </a:p>
        </p:txBody>
      </p:sp>
    </p:spTree>
    <p:extLst>
      <p:ext uri="{BB962C8B-B14F-4D97-AF65-F5344CB8AC3E}">
        <p14:creationId xmlns:p14="http://schemas.microsoft.com/office/powerpoint/2010/main" val="20217889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6C16136-1C11-42B0-ABB8-0A2F8061703E}" type="slidenum">
              <a:rPr lang="fr-FR" smtClean="0"/>
              <a:pPr/>
              <a:t>9</a:t>
            </a:fld>
            <a:endParaRPr lang="fr-FR"/>
          </a:p>
        </p:txBody>
      </p:sp>
    </p:spTree>
    <p:extLst>
      <p:ext uri="{BB962C8B-B14F-4D97-AF65-F5344CB8AC3E}">
        <p14:creationId xmlns:p14="http://schemas.microsoft.com/office/powerpoint/2010/main" val="39595524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6C16136-1C11-42B0-ABB8-0A2F8061703E}" type="slidenum">
              <a:rPr lang="fr-FR" smtClean="0"/>
              <a:pPr/>
              <a:t>10</a:t>
            </a:fld>
            <a:endParaRPr lang="fr-FR"/>
          </a:p>
        </p:txBody>
      </p:sp>
    </p:spTree>
    <p:extLst>
      <p:ext uri="{BB962C8B-B14F-4D97-AF65-F5344CB8AC3E}">
        <p14:creationId xmlns:p14="http://schemas.microsoft.com/office/powerpoint/2010/main" val="11085891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Modifiez le style des sous-titres du masque</a:t>
            </a:r>
            <a:endParaRPr lang="fr-FR"/>
          </a:p>
        </p:txBody>
      </p:sp>
      <p:sp>
        <p:nvSpPr>
          <p:cNvPr id="4" name="Espace réservé de la date 3"/>
          <p:cNvSpPr>
            <a:spLocks noGrp="1"/>
          </p:cNvSpPr>
          <p:nvPr>
            <p:ph type="dt" sz="half" idx="10"/>
          </p:nvPr>
        </p:nvSpPr>
        <p:spPr/>
        <p:txBody>
          <a:bodyPr/>
          <a:lstStyle/>
          <a:p>
            <a:fld id="{1DB25D6C-DE98-4863-9CEF-FE10BDD173B8}" type="datetimeFigureOut">
              <a:rPr lang="fr-FR" smtClean="0"/>
              <a:t>20/02/2024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95593A1-48A9-4CD4-938F-6A7B279BA494}" type="slidenum">
              <a:rPr lang="fr-FR" smtClean="0"/>
              <a:t>‹N°›</a:t>
            </a:fld>
            <a:endParaRPr lang="fr-FR"/>
          </a:p>
        </p:txBody>
      </p:sp>
    </p:spTree>
    <p:extLst>
      <p:ext uri="{BB962C8B-B14F-4D97-AF65-F5344CB8AC3E}">
        <p14:creationId xmlns:p14="http://schemas.microsoft.com/office/powerpoint/2010/main" val="2701878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1DB25D6C-DE98-4863-9CEF-FE10BDD173B8}" type="datetimeFigureOut">
              <a:rPr lang="fr-FR" smtClean="0"/>
              <a:t>20/02/2024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95593A1-48A9-4CD4-938F-6A7B279BA494}" type="slidenum">
              <a:rPr lang="fr-FR" smtClean="0"/>
              <a:t>‹N°›</a:t>
            </a:fld>
            <a:endParaRPr lang="fr-FR"/>
          </a:p>
        </p:txBody>
      </p:sp>
    </p:spTree>
    <p:extLst>
      <p:ext uri="{BB962C8B-B14F-4D97-AF65-F5344CB8AC3E}">
        <p14:creationId xmlns:p14="http://schemas.microsoft.com/office/powerpoint/2010/main" val="776668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Modifiez les styles du texte du masque</a:t>
            </a:r>
          </a:p>
        </p:txBody>
      </p:sp>
      <p:sp>
        <p:nvSpPr>
          <p:cNvPr id="4" name="Espace réservé de la date 3"/>
          <p:cNvSpPr>
            <a:spLocks noGrp="1"/>
          </p:cNvSpPr>
          <p:nvPr>
            <p:ph type="dt" sz="half" idx="10"/>
          </p:nvPr>
        </p:nvSpPr>
        <p:spPr/>
        <p:txBody>
          <a:bodyPr/>
          <a:lstStyle/>
          <a:p>
            <a:fld id="{1DB25D6C-DE98-4863-9CEF-FE10BDD173B8}" type="datetimeFigureOut">
              <a:rPr lang="fr-FR" smtClean="0"/>
              <a:t>20/02/2024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95593A1-48A9-4CD4-938F-6A7B279BA494}" type="slidenum">
              <a:rPr lang="fr-FR" smtClean="0"/>
              <a:t>‹N°›</a:t>
            </a:fld>
            <a:endParaRPr lang="fr-FR"/>
          </a:p>
        </p:txBody>
      </p:sp>
    </p:spTree>
    <p:extLst>
      <p:ext uri="{BB962C8B-B14F-4D97-AF65-F5344CB8AC3E}">
        <p14:creationId xmlns:p14="http://schemas.microsoft.com/office/powerpoint/2010/main" val="2280886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1DB25D6C-DE98-4863-9CEF-FE10BDD173B8}" type="datetimeFigureOut">
              <a:rPr lang="fr-FR" smtClean="0"/>
              <a:t>20/02/2024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395593A1-48A9-4CD4-938F-6A7B279BA494}" type="slidenum">
              <a:rPr lang="fr-FR" smtClean="0"/>
              <a:t>‹N°›</a:t>
            </a:fld>
            <a:endParaRPr lang="fr-FR"/>
          </a:p>
        </p:txBody>
      </p:sp>
    </p:spTree>
    <p:extLst>
      <p:ext uri="{BB962C8B-B14F-4D97-AF65-F5344CB8AC3E}">
        <p14:creationId xmlns:p14="http://schemas.microsoft.com/office/powerpoint/2010/main" val="18426989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1DB25D6C-DE98-4863-9CEF-FE10BDD173B8}" type="datetimeFigureOut">
              <a:rPr lang="fr-FR" smtClean="0"/>
              <a:t>20/02/2024</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395593A1-48A9-4CD4-938F-6A7B279BA494}" type="slidenum">
              <a:rPr lang="fr-FR" smtClean="0"/>
              <a:t>‹N°›</a:t>
            </a:fld>
            <a:endParaRPr lang="fr-FR"/>
          </a:p>
        </p:txBody>
      </p:sp>
    </p:spTree>
    <p:extLst>
      <p:ext uri="{BB962C8B-B14F-4D97-AF65-F5344CB8AC3E}">
        <p14:creationId xmlns:p14="http://schemas.microsoft.com/office/powerpoint/2010/main" val="41486522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1DB25D6C-DE98-4863-9CEF-FE10BDD173B8}" type="datetimeFigureOut">
              <a:rPr lang="fr-FR" smtClean="0"/>
              <a:t>20/02/2024</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395593A1-48A9-4CD4-938F-6A7B279BA494}" type="slidenum">
              <a:rPr lang="fr-FR" smtClean="0"/>
              <a:t>‹N°›</a:t>
            </a:fld>
            <a:endParaRPr lang="fr-FR"/>
          </a:p>
        </p:txBody>
      </p:sp>
    </p:spTree>
    <p:extLst>
      <p:ext uri="{BB962C8B-B14F-4D97-AF65-F5344CB8AC3E}">
        <p14:creationId xmlns:p14="http://schemas.microsoft.com/office/powerpoint/2010/main" val="1348472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1DB25D6C-DE98-4863-9CEF-FE10BDD173B8}" type="datetimeFigureOut">
              <a:rPr lang="fr-FR" smtClean="0"/>
              <a:t>20/02/2024</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395593A1-48A9-4CD4-938F-6A7B279BA494}" type="slidenum">
              <a:rPr lang="fr-FR" smtClean="0"/>
              <a:t>‹N°›</a:t>
            </a:fld>
            <a:endParaRPr lang="fr-FR"/>
          </a:p>
        </p:txBody>
      </p:sp>
    </p:spTree>
    <p:extLst>
      <p:ext uri="{BB962C8B-B14F-4D97-AF65-F5344CB8AC3E}">
        <p14:creationId xmlns:p14="http://schemas.microsoft.com/office/powerpoint/2010/main" val="34764696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1DB25D6C-DE98-4863-9CEF-FE10BDD173B8}" type="datetimeFigureOut">
              <a:rPr lang="fr-FR" smtClean="0"/>
              <a:t>20/02/2024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395593A1-48A9-4CD4-938F-6A7B279BA494}" type="slidenum">
              <a:rPr lang="fr-FR" smtClean="0"/>
              <a:t>‹N°›</a:t>
            </a:fld>
            <a:endParaRPr lang="fr-FR"/>
          </a:p>
        </p:txBody>
      </p:sp>
    </p:spTree>
    <p:extLst>
      <p:ext uri="{BB962C8B-B14F-4D97-AF65-F5344CB8AC3E}">
        <p14:creationId xmlns:p14="http://schemas.microsoft.com/office/powerpoint/2010/main" val="3046347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1DB25D6C-DE98-4863-9CEF-FE10BDD173B8}" type="datetimeFigureOut">
              <a:rPr lang="fr-FR" smtClean="0"/>
              <a:t>20/02/2024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395593A1-48A9-4CD4-938F-6A7B279BA494}" type="slidenum">
              <a:rPr lang="fr-FR" smtClean="0"/>
              <a:t>‹N°›</a:t>
            </a:fld>
            <a:endParaRPr lang="fr-FR"/>
          </a:p>
        </p:txBody>
      </p:sp>
    </p:spTree>
    <p:extLst>
      <p:ext uri="{BB962C8B-B14F-4D97-AF65-F5344CB8AC3E}">
        <p14:creationId xmlns:p14="http://schemas.microsoft.com/office/powerpoint/2010/main" val="1306853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1DB25D6C-DE98-4863-9CEF-FE10BDD173B8}" type="datetimeFigureOut">
              <a:rPr lang="fr-FR" smtClean="0"/>
              <a:t>20/02/2024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95593A1-48A9-4CD4-938F-6A7B279BA494}" type="slidenum">
              <a:rPr lang="fr-FR" smtClean="0"/>
              <a:t>‹N°›</a:t>
            </a:fld>
            <a:endParaRPr lang="fr-FR"/>
          </a:p>
        </p:txBody>
      </p:sp>
    </p:spTree>
    <p:extLst>
      <p:ext uri="{BB962C8B-B14F-4D97-AF65-F5344CB8AC3E}">
        <p14:creationId xmlns:p14="http://schemas.microsoft.com/office/powerpoint/2010/main" val="10481571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1DB25D6C-DE98-4863-9CEF-FE10BDD173B8}" type="datetimeFigureOut">
              <a:rPr lang="fr-FR" smtClean="0"/>
              <a:t>20/02/2024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95593A1-48A9-4CD4-938F-6A7B279BA494}" type="slidenum">
              <a:rPr lang="fr-FR" smtClean="0"/>
              <a:t>‹N°›</a:t>
            </a:fld>
            <a:endParaRPr lang="fr-FR"/>
          </a:p>
        </p:txBody>
      </p:sp>
    </p:spTree>
    <p:extLst>
      <p:ext uri="{BB962C8B-B14F-4D97-AF65-F5344CB8AC3E}">
        <p14:creationId xmlns:p14="http://schemas.microsoft.com/office/powerpoint/2010/main" val="3430505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B25D6C-DE98-4863-9CEF-FE10BDD173B8}" type="datetimeFigureOut">
              <a:rPr lang="fr-FR" smtClean="0"/>
              <a:t>20/02/2024</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5593A1-48A9-4CD4-938F-6A7B279BA494}" type="slidenum">
              <a:rPr lang="fr-FR" smtClean="0"/>
              <a:t>‹N°›</a:t>
            </a:fld>
            <a:endParaRPr lang="fr-FR"/>
          </a:p>
        </p:txBody>
      </p:sp>
    </p:spTree>
    <p:extLst>
      <p:ext uri="{BB962C8B-B14F-4D97-AF65-F5344CB8AC3E}">
        <p14:creationId xmlns:p14="http://schemas.microsoft.com/office/powerpoint/2010/main" val="20296637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png"/><Relationship Id="rId7"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jpe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5.png"/><Relationship Id="rId7" Type="http://schemas.openxmlformats.org/officeDocument/2006/relationships/image" Target="../media/image16.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notesSlide" Target="../notesSlides/notesSlide3.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19.png"/><Relationship Id="rId5" Type="http://schemas.openxmlformats.org/officeDocument/2006/relationships/image" Target="../media/image14.png"/><Relationship Id="rId15" Type="http://schemas.openxmlformats.org/officeDocument/2006/relationships/image" Target="../media/image23.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6.png"/><Relationship Id="rId9" Type="http://schemas.openxmlformats.org/officeDocument/2006/relationships/image" Target="../media/image7.png"/><Relationship Id="rId14" Type="http://schemas.openxmlformats.org/officeDocument/2006/relationships/image" Target="../media/image22.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5.png"/><Relationship Id="rId7" Type="http://schemas.openxmlformats.org/officeDocument/2006/relationships/image" Target="../media/image16.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notesSlide" Target="../notesSlides/notesSlide4.xml"/><Relationship Id="rId16"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19.png"/><Relationship Id="rId5" Type="http://schemas.openxmlformats.org/officeDocument/2006/relationships/image" Target="../media/image14.png"/><Relationship Id="rId15" Type="http://schemas.openxmlformats.org/officeDocument/2006/relationships/image" Target="../media/image23.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6.png"/><Relationship Id="rId9" Type="http://schemas.openxmlformats.org/officeDocument/2006/relationships/image" Target="../media/image7.png"/><Relationship Id="rId14" Type="http://schemas.openxmlformats.org/officeDocument/2006/relationships/image" Target="../media/image22.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11.png"/><Relationship Id="rId18" Type="http://schemas.openxmlformats.org/officeDocument/2006/relationships/image" Target="../media/image22.png"/><Relationship Id="rId3" Type="http://schemas.openxmlformats.org/officeDocument/2006/relationships/image" Target="../media/image5.png"/><Relationship Id="rId7" Type="http://schemas.openxmlformats.org/officeDocument/2006/relationships/image" Target="../media/image16.png"/><Relationship Id="rId12" Type="http://schemas.openxmlformats.org/officeDocument/2006/relationships/image" Target="../media/image19.png"/><Relationship Id="rId17" Type="http://schemas.openxmlformats.org/officeDocument/2006/relationships/image" Target="../media/image31.png"/><Relationship Id="rId2" Type="http://schemas.openxmlformats.org/officeDocument/2006/relationships/notesSlide" Target="../notesSlides/notesSlide5.xml"/><Relationship Id="rId16" Type="http://schemas.openxmlformats.org/officeDocument/2006/relationships/image" Target="../media/image21.png"/><Relationship Id="rId20"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18.png"/><Relationship Id="rId5" Type="http://schemas.openxmlformats.org/officeDocument/2006/relationships/image" Target="../media/image14.png"/><Relationship Id="rId15" Type="http://schemas.openxmlformats.org/officeDocument/2006/relationships/image" Target="../media/image20.png"/><Relationship Id="rId10" Type="http://schemas.openxmlformats.org/officeDocument/2006/relationships/image" Target="../media/image29.png"/><Relationship Id="rId19" Type="http://schemas.openxmlformats.org/officeDocument/2006/relationships/image" Target="../media/image32.png"/><Relationship Id="rId4" Type="http://schemas.openxmlformats.org/officeDocument/2006/relationships/image" Target="../media/image6.png"/><Relationship Id="rId9" Type="http://schemas.openxmlformats.org/officeDocument/2006/relationships/image" Target="../media/image7.png"/><Relationship Id="rId14" Type="http://schemas.openxmlformats.org/officeDocument/2006/relationships/image" Target="../media/image30.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11.png"/><Relationship Id="rId18" Type="http://schemas.openxmlformats.org/officeDocument/2006/relationships/image" Target="../media/image22.png"/><Relationship Id="rId3" Type="http://schemas.openxmlformats.org/officeDocument/2006/relationships/image" Target="../media/image5.png"/><Relationship Id="rId7" Type="http://schemas.openxmlformats.org/officeDocument/2006/relationships/image" Target="../media/image16.png"/><Relationship Id="rId12" Type="http://schemas.openxmlformats.org/officeDocument/2006/relationships/image" Target="../media/image19.png"/><Relationship Id="rId17" Type="http://schemas.openxmlformats.org/officeDocument/2006/relationships/image" Target="../media/image31.png"/><Relationship Id="rId2" Type="http://schemas.openxmlformats.org/officeDocument/2006/relationships/notesSlide" Target="../notesSlides/notesSlide6.xml"/><Relationship Id="rId16"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18.png"/><Relationship Id="rId5" Type="http://schemas.openxmlformats.org/officeDocument/2006/relationships/image" Target="../media/image14.png"/><Relationship Id="rId15" Type="http://schemas.openxmlformats.org/officeDocument/2006/relationships/image" Target="../media/image20.png"/><Relationship Id="rId10" Type="http://schemas.openxmlformats.org/officeDocument/2006/relationships/image" Target="../media/image29.png"/><Relationship Id="rId19" Type="http://schemas.openxmlformats.org/officeDocument/2006/relationships/image" Target="../media/image23.png"/><Relationship Id="rId4" Type="http://schemas.openxmlformats.org/officeDocument/2006/relationships/image" Target="../media/image6.png"/><Relationship Id="rId9" Type="http://schemas.openxmlformats.org/officeDocument/2006/relationships/image" Target="../media/image7.png"/><Relationship Id="rId14" Type="http://schemas.openxmlformats.org/officeDocument/2006/relationships/image" Target="../media/image30.png"/></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31.png"/><Relationship Id="rId3" Type="http://schemas.openxmlformats.org/officeDocument/2006/relationships/image" Target="../media/image5.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7.xml"/><Relationship Id="rId16"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34.png"/><Relationship Id="rId10" Type="http://schemas.openxmlformats.org/officeDocument/2006/relationships/image" Target="../media/image11.png"/><Relationship Id="rId4" Type="http://schemas.openxmlformats.org/officeDocument/2006/relationships/image" Target="../media/image6.png"/><Relationship Id="rId9" Type="http://schemas.openxmlformats.org/officeDocument/2006/relationships/image" Target="../media/image18.png"/><Relationship Id="rId14" Type="http://schemas.openxmlformats.org/officeDocument/2006/relationships/image" Target="../media/image22.png"/></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1.png"/><Relationship Id="rId18" Type="http://schemas.openxmlformats.org/officeDocument/2006/relationships/image" Target="../media/image37.png"/><Relationship Id="rId3" Type="http://schemas.openxmlformats.org/officeDocument/2006/relationships/image" Target="../media/image5.png"/><Relationship Id="rId7" Type="http://schemas.openxmlformats.org/officeDocument/2006/relationships/image" Target="../media/image16.png"/><Relationship Id="rId12" Type="http://schemas.openxmlformats.org/officeDocument/2006/relationships/image" Target="../media/image20.png"/><Relationship Id="rId17" Type="http://schemas.openxmlformats.org/officeDocument/2006/relationships/image" Target="../media/image36.png"/><Relationship Id="rId2" Type="http://schemas.openxmlformats.org/officeDocument/2006/relationships/notesSlide" Target="../notesSlides/notesSlide8.xml"/><Relationship Id="rId16"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11.png"/><Relationship Id="rId5" Type="http://schemas.openxmlformats.org/officeDocument/2006/relationships/image" Target="../media/image14.png"/><Relationship Id="rId15" Type="http://schemas.openxmlformats.org/officeDocument/2006/relationships/image" Target="../media/image22.png"/><Relationship Id="rId10" Type="http://schemas.openxmlformats.org/officeDocument/2006/relationships/image" Target="../media/image19.png"/><Relationship Id="rId19" Type="http://schemas.openxmlformats.org/officeDocument/2006/relationships/image" Target="../media/image38.png"/><Relationship Id="rId4" Type="http://schemas.openxmlformats.org/officeDocument/2006/relationships/image" Target="../media/image6.png"/><Relationship Id="rId9" Type="http://schemas.openxmlformats.org/officeDocument/2006/relationships/image" Target="../media/image18.png"/><Relationship Id="rId14" Type="http://schemas.openxmlformats.org/officeDocument/2006/relationships/image" Target="../media/image31.png"/></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30.png"/><Relationship Id="rId18" Type="http://schemas.openxmlformats.org/officeDocument/2006/relationships/image" Target="../media/image39.png"/><Relationship Id="rId3" Type="http://schemas.openxmlformats.org/officeDocument/2006/relationships/image" Target="../media/image5.png"/><Relationship Id="rId21" Type="http://schemas.openxmlformats.org/officeDocument/2006/relationships/image" Target="../media/image22.png"/><Relationship Id="rId7" Type="http://schemas.openxmlformats.org/officeDocument/2006/relationships/image" Target="../media/image16.png"/><Relationship Id="rId12" Type="http://schemas.openxmlformats.org/officeDocument/2006/relationships/image" Target="../media/image18.png"/><Relationship Id="rId17" Type="http://schemas.openxmlformats.org/officeDocument/2006/relationships/image" Target="../media/image19.png"/><Relationship Id="rId2" Type="http://schemas.openxmlformats.org/officeDocument/2006/relationships/notesSlide" Target="../notesSlides/notesSlide9.xml"/><Relationship Id="rId16" Type="http://schemas.openxmlformats.org/officeDocument/2006/relationships/image" Target="../media/image11.png"/><Relationship Id="rId20"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31.png"/><Relationship Id="rId5" Type="http://schemas.openxmlformats.org/officeDocument/2006/relationships/image" Target="../media/image14.png"/><Relationship Id="rId15" Type="http://schemas.openxmlformats.org/officeDocument/2006/relationships/image" Target="../media/image21.png"/><Relationship Id="rId10" Type="http://schemas.openxmlformats.org/officeDocument/2006/relationships/image" Target="../media/image29.png"/><Relationship Id="rId19" Type="http://schemas.openxmlformats.org/officeDocument/2006/relationships/image" Target="../media/image40.png"/><Relationship Id="rId4" Type="http://schemas.openxmlformats.org/officeDocument/2006/relationships/image" Target="../media/image6.png"/><Relationship Id="rId9" Type="http://schemas.openxmlformats.org/officeDocument/2006/relationships/image" Target="../media/image7.png"/><Relationship Id="rId14" Type="http://schemas.openxmlformats.org/officeDocument/2006/relationships/image" Target="../media/image20.png"/></Relationships>
</file>

<file path=ppt/slides/_rels/slide10.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7.png"/><Relationship Id="rId3" Type="http://schemas.openxmlformats.org/officeDocument/2006/relationships/image" Target="../media/image5.png"/><Relationship Id="rId7" Type="http://schemas.openxmlformats.org/officeDocument/2006/relationships/image" Target="../media/image16.png"/><Relationship Id="rId12" Type="http://schemas.openxmlformats.org/officeDocument/2006/relationships/image" Target="../media/image11.png"/><Relationship Id="rId17" Type="http://schemas.openxmlformats.org/officeDocument/2006/relationships/image" Target="../media/image43.png"/><Relationship Id="rId2" Type="http://schemas.openxmlformats.org/officeDocument/2006/relationships/notesSlide" Target="../notesSlides/notesSlide10.xml"/><Relationship Id="rId16"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30.png"/><Relationship Id="rId5" Type="http://schemas.openxmlformats.org/officeDocument/2006/relationships/image" Target="../media/image14.png"/><Relationship Id="rId15" Type="http://schemas.openxmlformats.org/officeDocument/2006/relationships/image" Target="../media/image41.png"/><Relationship Id="rId10" Type="http://schemas.openxmlformats.org/officeDocument/2006/relationships/image" Target="../media/image18.png"/><Relationship Id="rId4" Type="http://schemas.openxmlformats.org/officeDocument/2006/relationships/image" Target="../media/image6.png"/><Relationship Id="rId9" Type="http://schemas.openxmlformats.org/officeDocument/2006/relationships/image" Target="../media/image7.png"/><Relationship Id="rId1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Image 1"/>
          <p:cNvPicPr>
            <a:picLocks noChangeAspect="1"/>
          </p:cNvPicPr>
          <p:nvPr/>
        </p:nvPicPr>
        <p:blipFill>
          <a:blip r:embed="rId3" cstate="print"/>
          <a:srcRect/>
          <a:stretch>
            <a:fillRect/>
          </a:stretch>
        </p:blipFill>
        <p:spPr bwMode="auto">
          <a:xfrm>
            <a:off x="952464" y="357167"/>
            <a:ext cx="2283984" cy="716200"/>
          </a:xfrm>
          <a:prstGeom prst="rect">
            <a:avLst/>
          </a:prstGeom>
          <a:noFill/>
          <a:ln w="9525">
            <a:noFill/>
            <a:miter lim="800000"/>
            <a:headEnd/>
            <a:tailEnd/>
          </a:ln>
        </p:spPr>
      </p:pic>
      <p:sp>
        <p:nvSpPr>
          <p:cNvPr id="2054" name="Espace réservé du contenu 8"/>
          <p:cNvSpPr txBox="1">
            <a:spLocks/>
          </p:cNvSpPr>
          <p:nvPr/>
        </p:nvSpPr>
        <p:spPr bwMode="auto">
          <a:xfrm>
            <a:off x="1112859" y="6577889"/>
            <a:ext cx="3381457" cy="189395"/>
          </a:xfrm>
          <a:prstGeom prst="rect">
            <a:avLst/>
          </a:prstGeom>
          <a:noFill/>
          <a:ln w="9525">
            <a:noFill/>
            <a:miter lim="800000"/>
            <a:headEnd/>
            <a:tailEnd/>
          </a:ln>
        </p:spPr>
        <p:txBody>
          <a:bodyPr lIns="110837" tIns="55417" rIns="110837" bIns="55417" anchor="ctr"/>
          <a:lstStyle/>
          <a:p>
            <a:pPr algn="ctr"/>
            <a:r>
              <a:rPr lang="fr-FR" sz="1200" i="1" dirty="0">
                <a:solidFill>
                  <a:srgbClr val="505150"/>
                </a:solidFill>
              </a:rPr>
              <a:t>A usage strictement interne ou confidentiel</a:t>
            </a:r>
          </a:p>
        </p:txBody>
      </p:sp>
      <p:sp>
        <p:nvSpPr>
          <p:cNvPr id="2055" name="Espace réservé du contenu 8"/>
          <p:cNvSpPr txBox="1">
            <a:spLocks/>
          </p:cNvSpPr>
          <p:nvPr/>
        </p:nvSpPr>
        <p:spPr bwMode="auto">
          <a:xfrm>
            <a:off x="6268820" y="6539746"/>
            <a:ext cx="4986472" cy="227538"/>
          </a:xfrm>
          <a:prstGeom prst="rect">
            <a:avLst/>
          </a:prstGeom>
          <a:noFill/>
          <a:ln w="9525">
            <a:noFill/>
            <a:miter lim="800000"/>
            <a:headEnd/>
            <a:tailEnd/>
          </a:ln>
        </p:spPr>
        <p:txBody>
          <a:bodyPr lIns="110837" tIns="55417" rIns="110837" bIns="55417" anchor="ctr"/>
          <a:lstStyle/>
          <a:p>
            <a:pPr algn="r"/>
            <a:r>
              <a:rPr lang="fr-FR" sz="1200" b="1" dirty="0">
                <a:solidFill>
                  <a:srgbClr val="505150"/>
                </a:solidFill>
              </a:rPr>
              <a:t>DIRECTION </a:t>
            </a:r>
            <a:r>
              <a:rPr lang="fr-FR" sz="1200" b="1" dirty="0" smtClean="0">
                <a:solidFill>
                  <a:srgbClr val="505150"/>
                </a:solidFill>
              </a:rPr>
              <a:t>SINISTRES </a:t>
            </a:r>
            <a:r>
              <a:rPr lang="fr-FR" sz="1200" b="1" dirty="0">
                <a:solidFill>
                  <a:srgbClr val="505150"/>
                </a:solidFill>
              </a:rPr>
              <a:t>AUTO MATERIELS</a:t>
            </a:r>
          </a:p>
        </p:txBody>
      </p:sp>
      <p:sp>
        <p:nvSpPr>
          <p:cNvPr id="7" name="Titre 6"/>
          <p:cNvSpPr>
            <a:spLocks noGrp="1"/>
          </p:cNvSpPr>
          <p:nvPr>
            <p:ph type="ctrTitle"/>
          </p:nvPr>
        </p:nvSpPr>
        <p:spPr>
          <a:xfrm>
            <a:off x="1516291" y="1355171"/>
            <a:ext cx="9326880" cy="1074677"/>
          </a:xfrm>
        </p:spPr>
        <p:txBody>
          <a:bodyPr>
            <a:normAutofit fontScale="90000"/>
          </a:bodyPr>
          <a:lstStyle/>
          <a:p>
            <a:pPr algn="r"/>
            <a:r>
              <a:rPr lang="fr-FR" sz="3840" b="1" dirty="0">
                <a:solidFill>
                  <a:schemeClr val="accent1">
                    <a:lumMod val="50000"/>
                  </a:schemeClr>
                </a:solidFill>
                <a:latin typeface="+mn-lt"/>
                <a:cs typeface="Arial" charset="0"/>
              </a:rPr>
              <a:t>Présentation des parcours client en cas de sinistre Auto Matériel</a:t>
            </a:r>
            <a:endParaRPr lang="fr-FR" sz="3360" dirty="0">
              <a:solidFill>
                <a:schemeClr val="accent1">
                  <a:lumMod val="50000"/>
                </a:schemeClr>
              </a:solidFill>
              <a:latin typeface="+mn-lt"/>
            </a:endParaRPr>
          </a:p>
        </p:txBody>
      </p:sp>
      <p:pic>
        <p:nvPicPr>
          <p:cNvPr id="3" name="Image 2"/>
          <p:cNvPicPr>
            <a:picLocks noChangeAspect="1"/>
          </p:cNvPicPr>
          <p:nvPr/>
        </p:nvPicPr>
        <p:blipFill>
          <a:blip r:embed="rId4"/>
          <a:stretch>
            <a:fillRect/>
          </a:stretch>
        </p:blipFill>
        <p:spPr>
          <a:xfrm>
            <a:off x="6179731" y="2852514"/>
            <a:ext cx="3214559" cy="2021878"/>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4" name="Image 3"/>
          <p:cNvPicPr>
            <a:picLocks noChangeAspect="1"/>
          </p:cNvPicPr>
          <p:nvPr/>
        </p:nvPicPr>
        <p:blipFill>
          <a:blip r:embed="rId5"/>
          <a:stretch>
            <a:fillRect/>
          </a:stretch>
        </p:blipFill>
        <p:spPr>
          <a:xfrm>
            <a:off x="3157605" y="4575920"/>
            <a:ext cx="3212503" cy="166535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5" name="Image 4"/>
          <p:cNvPicPr>
            <a:picLocks noChangeAspect="1"/>
          </p:cNvPicPr>
          <p:nvPr/>
        </p:nvPicPr>
        <p:blipFill>
          <a:blip r:embed="rId6"/>
          <a:stretch>
            <a:fillRect/>
          </a:stretch>
        </p:blipFill>
        <p:spPr>
          <a:xfrm>
            <a:off x="2921016" y="2796773"/>
            <a:ext cx="3146599" cy="1684019"/>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23045096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 name="Picture 2"/>
          <p:cNvPicPr>
            <a:picLocks noChangeAspect="1" noChangeArrowheads="1"/>
          </p:cNvPicPr>
          <p:nvPr/>
        </p:nvPicPr>
        <p:blipFill>
          <a:blip r:embed="rId3" cstate="print"/>
          <a:srcRect/>
          <a:stretch>
            <a:fillRect/>
          </a:stretch>
        </p:blipFill>
        <p:spPr bwMode="auto">
          <a:xfrm>
            <a:off x="609600" y="2"/>
            <a:ext cx="10972800" cy="491072"/>
          </a:xfrm>
          <a:prstGeom prst="rect">
            <a:avLst/>
          </a:prstGeom>
          <a:noFill/>
          <a:ln w="9525">
            <a:noFill/>
            <a:miter lim="800000"/>
            <a:headEnd/>
            <a:tailEnd/>
          </a:ln>
        </p:spPr>
      </p:pic>
      <p:pic>
        <p:nvPicPr>
          <p:cNvPr id="162" name="Image 4"/>
          <p:cNvPicPr>
            <a:picLocks noChangeAspect="1"/>
          </p:cNvPicPr>
          <p:nvPr/>
        </p:nvPicPr>
        <p:blipFill>
          <a:blip r:embed="rId4" cstate="print"/>
          <a:srcRect/>
          <a:stretch>
            <a:fillRect/>
          </a:stretch>
        </p:blipFill>
        <p:spPr bwMode="auto">
          <a:xfrm>
            <a:off x="835243" y="59763"/>
            <a:ext cx="1372325" cy="431311"/>
          </a:xfrm>
          <a:prstGeom prst="rect">
            <a:avLst/>
          </a:prstGeom>
          <a:noFill/>
          <a:ln w="9525">
            <a:noFill/>
            <a:miter lim="800000"/>
            <a:headEnd/>
            <a:tailEnd/>
          </a:ln>
        </p:spPr>
      </p:pic>
      <p:sp>
        <p:nvSpPr>
          <p:cNvPr id="163" name="Rectangle 162"/>
          <p:cNvSpPr/>
          <p:nvPr/>
        </p:nvSpPr>
        <p:spPr>
          <a:xfrm>
            <a:off x="2838427" y="-24"/>
            <a:ext cx="8701378" cy="407370"/>
          </a:xfrm>
          <a:prstGeom prst="rect">
            <a:avLst/>
          </a:prstGeom>
        </p:spPr>
        <p:txBody>
          <a:bodyPr wrap="square" lIns="110826" tIns="55411" rIns="110826" bIns="55411">
            <a:spAutoFit/>
          </a:bodyPr>
          <a:lstStyle/>
          <a:p>
            <a:pPr algn="r"/>
            <a:r>
              <a:rPr lang="fr-FR" sz="1920" b="1" dirty="0">
                <a:solidFill>
                  <a:schemeClr val="accent1">
                    <a:lumMod val="50000"/>
                  </a:schemeClr>
                </a:solidFill>
                <a:ea typeface="Tahoma" pitchFamily="34" charset="0"/>
                <a:cs typeface="Tahoma" pitchFamily="34" charset="0"/>
              </a:rPr>
              <a:t>PARCOURS CLIENTS POSSIBLES</a:t>
            </a:r>
            <a:endParaRPr lang="fr-FR" sz="1920" dirty="0">
              <a:solidFill>
                <a:schemeClr val="accent1">
                  <a:lumMod val="50000"/>
                </a:schemeClr>
              </a:solidFill>
              <a:ea typeface="Tahoma" pitchFamily="34" charset="0"/>
              <a:cs typeface="Tahoma" pitchFamily="34" charset="0"/>
            </a:endParaRPr>
          </a:p>
        </p:txBody>
      </p:sp>
      <p:sp>
        <p:nvSpPr>
          <p:cNvPr id="164" name="Rectangle 163"/>
          <p:cNvSpPr/>
          <p:nvPr/>
        </p:nvSpPr>
        <p:spPr>
          <a:xfrm>
            <a:off x="652195" y="6626179"/>
            <a:ext cx="10843795" cy="231845"/>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p>
        </p:txBody>
      </p:sp>
      <p:sp>
        <p:nvSpPr>
          <p:cNvPr id="165" name="Espace réservé du contenu 8"/>
          <p:cNvSpPr>
            <a:spLocks noGrp="1"/>
          </p:cNvSpPr>
          <p:nvPr>
            <p:ph sz="quarter" idx="11"/>
          </p:nvPr>
        </p:nvSpPr>
        <p:spPr bwMode="auto">
          <a:xfrm>
            <a:off x="565786" y="6631330"/>
            <a:ext cx="3328034" cy="226694"/>
          </a:xfrm>
          <a:noFill/>
          <a:ln>
            <a:miter lim="800000"/>
            <a:headEnd/>
            <a:tailEnd/>
          </a:ln>
        </p:spPr>
        <p:txBody>
          <a:bodyPr wrap="square" numCol="1" anchorCtr="0" compatLnSpc="1">
            <a:prstTxWarp prst="textNoShape">
              <a:avLst/>
            </a:prstTxWarp>
          </a:bodyPr>
          <a:lstStyle/>
          <a:p>
            <a:pPr defTabSz="910590" fontAlgn="base">
              <a:spcBef>
                <a:spcPct val="0"/>
              </a:spcBef>
              <a:spcAft>
                <a:spcPct val="0"/>
              </a:spcAft>
            </a:pPr>
            <a:r>
              <a:rPr lang="fr-FR" i="1" dirty="0">
                <a:solidFill>
                  <a:schemeClr val="bg1"/>
                </a:solidFill>
                <a:latin typeface="Arial" charset="0"/>
                <a:cs typeface="Arial" charset="0"/>
              </a:rPr>
              <a:t>À usage strictement interne ou confidentiel</a:t>
            </a:r>
          </a:p>
        </p:txBody>
      </p:sp>
      <p:sp>
        <p:nvSpPr>
          <p:cNvPr id="37" name="Espace réservé du contenu 8"/>
          <p:cNvSpPr>
            <a:spLocks noGrp="1"/>
          </p:cNvSpPr>
          <p:nvPr>
            <p:ph sz="quarter" idx="12"/>
          </p:nvPr>
        </p:nvSpPr>
        <p:spPr bwMode="auto">
          <a:xfrm>
            <a:off x="5836771" y="6551295"/>
            <a:ext cx="5616089" cy="364402"/>
          </a:xfrm>
          <a:noFill/>
          <a:ln>
            <a:miter lim="800000"/>
            <a:headEnd/>
            <a:tailEnd/>
          </a:ln>
        </p:spPr>
        <p:txBody>
          <a:bodyPr wrap="square" numCol="1" anchorCtr="0" compatLnSpc="1">
            <a:prstTxWarp prst="textNoShape">
              <a:avLst/>
            </a:prstTxWarp>
          </a:bodyPr>
          <a:lstStyle/>
          <a:p>
            <a:pPr defTabSz="910554" fontAlgn="base">
              <a:spcBef>
                <a:spcPct val="0"/>
              </a:spcBef>
              <a:spcAft>
                <a:spcPct val="0"/>
              </a:spcAft>
            </a:pPr>
            <a:r>
              <a:rPr lang="fr-FR" b="1" dirty="0">
                <a:solidFill>
                  <a:schemeClr val="bg1"/>
                </a:solidFill>
                <a:latin typeface="Arial" charset="0"/>
                <a:cs typeface="Arial" charset="0"/>
              </a:rPr>
              <a:t>Direction </a:t>
            </a:r>
            <a:r>
              <a:rPr lang="fr-FR" b="1" dirty="0" smtClean="0">
                <a:solidFill>
                  <a:schemeClr val="bg1"/>
                </a:solidFill>
                <a:latin typeface="Arial" charset="0"/>
                <a:cs typeface="Arial" charset="0"/>
              </a:rPr>
              <a:t>Sinistres </a:t>
            </a:r>
            <a:r>
              <a:rPr lang="fr-FR" b="1" dirty="0">
                <a:solidFill>
                  <a:schemeClr val="bg1"/>
                </a:solidFill>
                <a:latin typeface="Arial" charset="0"/>
                <a:cs typeface="Arial" charset="0"/>
              </a:rPr>
              <a:t>Auto Matériels</a:t>
            </a:r>
          </a:p>
        </p:txBody>
      </p:sp>
      <p:sp>
        <p:nvSpPr>
          <p:cNvPr id="40" name="ZoneTexte 39"/>
          <p:cNvSpPr txBox="1"/>
          <p:nvPr/>
        </p:nvSpPr>
        <p:spPr>
          <a:xfrm>
            <a:off x="611921" y="709115"/>
            <a:ext cx="2054601" cy="424732"/>
          </a:xfrm>
          <a:prstGeom prst="rect">
            <a:avLst/>
          </a:prstGeom>
          <a:noFill/>
        </p:spPr>
        <p:txBody>
          <a:bodyPr wrap="none" rtlCol="0">
            <a:spAutoFit/>
          </a:bodyPr>
          <a:lstStyle/>
          <a:p>
            <a:r>
              <a:rPr lang="fr-FR" sz="2160" b="1" i="1" u="sng" dirty="0" smtClean="0"/>
              <a:t>Parcours clients:</a:t>
            </a:r>
            <a:endParaRPr lang="fr-FR" sz="2160" b="1" i="1" u="sng" dirty="0"/>
          </a:p>
        </p:txBody>
      </p:sp>
      <p:grpSp>
        <p:nvGrpSpPr>
          <p:cNvPr id="32" name="Groupe 98"/>
          <p:cNvGrpSpPr/>
          <p:nvPr/>
        </p:nvGrpSpPr>
        <p:grpSpPr>
          <a:xfrm>
            <a:off x="1351216" y="2774975"/>
            <a:ext cx="1259988" cy="1200158"/>
            <a:chOff x="1093118" y="428608"/>
            <a:chExt cx="1049990" cy="1000132"/>
          </a:xfrm>
        </p:grpSpPr>
        <p:sp>
          <p:nvSpPr>
            <p:cNvPr id="39" name="Organigramme : Connecteur 38"/>
            <p:cNvSpPr/>
            <p:nvPr/>
          </p:nvSpPr>
          <p:spPr>
            <a:xfrm>
              <a:off x="1143008" y="428608"/>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41" name="Picture 3"/>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1093118" y="570984"/>
              <a:ext cx="1049990" cy="618399"/>
            </a:xfrm>
            <a:prstGeom prst="rect">
              <a:avLst/>
            </a:prstGeom>
            <a:noFill/>
            <a:ln w="9525">
              <a:noFill/>
              <a:miter lim="800000"/>
              <a:headEnd/>
              <a:tailEnd/>
            </a:ln>
            <a:effectLst/>
          </p:spPr>
        </p:pic>
      </p:grpSp>
      <p:sp>
        <p:nvSpPr>
          <p:cNvPr id="44" name="Organigramme : Connecteur 43"/>
          <p:cNvSpPr/>
          <p:nvPr/>
        </p:nvSpPr>
        <p:spPr>
          <a:xfrm>
            <a:off x="7704397" y="7032559"/>
            <a:ext cx="365424" cy="329335"/>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sp>
        <p:nvSpPr>
          <p:cNvPr id="53" name="Rectangle 52"/>
          <p:cNvSpPr/>
          <p:nvPr/>
        </p:nvSpPr>
        <p:spPr>
          <a:xfrm>
            <a:off x="641668" y="4030027"/>
            <a:ext cx="2743219" cy="428628"/>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smtClean="0">
                <a:solidFill>
                  <a:schemeClr val="tx1"/>
                </a:solidFill>
                <a:latin typeface="Agency FB" pitchFamily="34" charset="0"/>
              </a:rPr>
              <a:t>Survenance du Sinistre</a:t>
            </a:r>
            <a:endParaRPr lang="fr-FR" sz="1260" b="1" dirty="0">
              <a:solidFill>
                <a:schemeClr val="tx1"/>
              </a:solidFill>
              <a:latin typeface="Agency FB" pitchFamily="34" charset="0"/>
            </a:endParaRPr>
          </a:p>
        </p:txBody>
      </p:sp>
      <p:sp>
        <p:nvSpPr>
          <p:cNvPr id="54" name="Rectangle 53"/>
          <p:cNvSpPr/>
          <p:nvPr/>
        </p:nvSpPr>
        <p:spPr>
          <a:xfrm>
            <a:off x="3241636" y="2835424"/>
            <a:ext cx="2743219" cy="428628"/>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a:solidFill>
                  <a:schemeClr val="tx1"/>
                </a:solidFill>
                <a:latin typeface="Agency FB" pitchFamily="34" charset="0"/>
              </a:rPr>
              <a:t>Dégâts légers</a:t>
            </a:r>
          </a:p>
        </p:txBody>
      </p:sp>
      <p:sp>
        <p:nvSpPr>
          <p:cNvPr id="56" name="Organigramme : Connecteur 55"/>
          <p:cNvSpPr/>
          <p:nvPr/>
        </p:nvSpPr>
        <p:spPr>
          <a:xfrm>
            <a:off x="3991636" y="1904305"/>
            <a:ext cx="1197516" cy="989659"/>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p>
        </p:txBody>
      </p:sp>
      <p:pic>
        <p:nvPicPr>
          <p:cNvPr id="1030" name="Picture 6" descr="Faut-il déclarer tous ses sinistres auto ? : Femme Actuelle Le MA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87808" y="2042765"/>
            <a:ext cx="1136735" cy="568368"/>
          </a:xfrm>
          <a:prstGeom prst="rect">
            <a:avLst/>
          </a:prstGeom>
          <a:noFill/>
          <a:extLst>
            <a:ext uri="{909E8E84-426E-40DD-AFC4-6F175D3DCCD1}">
              <a14:hiddenFill xmlns:a14="http://schemas.microsoft.com/office/drawing/2010/main">
                <a:solidFill>
                  <a:srgbClr val="FFFFFF"/>
                </a:solidFill>
              </a14:hiddenFill>
            </a:ext>
          </a:extLst>
        </p:spPr>
      </p:pic>
      <p:sp>
        <p:nvSpPr>
          <p:cNvPr id="59" name="Organigramme : Connecteur 58"/>
          <p:cNvSpPr/>
          <p:nvPr/>
        </p:nvSpPr>
        <p:spPr>
          <a:xfrm>
            <a:off x="7843620" y="7919786"/>
            <a:ext cx="1197516" cy="1200158"/>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p>
        </p:txBody>
      </p:sp>
      <p:sp>
        <p:nvSpPr>
          <p:cNvPr id="63" name="Organigramme : Connecteur 62"/>
          <p:cNvSpPr/>
          <p:nvPr/>
        </p:nvSpPr>
        <p:spPr>
          <a:xfrm>
            <a:off x="8654268" y="7802798"/>
            <a:ext cx="1200120" cy="1200158"/>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sp>
        <p:nvSpPr>
          <p:cNvPr id="4" name="AutoShape 12" descr="Caractère De Conducteur Féminin Pleurant Près D'une Voiture Cassée Avec Une  Chute D'arbre Sur Le Toit De L'automobile. Catastrophe Naturelle, Accident,  Dégâts Accidentels, Situation Dangereuse, Assurance. Illustration  Vectorielle De Gens De Dessin"/>
          <p:cNvSpPr>
            <a:spLocks noChangeAspect="1" noChangeArrowheads="1"/>
          </p:cNvSpPr>
          <p:nvPr/>
        </p:nvSpPr>
        <p:spPr bwMode="auto">
          <a:xfrm>
            <a:off x="796290" y="-173355"/>
            <a:ext cx="365760" cy="36576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09728" tIns="54864" rIns="109728" bIns="54864" numCol="1" anchor="t" anchorCtr="0" compatLnSpc="1">
            <a:prstTxWarp prst="textNoShape">
              <a:avLst/>
            </a:prstTxWarp>
          </a:bodyPr>
          <a:lstStyle/>
          <a:p>
            <a:endParaRPr lang="fr-FR" sz="2160"/>
          </a:p>
        </p:txBody>
      </p:sp>
      <p:sp>
        <p:nvSpPr>
          <p:cNvPr id="73" name="Organigramme : Connecteur 72"/>
          <p:cNvSpPr/>
          <p:nvPr/>
        </p:nvSpPr>
        <p:spPr>
          <a:xfrm>
            <a:off x="5009336" y="8863123"/>
            <a:ext cx="508578" cy="450481"/>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sp>
        <p:nvSpPr>
          <p:cNvPr id="81" name="Organigramme : Connecteur 80"/>
          <p:cNvSpPr/>
          <p:nvPr/>
        </p:nvSpPr>
        <p:spPr>
          <a:xfrm>
            <a:off x="4133144" y="5663750"/>
            <a:ext cx="1197516" cy="742433"/>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p>
        </p:txBody>
      </p:sp>
      <p:pic>
        <p:nvPicPr>
          <p:cNvPr id="83" name="Picture 24" descr="Comment limiter les dégâts sur votre automobile en cas de collision ?"/>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166644" y="5653215"/>
            <a:ext cx="1028904" cy="596416"/>
          </a:xfrm>
          <a:prstGeom prst="rect">
            <a:avLst/>
          </a:prstGeom>
          <a:noFill/>
          <a:extLst>
            <a:ext uri="{909E8E84-426E-40DD-AFC4-6F175D3DCCD1}">
              <a14:hiddenFill xmlns:a14="http://schemas.microsoft.com/office/drawing/2010/main">
                <a:solidFill>
                  <a:srgbClr val="FFFFFF"/>
                </a:solidFill>
              </a14:hiddenFill>
            </a:ext>
          </a:extLst>
        </p:spPr>
      </p:pic>
      <p:sp>
        <p:nvSpPr>
          <p:cNvPr id="84" name="Rectangle 83"/>
          <p:cNvSpPr/>
          <p:nvPr/>
        </p:nvSpPr>
        <p:spPr>
          <a:xfrm>
            <a:off x="3388002" y="6292350"/>
            <a:ext cx="2743219" cy="428628"/>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a:solidFill>
                  <a:schemeClr val="tx1"/>
                </a:solidFill>
                <a:latin typeface="Agency FB" pitchFamily="34" charset="0"/>
              </a:rPr>
              <a:t>Dégâts Importants</a:t>
            </a:r>
          </a:p>
        </p:txBody>
      </p:sp>
      <p:sp>
        <p:nvSpPr>
          <p:cNvPr id="85" name="Organigramme : Connecteur 84"/>
          <p:cNvSpPr/>
          <p:nvPr/>
        </p:nvSpPr>
        <p:spPr>
          <a:xfrm>
            <a:off x="5819051" y="461544"/>
            <a:ext cx="1197516" cy="776383"/>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p>
        </p:txBody>
      </p:sp>
      <p:sp>
        <p:nvSpPr>
          <p:cNvPr id="87" name="Organigramme : Connecteur 86"/>
          <p:cNvSpPr/>
          <p:nvPr/>
        </p:nvSpPr>
        <p:spPr>
          <a:xfrm>
            <a:off x="5881766" y="1529680"/>
            <a:ext cx="1134801" cy="572245"/>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p>
        </p:txBody>
      </p:sp>
      <p:sp>
        <p:nvSpPr>
          <p:cNvPr id="13" name="AutoShape 26" descr="Groupe Lacour - DIVA"/>
          <p:cNvSpPr>
            <a:spLocks noChangeAspect="1" noChangeArrowheads="1"/>
          </p:cNvSpPr>
          <p:nvPr/>
        </p:nvSpPr>
        <p:spPr bwMode="auto">
          <a:xfrm>
            <a:off x="979170" y="9525"/>
            <a:ext cx="365760" cy="36576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09728" tIns="54864" rIns="109728" bIns="54864" numCol="1" anchor="t" anchorCtr="0" compatLnSpc="1">
            <a:prstTxWarp prst="textNoShape">
              <a:avLst/>
            </a:prstTxWarp>
          </a:bodyPr>
          <a:lstStyle/>
          <a:p>
            <a:endParaRPr lang="fr-FR" sz="2160"/>
          </a:p>
        </p:txBody>
      </p:sp>
      <p:sp>
        <p:nvSpPr>
          <p:cNvPr id="14" name="AutoShape 28" descr="Expertise auto à distance (EAD) : qu'est-ce que c'est ? - LeLynx.fr"/>
          <p:cNvSpPr>
            <a:spLocks noChangeAspect="1" noChangeArrowheads="1"/>
          </p:cNvSpPr>
          <p:nvPr/>
        </p:nvSpPr>
        <p:spPr bwMode="auto">
          <a:xfrm>
            <a:off x="1162050" y="192405"/>
            <a:ext cx="365760" cy="36576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09728" tIns="54864" rIns="109728" bIns="54864" numCol="1" anchor="t" anchorCtr="0" compatLnSpc="1">
            <a:prstTxWarp prst="textNoShape">
              <a:avLst/>
            </a:prstTxWarp>
          </a:bodyPr>
          <a:lstStyle/>
          <a:p>
            <a:endParaRPr lang="fr-FR" sz="2160"/>
          </a:p>
        </p:txBody>
      </p:sp>
      <p:sp>
        <p:nvSpPr>
          <p:cNvPr id="90" name="Rectangle 89"/>
          <p:cNvSpPr/>
          <p:nvPr/>
        </p:nvSpPr>
        <p:spPr>
          <a:xfrm>
            <a:off x="5319505" y="1214893"/>
            <a:ext cx="2246648" cy="351338"/>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a:solidFill>
                  <a:schemeClr val="tx1"/>
                </a:solidFill>
                <a:latin typeface="Agency FB" pitchFamily="34" charset="0"/>
              </a:rPr>
              <a:t>WAFA AUTO ASSARII</a:t>
            </a:r>
          </a:p>
        </p:txBody>
      </p:sp>
      <p:sp>
        <p:nvSpPr>
          <p:cNvPr id="92" name="Rectangle 91"/>
          <p:cNvSpPr/>
          <p:nvPr/>
        </p:nvSpPr>
        <p:spPr>
          <a:xfrm>
            <a:off x="5224543" y="2378076"/>
            <a:ext cx="2246648" cy="351338"/>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a:solidFill>
                  <a:schemeClr val="tx1"/>
                </a:solidFill>
                <a:latin typeface="Agency FB" pitchFamily="34" charset="0"/>
              </a:rPr>
              <a:t>WAFA 24H</a:t>
            </a:r>
          </a:p>
        </p:txBody>
      </p:sp>
      <p:sp>
        <p:nvSpPr>
          <p:cNvPr id="16" name="AutoShape 30" descr="Expertise auto à distance (EAD) : qu'est-ce que c'est ? - LeLynx.fr"/>
          <p:cNvSpPr>
            <a:spLocks noChangeAspect="1" noChangeArrowheads="1"/>
          </p:cNvSpPr>
          <p:nvPr/>
        </p:nvSpPr>
        <p:spPr bwMode="auto">
          <a:xfrm>
            <a:off x="1344930" y="375285"/>
            <a:ext cx="365760" cy="36576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09728" tIns="54864" rIns="109728" bIns="54864" numCol="1" anchor="t" anchorCtr="0" compatLnSpc="1">
            <a:prstTxWarp prst="textNoShape">
              <a:avLst/>
            </a:prstTxWarp>
          </a:bodyPr>
          <a:lstStyle/>
          <a:p>
            <a:endParaRPr lang="fr-FR" sz="2160"/>
          </a:p>
        </p:txBody>
      </p:sp>
      <p:sp>
        <p:nvSpPr>
          <p:cNvPr id="20" name="AutoShape 32" descr="Expertise auto à distance (EAD) : qu'est-ce que c'est ? - LeLynx.fr"/>
          <p:cNvSpPr>
            <a:spLocks noChangeAspect="1" noChangeArrowheads="1"/>
          </p:cNvSpPr>
          <p:nvPr/>
        </p:nvSpPr>
        <p:spPr bwMode="auto">
          <a:xfrm>
            <a:off x="1527810" y="558165"/>
            <a:ext cx="365760" cy="36576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09728" tIns="54864" rIns="109728" bIns="54864" numCol="1" anchor="t" anchorCtr="0" compatLnSpc="1">
            <a:prstTxWarp prst="textNoShape">
              <a:avLst/>
            </a:prstTxWarp>
          </a:bodyPr>
          <a:lstStyle/>
          <a:p>
            <a:endParaRPr lang="fr-FR" sz="2160"/>
          </a:p>
        </p:txBody>
      </p:sp>
      <p:sp>
        <p:nvSpPr>
          <p:cNvPr id="24" name="AutoShape 34" descr="Expertise auto à distance (EAD) : qu'est-ce que c'est ? - LeLynx.fr"/>
          <p:cNvSpPr>
            <a:spLocks noChangeAspect="1" noChangeArrowheads="1"/>
          </p:cNvSpPr>
          <p:nvPr/>
        </p:nvSpPr>
        <p:spPr bwMode="auto">
          <a:xfrm>
            <a:off x="1710690" y="741045"/>
            <a:ext cx="365760" cy="36576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09728" tIns="54864" rIns="109728" bIns="54864" numCol="1" anchor="t" anchorCtr="0" compatLnSpc="1">
            <a:prstTxWarp prst="textNoShape">
              <a:avLst/>
            </a:prstTxWarp>
          </a:bodyPr>
          <a:lstStyle/>
          <a:p>
            <a:endParaRPr lang="fr-FR" sz="2160"/>
          </a:p>
        </p:txBody>
      </p:sp>
      <p:pic>
        <p:nvPicPr>
          <p:cNvPr id="1060" name="Picture 36" descr="Une expertise amiable, même contradictoire, ne suffit plus! - maestro"/>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932418" y="1789341"/>
            <a:ext cx="1158686" cy="563720"/>
          </a:xfrm>
          <a:prstGeom prst="rect">
            <a:avLst/>
          </a:prstGeom>
          <a:noFill/>
          <a:extLst>
            <a:ext uri="{909E8E84-426E-40DD-AFC4-6F175D3DCCD1}">
              <a14:hiddenFill xmlns:a14="http://schemas.microsoft.com/office/drawing/2010/main">
                <a:solidFill>
                  <a:srgbClr val="FFFFFF"/>
                </a:solidFill>
              </a14:hiddenFill>
            </a:ext>
          </a:extLst>
        </p:spPr>
      </p:pic>
      <p:grpSp>
        <p:nvGrpSpPr>
          <p:cNvPr id="112" name="Groupe 124"/>
          <p:cNvGrpSpPr/>
          <p:nvPr/>
        </p:nvGrpSpPr>
        <p:grpSpPr>
          <a:xfrm>
            <a:off x="8533567" y="5230439"/>
            <a:ext cx="1302754" cy="1051289"/>
            <a:chOff x="3643306" y="1643054"/>
            <a:chExt cx="1000100" cy="1000132"/>
          </a:xfrm>
        </p:grpSpPr>
        <p:sp>
          <p:nvSpPr>
            <p:cNvPr id="113" name="Organigramme : Connecteur 112"/>
            <p:cNvSpPr/>
            <p:nvPr/>
          </p:nvSpPr>
          <p:spPr>
            <a:xfrm>
              <a:off x="3643306" y="1643054"/>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114" name="Picture 8"/>
            <p:cNvPicPr>
              <a:picLocks noChangeAspect="1" noChangeArrowheads="1"/>
            </p:cNvPicPr>
            <p:nvPr/>
          </p:nvPicPr>
          <p:blipFill>
            <a:blip r:embed="rId9" cstate="print">
              <a:clrChange>
                <a:clrFrom>
                  <a:srgbClr val="FFFFFF"/>
                </a:clrFrom>
                <a:clrTo>
                  <a:srgbClr val="FFFFFF">
                    <a:alpha val="0"/>
                  </a:srgbClr>
                </a:clrTo>
              </a:clrChange>
            </a:blip>
            <a:srcRect/>
            <a:stretch>
              <a:fillRect/>
            </a:stretch>
          </p:blipFill>
          <p:spPr bwMode="auto">
            <a:xfrm>
              <a:off x="3714744" y="1714492"/>
              <a:ext cx="874324" cy="785818"/>
            </a:xfrm>
            <a:prstGeom prst="rect">
              <a:avLst/>
            </a:prstGeom>
            <a:noFill/>
            <a:ln w="9525">
              <a:noFill/>
              <a:miter lim="800000"/>
              <a:headEnd/>
              <a:tailEnd/>
            </a:ln>
            <a:effectLst/>
          </p:spPr>
        </p:pic>
      </p:grpSp>
      <p:sp>
        <p:nvSpPr>
          <p:cNvPr id="115" name="Rectangle 114"/>
          <p:cNvSpPr/>
          <p:nvPr/>
        </p:nvSpPr>
        <p:spPr>
          <a:xfrm>
            <a:off x="8102324" y="4810433"/>
            <a:ext cx="2246648" cy="351338"/>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a:solidFill>
                  <a:schemeClr val="tx1"/>
                </a:solidFill>
                <a:latin typeface="Agency FB" pitchFamily="34" charset="0"/>
              </a:rPr>
              <a:t>Classique</a:t>
            </a:r>
          </a:p>
        </p:txBody>
      </p:sp>
      <p:sp>
        <p:nvSpPr>
          <p:cNvPr id="116" name="Rectangle 115"/>
          <p:cNvSpPr/>
          <p:nvPr/>
        </p:nvSpPr>
        <p:spPr>
          <a:xfrm>
            <a:off x="8061620" y="6269848"/>
            <a:ext cx="2246648" cy="351338"/>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a:solidFill>
                  <a:schemeClr val="tx1"/>
                </a:solidFill>
                <a:latin typeface="Agency FB" pitchFamily="34" charset="0"/>
              </a:rPr>
              <a:t>Garage Agrée</a:t>
            </a:r>
          </a:p>
        </p:txBody>
      </p:sp>
      <p:grpSp>
        <p:nvGrpSpPr>
          <p:cNvPr id="117" name="Groupe 116"/>
          <p:cNvGrpSpPr/>
          <p:nvPr/>
        </p:nvGrpSpPr>
        <p:grpSpPr>
          <a:xfrm>
            <a:off x="8654268" y="3567441"/>
            <a:ext cx="1200120" cy="1200158"/>
            <a:chOff x="3500430" y="1714492"/>
            <a:chExt cx="1000100" cy="1000132"/>
          </a:xfrm>
        </p:grpSpPr>
        <p:grpSp>
          <p:nvGrpSpPr>
            <p:cNvPr id="118" name="Groupe 124"/>
            <p:cNvGrpSpPr/>
            <p:nvPr/>
          </p:nvGrpSpPr>
          <p:grpSpPr>
            <a:xfrm>
              <a:off x="3500430" y="1714492"/>
              <a:ext cx="1000100" cy="1000132"/>
              <a:chOff x="3643306" y="1643054"/>
              <a:chExt cx="1000100" cy="1000132"/>
            </a:xfrm>
          </p:grpSpPr>
          <p:sp>
            <p:nvSpPr>
              <p:cNvPr id="120" name="Organigramme : Connecteur 119"/>
              <p:cNvSpPr/>
              <p:nvPr/>
            </p:nvSpPr>
            <p:spPr>
              <a:xfrm>
                <a:off x="3643306" y="1643054"/>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121" name="Picture 8"/>
              <p:cNvPicPr>
                <a:picLocks noChangeAspect="1" noChangeArrowheads="1"/>
              </p:cNvPicPr>
              <p:nvPr/>
            </p:nvPicPr>
            <p:blipFill>
              <a:blip r:embed="rId9" cstate="print">
                <a:clrChange>
                  <a:clrFrom>
                    <a:srgbClr val="FFFFFF"/>
                  </a:clrFrom>
                  <a:clrTo>
                    <a:srgbClr val="FFFFFF">
                      <a:alpha val="0"/>
                    </a:srgbClr>
                  </a:clrTo>
                </a:clrChange>
              </a:blip>
              <a:srcRect/>
              <a:stretch>
                <a:fillRect/>
              </a:stretch>
            </p:blipFill>
            <p:spPr bwMode="auto">
              <a:xfrm>
                <a:off x="3714744" y="1714492"/>
                <a:ext cx="874324" cy="785818"/>
              </a:xfrm>
              <a:prstGeom prst="rect">
                <a:avLst/>
              </a:prstGeom>
              <a:noFill/>
              <a:ln w="9525">
                <a:noFill/>
                <a:miter lim="800000"/>
                <a:headEnd/>
                <a:tailEnd/>
              </a:ln>
              <a:effectLst/>
            </p:spPr>
          </p:pic>
        </p:grpSp>
        <p:sp>
          <p:nvSpPr>
            <p:cNvPr id="119" name="ZoneTexte 118"/>
            <p:cNvSpPr txBox="1"/>
            <p:nvPr/>
          </p:nvSpPr>
          <p:spPr>
            <a:xfrm rot="1946789">
              <a:off x="3697648" y="1957008"/>
              <a:ext cx="622767" cy="261610"/>
            </a:xfrm>
            <a:prstGeom prst="rect">
              <a:avLst/>
            </a:prstGeom>
            <a:noFill/>
          </p:spPr>
          <p:txBody>
            <a:bodyPr wrap="none" rtlCol="0">
              <a:spAutoFit/>
            </a:bodyPr>
            <a:lstStyle/>
            <a:p>
              <a:r>
                <a:rPr lang="fr-FR" sz="1440" b="1" dirty="0">
                  <a:solidFill>
                    <a:schemeClr val="bg1"/>
                  </a:solidFill>
                  <a:latin typeface="Agency FB" pitchFamily="34" charset="0"/>
                </a:rPr>
                <a:t>Gr. Privé</a:t>
              </a:r>
            </a:p>
          </p:txBody>
        </p:sp>
      </p:grpSp>
      <p:sp>
        <p:nvSpPr>
          <p:cNvPr id="128" name="ZoneTexte 127"/>
          <p:cNvSpPr txBox="1"/>
          <p:nvPr/>
        </p:nvSpPr>
        <p:spPr>
          <a:xfrm rot="1622696">
            <a:off x="8802383" y="5459171"/>
            <a:ext cx="787395" cy="313932"/>
          </a:xfrm>
          <a:prstGeom prst="rect">
            <a:avLst/>
          </a:prstGeom>
          <a:noFill/>
        </p:spPr>
        <p:txBody>
          <a:bodyPr wrap="none" rtlCol="0">
            <a:spAutoFit/>
          </a:bodyPr>
          <a:lstStyle/>
          <a:p>
            <a:r>
              <a:rPr lang="fr-FR" sz="1440" b="1" dirty="0">
                <a:solidFill>
                  <a:schemeClr val="bg1"/>
                </a:solidFill>
                <a:latin typeface="Agency FB" pitchFamily="34" charset="0"/>
              </a:rPr>
              <a:t>Gr. Agrée</a:t>
            </a:r>
          </a:p>
        </p:txBody>
      </p:sp>
      <p:sp>
        <p:nvSpPr>
          <p:cNvPr id="137" name="Rectangle 136"/>
          <p:cNvSpPr/>
          <p:nvPr/>
        </p:nvSpPr>
        <p:spPr>
          <a:xfrm>
            <a:off x="5189152" y="3740836"/>
            <a:ext cx="2246648" cy="351338"/>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smtClean="0">
                <a:solidFill>
                  <a:schemeClr val="tx1"/>
                </a:solidFill>
                <a:latin typeface="Agency FB" pitchFamily="34" charset="0"/>
              </a:rPr>
              <a:t>ISLAH SARII</a:t>
            </a:r>
            <a:endParaRPr lang="fr-FR" sz="1260" b="1" dirty="0">
              <a:solidFill>
                <a:schemeClr val="tx1"/>
              </a:solidFill>
              <a:latin typeface="Agency FB" pitchFamily="34" charset="0"/>
            </a:endParaRPr>
          </a:p>
        </p:txBody>
      </p:sp>
      <p:pic>
        <p:nvPicPr>
          <p:cNvPr id="96" name="Image 95"/>
          <p:cNvPicPr>
            <a:picLocks noChangeAspect="1"/>
          </p:cNvPicPr>
          <p:nvPr/>
        </p:nvPicPr>
        <p:blipFill>
          <a:blip r:embed="rId10"/>
          <a:stretch>
            <a:fillRect/>
          </a:stretch>
        </p:blipFill>
        <p:spPr>
          <a:xfrm>
            <a:off x="6024037" y="2669315"/>
            <a:ext cx="950818" cy="1007518"/>
          </a:xfrm>
          <a:prstGeom prst="rect">
            <a:avLst/>
          </a:prstGeom>
        </p:spPr>
      </p:pic>
      <p:cxnSp>
        <p:nvCxnSpPr>
          <p:cNvPr id="130" name="Connecteur droit 129"/>
          <p:cNvCxnSpPr>
            <a:endCxn id="131" idx="0"/>
          </p:cNvCxnSpPr>
          <p:nvPr/>
        </p:nvCxnSpPr>
        <p:spPr>
          <a:xfrm>
            <a:off x="2726026" y="3415261"/>
            <a:ext cx="7182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1" name="Arc 130"/>
          <p:cNvSpPr/>
          <p:nvPr/>
        </p:nvSpPr>
        <p:spPr>
          <a:xfrm>
            <a:off x="3384888" y="3415262"/>
            <a:ext cx="118825" cy="614766"/>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2160"/>
          </a:p>
        </p:txBody>
      </p:sp>
      <p:cxnSp>
        <p:nvCxnSpPr>
          <p:cNvPr id="138" name="Connecteur droit 137"/>
          <p:cNvCxnSpPr>
            <a:stCxn id="131" idx="2"/>
          </p:cNvCxnSpPr>
          <p:nvPr/>
        </p:nvCxnSpPr>
        <p:spPr>
          <a:xfrm>
            <a:off x="3503712" y="3722645"/>
            <a:ext cx="0" cy="2039414"/>
          </a:xfrm>
          <a:prstGeom prst="line">
            <a:avLst/>
          </a:prstGeom>
          <a:ln w="28575"/>
        </p:spPr>
        <p:style>
          <a:lnRef idx="1">
            <a:schemeClr val="dk1"/>
          </a:lnRef>
          <a:fillRef idx="0">
            <a:schemeClr val="dk1"/>
          </a:fillRef>
          <a:effectRef idx="0">
            <a:schemeClr val="dk1"/>
          </a:effectRef>
          <a:fontRef idx="minor">
            <a:schemeClr val="tx1"/>
          </a:fontRef>
        </p:style>
      </p:cxnSp>
      <p:sp>
        <p:nvSpPr>
          <p:cNvPr id="141" name="Arc 140"/>
          <p:cNvSpPr/>
          <p:nvPr/>
        </p:nvSpPr>
        <p:spPr>
          <a:xfrm rot="11022185">
            <a:off x="3506911" y="5509425"/>
            <a:ext cx="390108" cy="507788"/>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2160"/>
          </a:p>
        </p:txBody>
      </p:sp>
      <p:cxnSp>
        <p:nvCxnSpPr>
          <p:cNvPr id="155" name="Connecteur droit 154"/>
          <p:cNvCxnSpPr/>
          <p:nvPr/>
        </p:nvCxnSpPr>
        <p:spPr>
          <a:xfrm>
            <a:off x="3673900" y="6003562"/>
            <a:ext cx="411876" cy="72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44" name="Arc 143"/>
          <p:cNvSpPr/>
          <p:nvPr/>
        </p:nvSpPr>
        <p:spPr>
          <a:xfrm rot="5400000">
            <a:off x="3291056" y="3129881"/>
            <a:ext cx="306486" cy="238728"/>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2160"/>
          </a:p>
        </p:txBody>
      </p:sp>
      <p:cxnSp>
        <p:nvCxnSpPr>
          <p:cNvPr id="159" name="Connecteur droit 158"/>
          <p:cNvCxnSpPr/>
          <p:nvPr/>
        </p:nvCxnSpPr>
        <p:spPr>
          <a:xfrm flipH="1">
            <a:off x="3563665" y="2663749"/>
            <a:ext cx="10007" cy="599365"/>
          </a:xfrm>
          <a:prstGeom prst="line">
            <a:avLst/>
          </a:prstGeom>
          <a:ln w="28575"/>
        </p:spPr>
        <p:style>
          <a:lnRef idx="1">
            <a:schemeClr val="dk1"/>
          </a:lnRef>
          <a:fillRef idx="0">
            <a:schemeClr val="dk1"/>
          </a:fillRef>
          <a:effectRef idx="0">
            <a:schemeClr val="dk1"/>
          </a:effectRef>
          <a:fontRef idx="minor">
            <a:schemeClr val="tx1"/>
          </a:fontRef>
        </p:style>
      </p:cxnSp>
      <p:sp>
        <p:nvSpPr>
          <p:cNvPr id="166" name="Arc 165"/>
          <p:cNvSpPr/>
          <p:nvPr/>
        </p:nvSpPr>
        <p:spPr>
          <a:xfrm rot="16200000">
            <a:off x="3636763" y="2411941"/>
            <a:ext cx="390108" cy="507788"/>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2160"/>
          </a:p>
        </p:txBody>
      </p:sp>
      <p:cxnSp>
        <p:nvCxnSpPr>
          <p:cNvPr id="168" name="Connecteur droit 167"/>
          <p:cNvCxnSpPr/>
          <p:nvPr/>
        </p:nvCxnSpPr>
        <p:spPr>
          <a:xfrm>
            <a:off x="3805692" y="2467477"/>
            <a:ext cx="176256" cy="72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Connecteur droit 168"/>
          <p:cNvCxnSpPr/>
          <p:nvPr/>
        </p:nvCxnSpPr>
        <p:spPr>
          <a:xfrm flipH="1" flipV="1">
            <a:off x="5378029" y="6000321"/>
            <a:ext cx="2387501" cy="6482"/>
          </a:xfrm>
          <a:prstGeom prst="line">
            <a:avLst/>
          </a:prstGeom>
          <a:ln w="28575"/>
        </p:spPr>
        <p:style>
          <a:lnRef idx="1">
            <a:schemeClr val="dk1"/>
          </a:lnRef>
          <a:fillRef idx="0">
            <a:schemeClr val="dk1"/>
          </a:fillRef>
          <a:effectRef idx="0">
            <a:schemeClr val="dk1"/>
          </a:effectRef>
          <a:fontRef idx="minor">
            <a:schemeClr val="tx1"/>
          </a:fontRef>
        </p:style>
      </p:cxnSp>
      <p:sp>
        <p:nvSpPr>
          <p:cNvPr id="170" name="Arc 169"/>
          <p:cNvSpPr/>
          <p:nvPr/>
        </p:nvSpPr>
        <p:spPr>
          <a:xfrm rot="5400000">
            <a:off x="7594697" y="5720797"/>
            <a:ext cx="306486" cy="238728"/>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2160"/>
          </a:p>
        </p:txBody>
      </p:sp>
      <p:cxnSp>
        <p:nvCxnSpPr>
          <p:cNvPr id="171" name="Connecteur droit 170"/>
          <p:cNvCxnSpPr/>
          <p:nvPr/>
        </p:nvCxnSpPr>
        <p:spPr>
          <a:xfrm>
            <a:off x="7867304" y="4596147"/>
            <a:ext cx="0" cy="1244014"/>
          </a:xfrm>
          <a:prstGeom prst="line">
            <a:avLst/>
          </a:prstGeom>
          <a:ln w="28575"/>
        </p:spPr>
        <p:style>
          <a:lnRef idx="1">
            <a:schemeClr val="dk1"/>
          </a:lnRef>
          <a:fillRef idx="0">
            <a:schemeClr val="dk1"/>
          </a:fillRef>
          <a:effectRef idx="0">
            <a:schemeClr val="dk1"/>
          </a:effectRef>
          <a:fontRef idx="minor">
            <a:schemeClr val="tx1"/>
          </a:fontRef>
        </p:style>
      </p:cxnSp>
      <p:sp>
        <p:nvSpPr>
          <p:cNvPr id="172" name="Arc 171"/>
          <p:cNvSpPr/>
          <p:nvPr/>
        </p:nvSpPr>
        <p:spPr>
          <a:xfrm rot="16200000">
            <a:off x="7934648" y="4356493"/>
            <a:ext cx="390108" cy="507788"/>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2160"/>
          </a:p>
        </p:txBody>
      </p:sp>
      <p:cxnSp>
        <p:nvCxnSpPr>
          <p:cNvPr id="173" name="Connecteur droit 172"/>
          <p:cNvCxnSpPr/>
          <p:nvPr/>
        </p:nvCxnSpPr>
        <p:spPr>
          <a:xfrm>
            <a:off x="8126640" y="4411292"/>
            <a:ext cx="527628" cy="40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4" name="Arc 173"/>
          <p:cNvSpPr/>
          <p:nvPr/>
        </p:nvSpPr>
        <p:spPr>
          <a:xfrm rot="10800000">
            <a:off x="7876363" y="5601248"/>
            <a:ext cx="390108" cy="507788"/>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2160"/>
          </a:p>
        </p:txBody>
      </p:sp>
      <p:cxnSp>
        <p:nvCxnSpPr>
          <p:cNvPr id="175" name="Connecteur droit 174"/>
          <p:cNvCxnSpPr/>
          <p:nvPr/>
        </p:nvCxnSpPr>
        <p:spPr>
          <a:xfrm>
            <a:off x="8070607" y="6103671"/>
            <a:ext cx="613392" cy="1572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Connecteur droit 178"/>
          <p:cNvCxnSpPr/>
          <p:nvPr/>
        </p:nvCxnSpPr>
        <p:spPr>
          <a:xfrm>
            <a:off x="5237960" y="2429914"/>
            <a:ext cx="14007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82" name="Arc 181"/>
          <p:cNvSpPr/>
          <p:nvPr/>
        </p:nvSpPr>
        <p:spPr>
          <a:xfrm rot="5400000">
            <a:off x="5208879" y="2139839"/>
            <a:ext cx="306486" cy="238728"/>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2160"/>
          </a:p>
        </p:txBody>
      </p:sp>
      <p:cxnSp>
        <p:nvCxnSpPr>
          <p:cNvPr id="183" name="Connecteur droit 182"/>
          <p:cNvCxnSpPr/>
          <p:nvPr/>
        </p:nvCxnSpPr>
        <p:spPr>
          <a:xfrm flipH="1">
            <a:off x="5486541" y="1086468"/>
            <a:ext cx="25333" cy="1185598"/>
          </a:xfrm>
          <a:prstGeom prst="line">
            <a:avLst/>
          </a:prstGeom>
          <a:ln w="28575"/>
        </p:spPr>
        <p:style>
          <a:lnRef idx="1">
            <a:schemeClr val="dk1"/>
          </a:lnRef>
          <a:fillRef idx="0">
            <a:schemeClr val="dk1"/>
          </a:fillRef>
          <a:effectRef idx="0">
            <a:schemeClr val="dk1"/>
          </a:effectRef>
          <a:fontRef idx="minor">
            <a:schemeClr val="tx1"/>
          </a:fontRef>
        </p:style>
      </p:cxnSp>
      <p:sp>
        <p:nvSpPr>
          <p:cNvPr id="185" name="Arc 184"/>
          <p:cNvSpPr/>
          <p:nvPr/>
        </p:nvSpPr>
        <p:spPr>
          <a:xfrm rot="16200000">
            <a:off x="5578818" y="842862"/>
            <a:ext cx="390108" cy="507788"/>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2160"/>
          </a:p>
        </p:txBody>
      </p:sp>
      <p:cxnSp>
        <p:nvCxnSpPr>
          <p:cNvPr id="186" name="Connecteur droit 185"/>
          <p:cNvCxnSpPr/>
          <p:nvPr/>
        </p:nvCxnSpPr>
        <p:spPr>
          <a:xfrm flipV="1">
            <a:off x="5508458" y="1924303"/>
            <a:ext cx="302245" cy="72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88" name="Arc 187"/>
          <p:cNvSpPr/>
          <p:nvPr/>
        </p:nvSpPr>
        <p:spPr>
          <a:xfrm>
            <a:off x="5417212" y="2335928"/>
            <a:ext cx="99589" cy="1826453"/>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2160"/>
          </a:p>
        </p:txBody>
      </p:sp>
      <p:cxnSp>
        <p:nvCxnSpPr>
          <p:cNvPr id="195" name="Connecteur droit 194"/>
          <p:cNvCxnSpPr/>
          <p:nvPr/>
        </p:nvCxnSpPr>
        <p:spPr>
          <a:xfrm flipV="1">
            <a:off x="5530272" y="3225325"/>
            <a:ext cx="302245" cy="72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96" name="Arc 195"/>
          <p:cNvSpPr/>
          <p:nvPr/>
        </p:nvSpPr>
        <p:spPr>
          <a:xfrm>
            <a:off x="6994062" y="805970"/>
            <a:ext cx="390108" cy="507788"/>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2160"/>
          </a:p>
        </p:txBody>
      </p:sp>
      <p:sp>
        <p:nvSpPr>
          <p:cNvPr id="197" name="Arc 196"/>
          <p:cNvSpPr/>
          <p:nvPr/>
        </p:nvSpPr>
        <p:spPr>
          <a:xfrm>
            <a:off x="7000661" y="1875465"/>
            <a:ext cx="390108" cy="507788"/>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2160"/>
          </a:p>
        </p:txBody>
      </p:sp>
      <p:sp>
        <p:nvSpPr>
          <p:cNvPr id="198" name="Arc 197"/>
          <p:cNvSpPr/>
          <p:nvPr/>
        </p:nvSpPr>
        <p:spPr>
          <a:xfrm>
            <a:off x="6988326" y="3072021"/>
            <a:ext cx="390108" cy="507788"/>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2160"/>
          </a:p>
        </p:txBody>
      </p:sp>
      <p:cxnSp>
        <p:nvCxnSpPr>
          <p:cNvPr id="199" name="Connecteur droit 198"/>
          <p:cNvCxnSpPr/>
          <p:nvPr/>
        </p:nvCxnSpPr>
        <p:spPr>
          <a:xfrm>
            <a:off x="7378435" y="1056587"/>
            <a:ext cx="12335" cy="3886829"/>
          </a:xfrm>
          <a:prstGeom prst="line">
            <a:avLst/>
          </a:prstGeom>
          <a:ln w="28575"/>
        </p:spPr>
        <p:style>
          <a:lnRef idx="1">
            <a:schemeClr val="dk1"/>
          </a:lnRef>
          <a:fillRef idx="0">
            <a:schemeClr val="dk1"/>
          </a:fillRef>
          <a:effectRef idx="0">
            <a:schemeClr val="dk1"/>
          </a:effectRef>
          <a:fontRef idx="minor">
            <a:schemeClr val="tx1"/>
          </a:fontRef>
        </p:style>
      </p:cxnSp>
      <p:sp>
        <p:nvSpPr>
          <p:cNvPr id="201" name="Arc 200"/>
          <p:cNvSpPr/>
          <p:nvPr/>
        </p:nvSpPr>
        <p:spPr>
          <a:xfrm rot="10800000">
            <a:off x="7390769" y="4683778"/>
            <a:ext cx="390108" cy="507788"/>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2160"/>
          </a:p>
        </p:txBody>
      </p:sp>
      <p:cxnSp>
        <p:nvCxnSpPr>
          <p:cNvPr id="202" name="Connecteur droit 201"/>
          <p:cNvCxnSpPr/>
          <p:nvPr/>
        </p:nvCxnSpPr>
        <p:spPr>
          <a:xfrm>
            <a:off x="7590203" y="5187826"/>
            <a:ext cx="265528" cy="37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04" name="Rectangle 203"/>
          <p:cNvSpPr/>
          <p:nvPr/>
        </p:nvSpPr>
        <p:spPr>
          <a:xfrm>
            <a:off x="7696774" y="2164577"/>
            <a:ext cx="3429024" cy="428628"/>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680" b="1" u="sng" dirty="0">
                <a:solidFill>
                  <a:schemeClr val="tx1"/>
                </a:solidFill>
                <a:latin typeface="Agency FB" pitchFamily="34" charset="0"/>
              </a:rPr>
              <a:t>Sous réserve d’éligibilité au forfait</a:t>
            </a:r>
          </a:p>
        </p:txBody>
      </p:sp>
      <p:pic>
        <p:nvPicPr>
          <p:cNvPr id="2" name="Image 1"/>
          <p:cNvPicPr>
            <a:picLocks noChangeAspect="1"/>
          </p:cNvPicPr>
          <p:nvPr/>
        </p:nvPicPr>
        <p:blipFill>
          <a:blip r:embed="rId11"/>
          <a:stretch>
            <a:fillRect/>
          </a:stretch>
        </p:blipFill>
        <p:spPr>
          <a:xfrm>
            <a:off x="5805816" y="449097"/>
            <a:ext cx="1266615" cy="853689"/>
          </a:xfrm>
          <a:prstGeom prst="ellipse">
            <a:avLst/>
          </a:prstGeom>
          <a:ln>
            <a:noFill/>
          </a:ln>
          <a:effectLst>
            <a:softEdge rad="112500"/>
          </a:effectLst>
        </p:spPr>
      </p:pic>
    </p:spTree>
    <p:extLst>
      <p:ext uri="{BB962C8B-B14F-4D97-AF65-F5344CB8AC3E}">
        <p14:creationId xmlns:p14="http://schemas.microsoft.com/office/powerpoint/2010/main" val="16837215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Rectangle à coins arrondis 77"/>
          <p:cNvSpPr/>
          <p:nvPr/>
        </p:nvSpPr>
        <p:spPr>
          <a:xfrm>
            <a:off x="1857237" y="3677383"/>
            <a:ext cx="1555373" cy="342902"/>
          </a:xfrm>
          <a:prstGeom prst="roundRect">
            <a:avLst>
              <a:gd name="adj" fmla="val 50000"/>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sp>
        <p:nvSpPr>
          <p:cNvPr id="81" name="Rectangle 80"/>
          <p:cNvSpPr/>
          <p:nvPr/>
        </p:nvSpPr>
        <p:spPr>
          <a:xfrm>
            <a:off x="1048999" y="3671387"/>
            <a:ext cx="3171847" cy="342902"/>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440" b="1" dirty="0">
                <a:solidFill>
                  <a:schemeClr val="tx1"/>
                </a:solidFill>
                <a:latin typeface="Agency FB" pitchFamily="34" charset="0"/>
              </a:rPr>
              <a:t>Proposition forfaitaire</a:t>
            </a:r>
          </a:p>
        </p:txBody>
      </p:sp>
      <p:sp>
        <p:nvSpPr>
          <p:cNvPr id="14" name="Virage 13"/>
          <p:cNvSpPr/>
          <p:nvPr/>
        </p:nvSpPr>
        <p:spPr>
          <a:xfrm rot="10800000">
            <a:off x="1344565" y="2709241"/>
            <a:ext cx="9849600" cy="182228"/>
          </a:xfrm>
          <a:prstGeom prst="bentArrow">
            <a:avLst>
              <a:gd name="adj1" fmla="val 41310"/>
              <a:gd name="adj2" fmla="val 25000"/>
              <a:gd name="adj3" fmla="val 25000"/>
              <a:gd name="adj4" fmla="val 95655"/>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20" name="Rectangle 119"/>
          <p:cNvSpPr/>
          <p:nvPr/>
        </p:nvSpPr>
        <p:spPr>
          <a:xfrm>
            <a:off x="1381092" y="2802491"/>
            <a:ext cx="3715200" cy="73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pic>
        <p:nvPicPr>
          <p:cNvPr id="2050" name="Picture 2"/>
          <p:cNvPicPr>
            <a:picLocks noChangeAspect="1" noChangeArrowheads="1"/>
          </p:cNvPicPr>
          <p:nvPr/>
        </p:nvPicPr>
        <p:blipFill>
          <a:blip r:embed="rId3" cstate="print"/>
          <a:srcRect/>
          <a:stretch>
            <a:fillRect/>
          </a:stretch>
        </p:blipFill>
        <p:spPr bwMode="auto">
          <a:xfrm>
            <a:off x="609600" y="3"/>
            <a:ext cx="10972800" cy="491072"/>
          </a:xfrm>
          <a:prstGeom prst="rect">
            <a:avLst/>
          </a:prstGeom>
          <a:noFill/>
          <a:ln w="9525">
            <a:noFill/>
            <a:miter lim="800000"/>
            <a:headEnd/>
            <a:tailEnd/>
          </a:ln>
        </p:spPr>
      </p:pic>
      <p:pic>
        <p:nvPicPr>
          <p:cNvPr id="5122" name="Image 4"/>
          <p:cNvPicPr>
            <a:picLocks noChangeAspect="1"/>
          </p:cNvPicPr>
          <p:nvPr/>
        </p:nvPicPr>
        <p:blipFill>
          <a:blip r:embed="rId4" cstate="print"/>
          <a:srcRect/>
          <a:stretch>
            <a:fillRect/>
          </a:stretch>
        </p:blipFill>
        <p:spPr bwMode="auto">
          <a:xfrm>
            <a:off x="835243" y="59764"/>
            <a:ext cx="1372325" cy="431311"/>
          </a:xfrm>
          <a:prstGeom prst="rect">
            <a:avLst/>
          </a:prstGeom>
          <a:noFill/>
          <a:ln w="9525">
            <a:noFill/>
            <a:miter lim="800000"/>
            <a:headEnd/>
            <a:tailEnd/>
          </a:ln>
        </p:spPr>
      </p:pic>
      <p:sp>
        <p:nvSpPr>
          <p:cNvPr id="9" name="Rectangle 8"/>
          <p:cNvSpPr/>
          <p:nvPr/>
        </p:nvSpPr>
        <p:spPr>
          <a:xfrm>
            <a:off x="3738775" y="34228"/>
            <a:ext cx="7801030" cy="370437"/>
          </a:xfrm>
          <a:prstGeom prst="rect">
            <a:avLst/>
          </a:prstGeom>
        </p:spPr>
        <p:txBody>
          <a:bodyPr wrap="square" lIns="110826" tIns="55411" rIns="110826" bIns="55411">
            <a:spAutoFit/>
          </a:bodyPr>
          <a:lstStyle/>
          <a:p>
            <a:pPr algn="r"/>
            <a:r>
              <a:rPr lang="fr-FR" altLang="fr-FR" sz="1680" b="1" dirty="0">
                <a:solidFill>
                  <a:schemeClr val="accent1">
                    <a:lumMod val="50000"/>
                  </a:schemeClr>
                </a:solidFill>
                <a:ea typeface="Tahoma" pitchFamily="34" charset="0"/>
                <a:cs typeface="Tahoma" pitchFamily="34" charset="0"/>
              </a:rPr>
              <a:t>Parcours WAFA OTO SARII</a:t>
            </a:r>
            <a:endParaRPr lang="fr-FR" sz="1680" b="1" dirty="0">
              <a:solidFill>
                <a:schemeClr val="accent1">
                  <a:lumMod val="50000"/>
                </a:schemeClr>
              </a:solidFill>
              <a:ea typeface="Tahoma" pitchFamily="34" charset="0"/>
              <a:cs typeface="Tahoma" pitchFamily="34" charset="0"/>
            </a:endParaRPr>
          </a:p>
        </p:txBody>
      </p:sp>
      <p:sp>
        <p:nvSpPr>
          <p:cNvPr id="73" name="Espace réservé du numéro de diapositive 72"/>
          <p:cNvSpPr>
            <a:spLocks noGrp="1"/>
          </p:cNvSpPr>
          <p:nvPr>
            <p:ph type="sldNum" sz="quarter" idx="12"/>
          </p:nvPr>
        </p:nvSpPr>
        <p:spPr>
          <a:xfrm>
            <a:off x="9071941" y="6520918"/>
            <a:ext cx="2467865" cy="364468"/>
          </a:xfrm>
        </p:spPr>
        <p:txBody>
          <a:bodyPr/>
          <a:lstStyle/>
          <a:p>
            <a:pPr>
              <a:defRPr/>
            </a:pPr>
            <a:fld id="{E11703BC-316E-4658-AE8F-B5827D54B665}" type="slidenum">
              <a:rPr lang="fr-FR" smtClean="0"/>
              <a:pPr>
                <a:defRPr/>
              </a:pPr>
              <a:t>3</a:t>
            </a:fld>
            <a:endParaRPr lang="fr-FR" dirty="0"/>
          </a:p>
        </p:txBody>
      </p:sp>
      <p:sp>
        <p:nvSpPr>
          <p:cNvPr id="56" name="Rectangle 55"/>
          <p:cNvSpPr/>
          <p:nvPr/>
        </p:nvSpPr>
        <p:spPr>
          <a:xfrm>
            <a:off x="652195" y="6567131"/>
            <a:ext cx="10843795" cy="231845"/>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70"/>
          </a:p>
        </p:txBody>
      </p:sp>
      <p:sp>
        <p:nvSpPr>
          <p:cNvPr id="57" name="Espace réservé du contenu 8"/>
          <p:cNvSpPr>
            <a:spLocks noGrp="1"/>
          </p:cNvSpPr>
          <p:nvPr>
            <p:ph sz="quarter" idx="11"/>
          </p:nvPr>
        </p:nvSpPr>
        <p:spPr bwMode="auto">
          <a:xfrm>
            <a:off x="565786" y="6572280"/>
            <a:ext cx="3328034" cy="226694"/>
          </a:xfrm>
          <a:noFill/>
          <a:ln>
            <a:miter lim="800000"/>
            <a:headEnd/>
            <a:tailEnd/>
          </a:ln>
        </p:spPr>
        <p:txBody>
          <a:bodyPr wrap="square" numCol="1" anchorCtr="0" compatLnSpc="1">
            <a:prstTxWarp prst="textNoShape">
              <a:avLst/>
            </a:prstTxWarp>
          </a:bodyPr>
          <a:lstStyle/>
          <a:p>
            <a:pPr defTabSz="910554" fontAlgn="base">
              <a:spcBef>
                <a:spcPct val="0"/>
              </a:spcBef>
              <a:spcAft>
                <a:spcPct val="0"/>
              </a:spcAft>
            </a:pPr>
            <a:r>
              <a:rPr lang="fr-FR" i="1" dirty="0">
                <a:solidFill>
                  <a:schemeClr val="bg1"/>
                </a:solidFill>
                <a:latin typeface="Arial" charset="0"/>
                <a:cs typeface="Arial" charset="0"/>
              </a:rPr>
              <a:t>À usage strictement interne ou confidentiel</a:t>
            </a:r>
          </a:p>
        </p:txBody>
      </p:sp>
      <p:sp>
        <p:nvSpPr>
          <p:cNvPr id="3" name="Virage 2"/>
          <p:cNvSpPr/>
          <p:nvPr/>
        </p:nvSpPr>
        <p:spPr>
          <a:xfrm rot="10800000" flipV="1">
            <a:off x="2251766" y="1306900"/>
            <a:ext cx="8942400" cy="182204"/>
          </a:xfrm>
          <a:prstGeom prst="bentArrow">
            <a:avLst>
              <a:gd name="adj1" fmla="val 41310"/>
              <a:gd name="adj2" fmla="val 25000"/>
              <a:gd name="adj3" fmla="val 25000"/>
              <a:gd name="adj4" fmla="val 9565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4" name="Rectangle 3"/>
          <p:cNvSpPr/>
          <p:nvPr/>
        </p:nvSpPr>
        <p:spPr>
          <a:xfrm>
            <a:off x="11116404" y="1484378"/>
            <a:ext cx="77760" cy="1271338"/>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5" name="Arc plein 4"/>
          <p:cNvSpPr/>
          <p:nvPr/>
        </p:nvSpPr>
        <p:spPr>
          <a:xfrm rot="16200000">
            <a:off x="450472" y="3573255"/>
            <a:ext cx="1900800" cy="382459"/>
          </a:xfrm>
          <a:prstGeom prst="blockArc">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6" name="Virage 15"/>
          <p:cNvSpPr/>
          <p:nvPr/>
        </p:nvSpPr>
        <p:spPr>
          <a:xfrm rot="10800000" flipV="1">
            <a:off x="1387762" y="4626007"/>
            <a:ext cx="9806400" cy="181440"/>
          </a:xfrm>
          <a:prstGeom prst="bentArrow">
            <a:avLst>
              <a:gd name="adj1" fmla="val 41310"/>
              <a:gd name="adj2" fmla="val 25000"/>
              <a:gd name="adj3" fmla="val 25000"/>
              <a:gd name="adj4" fmla="val 95655"/>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8" name="Virage 17"/>
          <p:cNvSpPr/>
          <p:nvPr/>
        </p:nvSpPr>
        <p:spPr>
          <a:xfrm rot="10800000">
            <a:off x="7651763" y="5915042"/>
            <a:ext cx="3542400" cy="197856"/>
          </a:xfrm>
          <a:prstGeom prst="bentArrow">
            <a:avLst>
              <a:gd name="adj1" fmla="val 41310"/>
              <a:gd name="adj2" fmla="val 25000"/>
              <a:gd name="adj3" fmla="val 25000"/>
              <a:gd name="adj4" fmla="val 95655"/>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9" name="Rectangle 18"/>
          <p:cNvSpPr/>
          <p:nvPr/>
        </p:nvSpPr>
        <p:spPr>
          <a:xfrm>
            <a:off x="11116405" y="4791842"/>
            <a:ext cx="77759" cy="1123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8" name="ZoneTexte 7"/>
          <p:cNvSpPr txBox="1"/>
          <p:nvPr/>
        </p:nvSpPr>
        <p:spPr>
          <a:xfrm>
            <a:off x="4184141" y="1400927"/>
            <a:ext cx="5455340" cy="350865"/>
          </a:xfrm>
          <a:prstGeom prst="rect">
            <a:avLst/>
          </a:prstGeom>
          <a:noFill/>
        </p:spPr>
        <p:txBody>
          <a:bodyPr wrap="none" rtlCol="0">
            <a:spAutoFit/>
          </a:bodyPr>
          <a:lstStyle/>
          <a:p>
            <a:r>
              <a:rPr lang="fr-FR" sz="1680" b="1" dirty="0">
                <a:solidFill>
                  <a:schemeClr val="tx2">
                    <a:lumMod val="75000"/>
                  </a:schemeClr>
                </a:solidFill>
                <a:latin typeface="Agency FB" pitchFamily="34" charset="0"/>
              </a:rPr>
              <a:t>Survenance de l’accident		                                      Assistance</a:t>
            </a:r>
          </a:p>
        </p:txBody>
      </p:sp>
      <p:sp>
        <p:nvSpPr>
          <p:cNvPr id="32" name="ZoneTexte 31"/>
          <p:cNvSpPr txBox="1"/>
          <p:nvPr/>
        </p:nvSpPr>
        <p:spPr>
          <a:xfrm>
            <a:off x="1634339" y="3056116"/>
            <a:ext cx="3061325" cy="498598"/>
          </a:xfrm>
          <a:prstGeom prst="rect">
            <a:avLst/>
          </a:prstGeom>
          <a:noFill/>
        </p:spPr>
        <p:txBody>
          <a:bodyPr wrap="square" rtlCol="0">
            <a:spAutoFit/>
          </a:bodyPr>
          <a:lstStyle/>
          <a:p>
            <a:pPr algn="ctr"/>
            <a:r>
              <a:rPr lang="fr-FR" sz="1320" b="1" dirty="0">
                <a:solidFill>
                  <a:schemeClr val="accent1"/>
                </a:solidFill>
                <a:latin typeface="Agency FB" pitchFamily="34" charset="0"/>
              </a:rPr>
              <a:t>Expertise du véhicule </a:t>
            </a:r>
            <a:r>
              <a:rPr lang="fr-FR" sz="1320" b="1" dirty="0" smtClean="0">
                <a:solidFill>
                  <a:schemeClr val="accent1"/>
                </a:solidFill>
                <a:latin typeface="Agency FB" pitchFamily="34" charset="0"/>
              </a:rPr>
              <a:t>(A DISTANCE SUR LA BASE DES PHOTO PRISES PAR LE CONSTATEUR  ) </a:t>
            </a:r>
            <a:endParaRPr lang="fr-FR" sz="1320" b="1" dirty="0">
              <a:solidFill>
                <a:schemeClr val="accent1"/>
              </a:solidFill>
              <a:latin typeface="Agency FB" pitchFamily="34" charset="0"/>
            </a:endParaRPr>
          </a:p>
        </p:txBody>
      </p:sp>
      <p:sp>
        <p:nvSpPr>
          <p:cNvPr id="34" name="ZoneTexte 33"/>
          <p:cNvSpPr txBox="1"/>
          <p:nvPr/>
        </p:nvSpPr>
        <p:spPr>
          <a:xfrm>
            <a:off x="1018227" y="5085582"/>
            <a:ext cx="3931636" cy="350865"/>
          </a:xfrm>
          <a:prstGeom prst="rect">
            <a:avLst/>
          </a:prstGeom>
          <a:noFill/>
        </p:spPr>
        <p:txBody>
          <a:bodyPr wrap="square" rtlCol="0">
            <a:spAutoFit/>
          </a:bodyPr>
          <a:lstStyle/>
          <a:p>
            <a:pPr algn="ctr"/>
            <a:r>
              <a:rPr lang="fr-FR" sz="1680" b="1" dirty="0">
                <a:latin typeface="Agency FB" pitchFamily="34" charset="0"/>
              </a:rPr>
              <a:t>Signature digitale de l’engagement Forfait </a:t>
            </a:r>
          </a:p>
        </p:txBody>
      </p:sp>
      <p:sp>
        <p:nvSpPr>
          <p:cNvPr id="35" name="ZoneTexte 34"/>
          <p:cNvSpPr txBox="1"/>
          <p:nvPr/>
        </p:nvSpPr>
        <p:spPr>
          <a:xfrm>
            <a:off x="7307901" y="4774179"/>
            <a:ext cx="3931636" cy="350865"/>
          </a:xfrm>
          <a:prstGeom prst="rect">
            <a:avLst/>
          </a:prstGeom>
          <a:noFill/>
        </p:spPr>
        <p:txBody>
          <a:bodyPr wrap="square" rtlCol="0">
            <a:spAutoFit/>
          </a:bodyPr>
          <a:lstStyle/>
          <a:p>
            <a:pPr algn="ctr"/>
            <a:r>
              <a:rPr lang="fr-FR" sz="1680" b="1" dirty="0">
                <a:solidFill>
                  <a:schemeClr val="accent4">
                    <a:lumMod val="75000"/>
                  </a:schemeClr>
                </a:solidFill>
                <a:latin typeface="Agency FB" pitchFamily="34" charset="0"/>
              </a:rPr>
              <a:t>Remboursement forfaitaire</a:t>
            </a:r>
          </a:p>
        </p:txBody>
      </p:sp>
      <p:sp>
        <p:nvSpPr>
          <p:cNvPr id="36" name="ZoneTexte 35"/>
          <p:cNvSpPr txBox="1"/>
          <p:nvPr/>
        </p:nvSpPr>
        <p:spPr>
          <a:xfrm>
            <a:off x="7639060" y="6198649"/>
            <a:ext cx="3661746" cy="295466"/>
          </a:xfrm>
          <a:prstGeom prst="rect">
            <a:avLst/>
          </a:prstGeom>
          <a:noFill/>
        </p:spPr>
        <p:txBody>
          <a:bodyPr wrap="square" rtlCol="0">
            <a:spAutoFit/>
          </a:bodyPr>
          <a:lstStyle/>
          <a:p>
            <a:pPr algn="ctr"/>
            <a:r>
              <a:rPr lang="fr-FR" sz="1320" b="1" dirty="0">
                <a:solidFill>
                  <a:schemeClr val="accent4">
                    <a:lumMod val="75000"/>
                  </a:schemeClr>
                </a:solidFill>
                <a:latin typeface="Agency FB" pitchFamily="34" charset="0"/>
              </a:rPr>
              <a:t>Evaluation de la qualité de service à travers la First Line</a:t>
            </a:r>
          </a:p>
        </p:txBody>
      </p:sp>
      <p:sp>
        <p:nvSpPr>
          <p:cNvPr id="43" name="Ellipse 42"/>
          <p:cNvSpPr/>
          <p:nvPr/>
        </p:nvSpPr>
        <p:spPr>
          <a:xfrm>
            <a:off x="4724391" y="1173705"/>
            <a:ext cx="342902" cy="327439"/>
          </a:xfrm>
          <a:prstGeom prst="ellipse">
            <a:avLst/>
          </a:prstGeom>
          <a:solidFill>
            <a:schemeClr val="bg1"/>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sp>
        <p:nvSpPr>
          <p:cNvPr id="51" name="Chevron 50"/>
          <p:cNvSpPr/>
          <p:nvPr/>
        </p:nvSpPr>
        <p:spPr>
          <a:xfrm rot="10800000">
            <a:off x="7553336" y="5829317"/>
            <a:ext cx="257177" cy="428628"/>
          </a:xfrm>
          <a:prstGeom prst="chevron">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60" name="Chevron 59"/>
          <p:cNvSpPr/>
          <p:nvPr/>
        </p:nvSpPr>
        <p:spPr>
          <a:xfrm>
            <a:off x="10296555" y="1224347"/>
            <a:ext cx="171451" cy="257177"/>
          </a:xfrm>
          <a:prstGeom prst="chevr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grpSp>
        <p:nvGrpSpPr>
          <p:cNvPr id="2" name="Groupe 99"/>
          <p:cNvGrpSpPr/>
          <p:nvPr/>
        </p:nvGrpSpPr>
        <p:grpSpPr>
          <a:xfrm>
            <a:off x="6781805" y="745077"/>
            <a:ext cx="1200120" cy="1200158"/>
            <a:chOff x="5143504" y="428608"/>
            <a:chExt cx="1000100" cy="1000132"/>
          </a:xfrm>
        </p:grpSpPr>
        <p:sp>
          <p:nvSpPr>
            <p:cNvPr id="52" name="Organigramme : Connecteur 51"/>
            <p:cNvSpPr/>
            <p:nvPr/>
          </p:nvSpPr>
          <p:spPr>
            <a:xfrm>
              <a:off x="5143504" y="428608"/>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1029" name="Picture 5"/>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5357818" y="571484"/>
              <a:ext cx="642942" cy="655931"/>
            </a:xfrm>
            <a:prstGeom prst="rect">
              <a:avLst/>
            </a:prstGeom>
            <a:noFill/>
            <a:ln w="9525">
              <a:noFill/>
              <a:miter lim="800000"/>
              <a:headEnd/>
              <a:tailEnd/>
            </a:ln>
            <a:effectLst/>
          </p:spPr>
        </p:pic>
      </p:grpSp>
      <p:sp>
        <p:nvSpPr>
          <p:cNvPr id="61" name="Rectangle 60"/>
          <p:cNvSpPr/>
          <p:nvPr/>
        </p:nvSpPr>
        <p:spPr>
          <a:xfrm>
            <a:off x="3401443" y="627932"/>
            <a:ext cx="2743219" cy="428628"/>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smtClean="0">
                <a:solidFill>
                  <a:schemeClr val="tx1"/>
                </a:solidFill>
                <a:latin typeface="Agency FB" pitchFamily="34" charset="0"/>
              </a:rPr>
              <a:t>Le client  </a:t>
            </a:r>
            <a:r>
              <a:rPr lang="fr-FR" sz="1260" b="1" dirty="0">
                <a:solidFill>
                  <a:schemeClr val="tx1"/>
                </a:solidFill>
                <a:latin typeface="Agency FB" pitchFamily="34" charset="0"/>
              </a:rPr>
              <a:t>a eu un </a:t>
            </a:r>
            <a:r>
              <a:rPr lang="fr-FR" sz="1260" b="1" dirty="0" smtClean="0">
                <a:solidFill>
                  <a:schemeClr val="tx1"/>
                </a:solidFill>
                <a:latin typeface="Agency FB" pitchFamily="34" charset="0"/>
              </a:rPr>
              <a:t>accident, Il appelle </a:t>
            </a:r>
            <a:r>
              <a:rPr lang="fr-FR" sz="1260" b="1" dirty="0">
                <a:solidFill>
                  <a:schemeClr val="tx1"/>
                </a:solidFill>
                <a:latin typeface="Agency FB" pitchFamily="34" charset="0"/>
              </a:rPr>
              <a:t>son assistance </a:t>
            </a:r>
            <a:r>
              <a:rPr lang="fr-FR" sz="1260" b="1" dirty="0" smtClean="0">
                <a:solidFill>
                  <a:schemeClr val="tx1"/>
                </a:solidFill>
                <a:latin typeface="Agency FB" pitchFamily="34" charset="0"/>
              </a:rPr>
              <a:t>C</a:t>
            </a:r>
            <a:endParaRPr lang="fr-FR" sz="1260" b="1" dirty="0">
              <a:solidFill>
                <a:schemeClr val="tx1"/>
              </a:solidFill>
              <a:latin typeface="Agency FB" pitchFamily="34" charset="0"/>
            </a:endParaRPr>
          </a:p>
        </p:txBody>
      </p:sp>
      <p:grpSp>
        <p:nvGrpSpPr>
          <p:cNvPr id="7" name="Groupe 100"/>
          <p:cNvGrpSpPr/>
          <p:nvPr/>
        </p:nvGrpSpPr>
        <p:grpSpPr>
          <a:xfrm>
            <a:off x="10382280" y="1430881"/>
            <a:ext cx="1200120" cy="1200158"/>
            <a:chOff x="8143900" y="1071550"/>
            <a:chExt cx="1000100" cy="1000132"/>
          </a:xfrm>
        </p:grpSpPr>
        <p:sp>
          <p:nvSpPr>
            <p:cNvPr id="53" name="Organigramme : Connecteur 52"/>
            <p:cNvSpPr/>
            <p:nvPr/>
          </p:nvSpPr>
          <p:spPr>
            <a:xfrm>
              <a:off x="8143900" y="1071550"/>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72" name="Picture 4" descr="C:\Users\f.tabouti\Desktop\Icones\sm.png"/>
            <p:cNvPicPr>
              <a:picLocks noChangeAspect="1" noChangeArrowheads="1"/>
            </p:cNvPicPr>
            <p:nvPr/>
          </p:nvPicPr>
          <p:blipFill>
            <a:blip r:embed="rId6" cstate="print"/>
            <a:srcRect/>
            <a:stretch>
              <a:fillRect/>
            </a:stretch>
          </p:blipFill>
          <p:spPr bwMode="auto">
            <a:xfrm>
              <a:off x="8215338" y="1357302"/>
              <a:ext cx="500066" cy="500066"/>
            </a:xfrm>
            <a:prstGeom prst="rect">
              <a:avLst/>
            </a:prstGeom>
            <a:noFill/>
          </p:spPr>
        </p:pic>
        <p:pic>
          <p:nvPicPr>
            <p:cNvPr id="74" name="Image 73" descr="tel.png"/>
            <p:cNvPicPr>
              <a:picLocks noChangeAspect="1"/>
            </p:cNvPicPr>
            <p:nvPr/>
          </p:nvPicPr>
          <p:blipFill>
            <a:blip r:embed="rId7" cstate="print"/>
            <a:stretch>
              <a:fillRect/>
            </a:stretch>
          </p:blipFill>
          <p:spPr>
            <a:xfrm>
              <a:off x="8715404" y="1428740"/>
              <a:ext cx="357190" cy="357190"/>
            </a:xfrm>
            <a:prstGeom prst="rect">
              <a:avLst/>
            </a:prstGeom>
          </p:spPr>
        </p:pic>
      </p:grpSp>
      <p:pic>
        <p:nvPicPr>
          <p:cNvPr id="76" name="Image 75" descr="photo.png"/>
          <p:cNvPicPr>
            <a:picLocks noChangeAspect="1"/>
          </p:cNvPicPr>
          <p:nvPr/>
        </p:nvPicPr>
        <p:blipFill>
          <a:blip r:embed="rId8" cstate="print"/>
          <a:stretch>
            <a:fillRect/>
          </a:stretch>
        </p:blipFill>
        <p:spPr>
          <a:xfrm>
            <a:off x="6978506" y="2467301"/>
            <a:ext cx="171451" cy="171451"/>
          </a:xfrm>
          <a:prstGeom prst="rect">
            <a:avLst/>
          </a:prstGeom>
        </p:spPr>
      </p:pic>
      <p:grpSp>
        <p:nvGrpSpPr>
          <p:cNvPr id="10" name="Groupe 98"/>
          <p:cNvGrpSpPr/>
          <p:nvPr/>
        </p:nvGrpSpPr>
        <p:grpSpPr>
          <a:xfrm>
            <a:off x="2152622" y="745077"/>
            <a:ext cx="1285884" cy="1200158"/>
            <a:chOff x="1071538" y="428608"/>
            <a:chExt cx="1071570" cy="1000132"/>
          </a:xfrm>
        </p:grpSpPr>
        <p:sp>
          <p:nvSpPr>
            <p:cNvPr id="6" name="Organigramme : Connecteur 5"/>
            <p:cNvSpPr/>
            <p:nvPr/>
          </p:nvSpPr>
          <p:spPr>
            <a:xfrm>
              <a:off x="1143008" y="428608"/>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2051" name="Picture 3"/>
            <p:cNvPicPr>
              <a:picLocks noChangeAspect="1" noChangeArrowheads="1"/>
            </p:cNvPicPr>
            <p:nvPr/>
          </p:nvPicPr>
          <p:blipFill>
            <a:blip r:embed="rId9">
              <a:clrChange>
                <a:clrFrom>
                  <a:srgbClr val="FFFFFF"/>
                </a:clrFrom>
                <a:clrTo>
                  <a:srgbClr val="FFFFFF">
                    <a:alpha val="0"/>
                  </a:srgbClr>
                </a:clrTo>
              </a:clrChange>
            </a:blip>
            <a:srcRect/>
            <a:stretch>
              <a:fillRect/>
            </a:stretch>
          </p:blipFill>
          <p:spPr bwMode="auto">
            <a:xfrm>
              <a:off x="1071538" y="571484"/>
              <a:ext cx="1049990" cy="618399"/>
            </a:xfrm>
            <a:prstGeom prst="rect">
              <a:avLst/>
            </a:prstGeom>
            <a:noFill/>
            <a:ln w="9525">
              <a:noFill/>
              <a:miter lim="800000"/>
              <a:headEnd/>
              <a:tailEnd/>
            </a:ln>
            <a:effectLst/>
          </p:spPr>
        </p:pic>
      </p:grpSp>
      <p:sp>
        <p:nvSpPr>
          <p:cNvPr id="79" name="Organigramme : Connecteur 78"/>
          <p:cNvSpPr/>
          <p:nvPr/>
        </p:nvSpPr>
        <p:spPr>
          <a:xfrm>
            <a:off x="609600" y="2914647"/>
            <a:ext cx="1200120" cy="1200158"/>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sp>
        <p:nvSpPr>
          <p:cNvPr id="85" name="ZoneTexte 84"/>
          <p:cNvSpPr txBox="1"/>
          <p:nvPr/>
        </p:nvSpPr>
        <p:spPr>
          <a:xfrm>
            <a:off x="7538394" y="2973943"/>
            <a:ext cx="1858201" cy="350865"/>
          </a:xfrm>
          <a:prstGeom prst="rect">
            <a:avLst/>
          </a:prstGeom>
          <a:noFill/>
        </p:spPr>
        <p:txBody>
          <a:bodyPr wrap="none" rtlCol="0">
            <a:spAutoFit/>
          </a:bodyPr>
          <a:lstStyle/>
          <a:p>
            <a:r>
              <a:rPr lang="fr-FR" sz="1680" b="1" dirty="0">
                <a:solidFill>
                  <a:schemeClr val="accent6">
                    <a:lumMod val="75000"/>
                  </a:schemeClr>
                </a:solidFill>
                <a:latin typeface="Agency FB" pitchFamily="34" charset="0"/>
              </a:rPr>
              <a:t>Déclaration du sinistre</a:t>
            </a:r>
          </a:p>
        </p:txBody>
      </p:sp>
      <p:sp>
        <p:nvSpPr>
          <p:cNvPr id="86" name="Ellipse 85"/>
          <p:cNvSpPr/>
          <p:nvPr/>
        </p:nvSpPr>
        <p:spPr>
          <a:xfrm>
            <a:off x="9267847" y="1173705"/>
            <a:ext cx="342902" cy="327439"/>
          </a:xfrm>
          <a:prstGeom prst="ellipse">
            <a:avLst/>
          </a:prstGeom>
          <a:solidFill>
            <a:schemeClr val="bg1"/>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sp>
        <p:nvSpPr>
          <p:cNvPr id="87" name="Rectangle 86"/>
          <p:cNvSpPr/>
          <p:nvPr/>
        </p:nvSpPr>
        <p:spPr>
          <a:xfrm>
            <a:off x="7851311" y="553654"/>
            <a:ext cx="3490294" cy="592930"/>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a:solidFill>
                  <a:srgbClr val="00B050"/>
                </a:solidFill>
                <a:latin typeface="Agency FB" pitchFamily="34" charset="0"/>
              </a:rPr>
              <a:t>Les prestations d’assistance sont activées conformément à la formule d’assistance souscrite par </a:t>
            </a:r>
            <a:r>
              <a:rPr lang="fr-FR" sz="1260" b="1" dirty="0" smtClean="0">
                <a:solidFill>
                  <a:srgbClr val="00B050"/>
                </a:solidFill>
                <a:latin typeface="Agency FB" pitchFamily="34" charset="0"/>
              </a:rPr>
              <a:t>le client </a:t>
            </a:r>
          </a:p>
          <a:p>
            <a:pPr algn="ctr"/>
            <a:r>
              <a:rPr lang="fr-FR" sz="1260" b="1" dirty="0" smtClean="0">
                <a:solidFill>
                  <a:srgbClr val="00B050"/>
                </a:solidFill>
                <a:latin typeface="Agency FB" pitchFamily="34" charset="0"/>
              </a:rPr>
              <a:t>Invite l’assuré à télécharger MYWAFA</a:t>
            </a:r>
            <a:endParaRPr lang="fr-FR" sz="1260" b="1" dirty="0">
              <a:solidFill>
                <a:srgbClr val="00B050"/>
              </a:solidFill>
              <a:latin typeface="Agency FB" pitchFamily="34" charset="0"/>
            </a:endParaRPr>
          </a:p>
        </p:txBody>
      </p:sp>
      <p:sp>
        <p:nvSpPr>
          <p:cNvPr id="88" name="Ellipse 87"/>
          <p:cNvSpPr/>
          <p:nvPr/>
        </p:nvSpPr>
        <p:spPr>
          <a:xfrm>
            <a:off x="9525024" y="2693147"/>
            <a:ext cx="342902" cy="327439"/>
          </a:xfrm>
          <a:prstGeom prst="ellipse">
            <a:avLst/>
          </a:prstGeom>
          <a:solidFill>
            <a:schemeClr val="bg1"/>
          </a:solid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sp>
        <p:nvSpPr>
          <p:cNvPr id="89" name="Rectangle 88"/>
          <p:cNvSpPr/>
          <p:nvPr/>
        </p:nvSpPr>
        <p:spPr>
          <a:xfrm>
            <a:off x="7910412" y="1972358"/>
            <a:ext cx="2445537" cy="600079"/>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smtClean="0">
                <a:solidFill>
                  <a:schemeClr val="tx1"/>
                </a:solidFill>
                <a:latin typeface="Agency FB" pitchFamily="34" charset="0"/>
              </a:rPr>
              <a:t>La plateforme déclare le </a:t>
            </a:r>
            <a:r>
              <a:rPr lang="fr-FR" sz="1260" b="1" dirty="0">
                <a:solidFill>
                  <a:schemeClr val="tx1"/>
                </a:solidFill>
                <a:latin typeface="Agency FB" pitchFamily="34" charset="0"/>
              </a:rPr>
              <a:t>sinistre </a:t>
            </a:r>
            <a:r>
              <a:rPr lang="fr-FR" sz="1260" b="1" dirty="0" smtClean="0">
                <a:solidFill>
                  <a:schemeClr val="tx1"/>
                </a:solidFill>
                <a:latin typeface="Agency FB" pitchFamily="34" charset="0"/>
              </a:rPr>
              <a:t>et transmet les photos à l’expert pour estimation forfaitaire</a:t>
            </a:r>
            <a:endParaRPr lang="fr-FR" sz="1260" b="1" dirty="0">
              <a:solidFill>
                <a:schemeClr val="tx1"/>
              </a:solidFill>
              <a:latin typeface="Agency FB" pitchFamily="34" charset="0"/>
            </a:endParaRPr>
          </a:p>
        </p:txBody>
      </p:sp>
      <p:sp>
        <p:nvSpPr>
          <p:cNvPr id="94" name="Rectangle 93"/>
          <p:cNvSpPr/>
          <p:nvPr/>
        </p:nvSpPr>
        <p:spPr>
          <a:xfrm>
            <a:off x="8631188" y="4154127"/>
            <a:ext cx="3698447" cy="600079"/>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smtClean="0">
                <a:solidFill>
                  <a:schemeClr val="accent4">
                    <a:lumMod val="75000"/>
                  </a:schemeClr>
                </a:solidFill>
                <a:latin typeface="Agency FB" pitchFamily="34" charset="0"/>
              </a:rPr>
              <a:t>Le client récupère </a:t>
            </a:r>
            <a:r>
              <a:rPr lang="fr-FR" sz="1260" b="1" dirty="0">
                <a:solidFill>
                  <a:schemeClr val="accent4">
                    <a:lumMod val="75000"/>
                  </a:schemeClr>
                </a:solidFill>
                <a:latin typeface="Agency FB" pitchFamily="34" charset="0"/>
              </a:rPr>
              <a:t>son indemnisation</a:t>
            </a:r>
          </a:p>
        </p:txBody>
      </p:sp>
      <p:sp>
        <p:nvSpPr>
          <p:cNvPr id="95" name="Ellipse 94"/>
          <p:cNvSpPr/>
          <p:nvPr/>
        </p:nvSpPr>
        <p:spPr>
          <a:xfrm>
            <a:off x="7296159" y="2693147"/>
            <a:ext cx="342902" cy="327439"/>
          </a:xfrm>
          <a:prstGeom prst="ellipse">
            <a:avLst/>
          </a:prstGeom>
          <a:solidFill>
            <a:schemeClr val="bg1"/>
          </a:solid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pic>
        <p:nvPicPr>
          <p:cNvPr id="97" name="Image 96" descr="po.png"/>
          <p:cNvPicPr>
            <a:picLocks noChangeAspect="1"/>
          </p:cNvPicPr>
          <p:nvPr/>
        </p:nvPicPr>
        <p:blipFill>
          <a:blip r:embed="rId10" cstate="print"/>
          <a:stretch>
            <a:fillRect/>
          </a:stretch>
        </p:blipFill>
        <p:spPr>
          <a:xfrm>
            <a:off x="7204345" y="2451547"/>
            <a:ext cx="157334" cy="159127"/>
          </a:xfrm>
          <a:prstGeom prst="rect">
            <a:avLst/>
          </a:prstGeom>
        </p:spPr>
      </p:pic>
      <p:pic>
        <p:nvPicPr>
          <p:cNvPr id="112" name="Image 111" descr="money-icon.png"/>
          <p:cNvPicPr>
            <a:picLocks noChangeAspect="1"/>
          </p:cNvPicPr>
          <p:nvPr/>
        </p:nvPicPr>
        <p:blipFill>
          <a:blip r:embed="rId11" cstate="print">
            <a:duotone>
              <a:prstClr val="black"/>
              <a:schemeClr val="accent6">
                <a:tint val="45000"/>
                <a:satMod val="400000"/>
              </a:schemeClr>
            </a:duotone>
          </a:blip>
          <a:stretch>
            <a:fillRect/>
          </a:stretch>
        </p:blipFill>
        <p:spPr>
          <a:xfrm rot="10800000">
            <a:off x="11539805" y="4371313"/>
            <a:ext cx="197244" cy="203711"/>
          </a:xfrm>
          <a:prstGeom prst="rect">
            <a:avLst/>
          </a:prstGeom>
        </p:spPr>
      </p:pic>
      <p:sp>
        <p:nvSpPr>
          <p:cNvPr id="90" name="Ellipse 89"/>
          <p:cNvSpPr/>
          <p:nvPr/>
        </p:nvSpPr>
        <p:spPr>
          <a:xfrm>
            <a:off x="2752702" y="2693147"/>
            <a:ext cx="342902" cy="327439"/>
          </a:xfrm>
          <a:prstGeom prst="ellipse">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sp>
        <p:nvSpPr>
          <p:cNvPr id="122" name="Ellipse 121"/>
          <p:cNvSpPr/>
          <p:nvPr/>
        </p:nvSpPr>
        <p:spPr>
          <a:xfrm>
            <a:off x="9096396" y="5915043"/>
            <a:ext cx="342902" cy="327439"/>
          </a:xfrm>
          <a:prstGeom prst="ellipse">
            <a:avLst/>
          </a:prstGeom>
          <a:solidFill>
            <a:schemeClr val="bg1"/>
          </a:solidFill>
          <a:ln w="285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sp>
        <p:nvSpPr>
          <p:cNvPr id="119" name="Organigramme : Connecteur 118"/>
          <p:cNvSpPr/>
          <p:nvPr/>
        </p:nvSpPr>
        <p:spPr>
          <a:xfrm>
            <a:off x="4810116" y="2202412"/>
            <a:ext cx="1200120" cy="1200158"/>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sp>
        <p:nvSpPr>
          <p:cNvPr id="127" name="Rectangle 126"/>
          <p:cNvSpPr/>
          <p:nvPr/>
        </p:nvSpPr>
        <p:spPr>
          <a:xfrm>
            <a:off x="1381805" y="4629157"/>
            <a:ext cx="5400000" cy="7344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grpSp>
        <p:nvGrpSpPr>
          <p:cNvPr id="83" name="Groupe 82"/>
          <p:cNvGrpSpPr/>
          <p:nvPr/>
        </p:nvGrpSpPr>
        <p:grpSpPr>
          <a:xfrm>
            <a:off x="6313204" y="5341393"/>
            <a:ext cx="1240132" cy="1200158"/>
            <a:chOff x="1643042" y="4143384"/>
            <a:chExt cx="1033443" cy="1000132"/>
          </a:xfrm>
        </p:grpSpPr>
        <p:grpSp>
          <p:nvGrpSpPr>
            <p:cNvPr id="17" name="Groupe 103"/>
            <p:cNvGrpSpPr/>
            <p:nvPr/>
          </p:nvGrpSpPr>
          <p:grpSpPr>
            <a:xfrm>
              <a:off x="1643042" y="4143384"/>
              <a:ext cx="1033443" cy="1000132"/>
              <a:chOff x="4395781" y="4214822"/>
              <a:chExt cx="1033443" cy="1000132"/>
            </a:xfrm>
          </p:grpSpPr>
          <p:sp>
            <p:nvSpPr>
              <p:cNvPr id="80" name="Organigramme : Connecteur 79"/>
              <p:cNvSpPr/>
              <p:nvPr/>
            </p:nvSpPr>
            <p:spPr>
              <a:xfrm>
                <a:off x="4429124" y="4214822"/>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2055" name="Picture 7"/>
              <p:cNvPicPr>
                <a:picLocks noChangeAspect="1" noChangeArrowheads="1"/>
              </p:cNvPicPr>
              <p:nvPr/>
            </p:nvPicPr>
            <p:blipFill>
              <a:blip r:embed="rId12">
                <a:clrChange>
                  <a:clrFrom>
                    <a:srgbClr val="FFFFFF"/>
                  </a:clrFrom>
                  <a:clrTo>
                    <a:srgbClr val="FFFFFF">
                      <a:alpha val="0"/>
                    </a:srgbClr>
                  </a:clrTo>
                </a:clrChange>
              </a:blip>
              <a:srcRect/>
              <a:stretch>
                <a:fillRect/>
              </a:stretch>
            </p:blipFill>
            <p:spPr bwMode="auto">
              <a:xfrm>
                <a:off x="4395781" y="4214822"/>
                <a:ext cx="982658" cy="603278"/>
              </a:xfrm>
              <a:prstGeom prst="rect">
                <a:avLst/>
              </a:prstGeom>
              <a:noFill/>
              <a:ln w="9525">
                <a:noFill/>
                <a:miter lim="800000"/>
                <a:headEnd/>
                <a:tailEnd/>
              </a:ln>
              <a:effectLst/>
            </p:spPr>
          </p:pic>
        </p:grpSp>
        <p:pic>
          <p:nvPicPr>
            <p:cNvPr id="2057" name="Picture 9"/>
            <p:cNvPicPr>
              <a:picLocks noChangeAspect="1" noChangeArrowheads="1"/>
            </p:cNvPicPr>
            <p:nvPr/>
          </p:nvPicPr>
          <p:blipFill>
            <a:blip r:embed="rId13" cstate="print">
              <a:clrChange>
                <a:clrFrom>
                  <a:srgbClr val="F8F8F8"/>
                </a:clrFrom>
                <a:clrTo>
                  <a:srgbClr val="F8F8F8">
                    <a:alpha val="0"/>
                  </a:srgbClr>
                </a:clrTo>
              </a:clrChange>
            </a:blip>
            <a:srcRect/>
            <a:stretch>
              <a:fillRect/>
            </a:stretch>
          </p:blipFill>
          <p:spPr bwMode="auto">
            <a:xfrm>
              <a:off x="1857356" y="4643450"/>
              <a:ext cx="631835" cy="481831"/>
            </a:xfrm>
            <a:prstGeom prst="rect">
              <a:avLst/>
            </a:prstGeom>
            <a:noFill/>
            <a:ln w="9525">
              <a:noFill/>
              <a:miter lim="800000"/>
              <a:headEnd/>
              <a:tailEnd/>
            </a:ln>
            <a:effectLst/>
          </p:spPr>
        </p:pic>
      </p:grpSp>
      <p:sp>
        <p:nvSpPr>
          <p:cNvPr id="129" name="Chevron 128"/>
          <p:cNvSpPr/>
          <p:nvPr/>
        </p:nvSpPr>
        <p:spPr>
          <a:xfrm flipH="1">
            <a:off x="6181726" y="2716765"/>
            <a:ext cx="171451" cy="257177"/>
          </a:xfrm>
          <a:prstGeom prst="chevron">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30" name="Chevron 129"/>
          <p:cNvSpPr/>
          <p:nvPr/>
        </p:nvSpPr>
        <p:spPr>
          <a:xfrm>
            <a:off x="5324470" y="4543432"/>
            <a:ext cx="171451" cy="257177"/>
          </a:xfrm>
          <a:prstGeom prst="chevr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31" name="Ellipse 130"/>
          <p:cNvSpPr/>
          <p:nvPr/>
        </p:nvSpPr>
        <p:spPr>
          <a:xfrm>
            <a:off x="9096396" y="4473169"/>
            <a:ext cx="342902" cy="327439"/>
          </a:xfrm>
          <a:prstGeom prst="ellipse">
            <a:avLst/>
          </a:prstGeom>
          <a:solidFill>
            <a:schemeClr val="bg1"/>
          </a:solidFill>
          <a:ln w="285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sp>
        <p:nvSpPr>
          <p:cNvPr id="132" name="Rectangle 131"/>
          <p:cNvSpPr/>
          <p:nvPr/>
        </p:nvSpPr>
        <p:spPr>
          <a:xfrm>
            <a:off x="8107654" y="5552819"/>
            <a:ext cx="2724557" cy="600079"/>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smtClean="0">
                <a:solidFill>
                  <a:schemeClr val="tx1"/>
                </a:solidFill>
                <a:latin typeface="Agency FB" pitchFamily="34" charset="0"/>
              </a:rPr>
              <a:t>Le client reçoit </a:t>
            </a:r>
            <a:r>
              <a:rPr lang="fr-FR" sz="1260" b="1" dirty="0">
                <a:solidFill>
                  <a:schemeClr val="tx1"/>
                </a:solidFill>
                <a:latin typeface="Agency FB" pitchFamily="34" charset="0"/>
              </a:rPr>
              <a:t>un appel pour évaluer le service</a:t>
            </a:r>
          </a:p>
        </p:txBody>
      </p:sp>
      <p:sp>
        <p:nvSpPr>
          <p:cNvPr id="123" name="Ellipse 122"/>
          <p:cNvSpPr/>
          <p:nvPr/>
        </p:nvSpPr>
        <p:spPr>
          <a:xfrm>
            <a:off x="2924153" y="4473169"/>
            <a:ext cx="342902" cy="327439"/>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pic>
        <p:nvPicPr>
          <p:cNvPr id="104" name="Picture 8"/>
          <p:cNvPicPr>
            <a:picLocks noChangeAspect="1" noChangeArrowheads="1"/>
          </p:cNvPicPr>
          <p:nvPr/>
        </p:nvPicPr>
        <p:blipFill>
          <a:blip r:embed="rId14" cstate="print">
            <a:clrChange>
              <a:clrFrom>
                <a:srgbClr val="F8FAFB"/>
              </a:clrFrom>
              <a:clrTo>
                <a:srgbClr val="F8FAFB">
                  <a:alpha val="0"/>
                </a:srgbClr>
              </a:clrTo>
            </a:clrChange>
          </a:blip>
          <a:srcRect/>
          <a:stretch>
            <a:fillRect/>
          </a:stretch>
        </p:blipFill>
        <p:spPr bwMode="auto">
          <a:xfrm>
            <a:off x="7449662" y="2342942"/>
            <a:ext cx="320027" cy="288522"/>
          </a:xfrm>
          <a:prstGeom prst="rect">
            <a:avLst/>
          </a:prstGeom>
          <a:noFill/>
          <a:ln w="9525">
            <a:noFill/>
            <a:miter lim="800000"/>
            <a:headEnd/>
            <a:tailEnd/>
          </a:ln>
          <a:effectLst/>
        </p:spPr>
      </p:pic>
      <p:pic>
        <p:nvPicPr>
          <p:cNvPr id="106" name="Picture 7"/>
          <p:cNvPicPr>
            <a:picLocks noChangeAspect="1" noChangeArrowheads="1"/>
          </p:cNvPicPr>
          <p:nvPr/>
        </p:nvPicPr>
        <p:blipFill>
          <a:blip r:embed="rId15" cstate="print">
            <a:clrChange>
              <a:clrFrom>
                <a:srgbClr val="F8F8F8"/>
              </a:clrFrom>
              <a:clrTo>
                <a:srgbClr val="F8F8F8">
                  <a:alpha val="0"/>
                </a:srgbClr>
              </a:clrTo>
            </a:clrChange>
          </a:blip>
          <a:srcRect/>
          <a:stretch>
            <a:fillRect/>
          </a:stretch>
        </p:blipFill>
        <p:spPr bwMode="auto">
          <a:xfrm>
            <a:off x="7850477" y="5434699"/>
            <a:ext cx="473836" cy="288668"/>
          </a:xfrm>
          <a:prstGeom prst="rect">
            <a:avLst/>
          </a:prstGeom>
          <a:noFill/>
          <a:ln w="9525">
            <a:noFill/>
            <a:miter lim="800000"/>
            <a:headEnd/>
            <a:tailEnd/>
          </a:ln>
          <a:effectLst/>
        </p:spPr>
      </p:pic>
      <p:sp>
        <p:nvSpPr>
          <p:cNvPr id="82" name="ZoneTexte 81"/>
          <p:cNvSpPr txBox="1"/>
          <p:nvPr/>
        </p:nvSpPr>
        <p:spPr>
          <a:xfrm>
            <a:off x="537550" y="600055"/>
            <a:ext cx="1402949" cy="387798"/>
          </a:xfrm>
          <a:prstGeom prst="rect">
            <a:avLst/>
          </a:prstGeom>
          <a:solidFill>
            <a:schemeClr val="bg1"/>
          </a:solidFill>
          <a:ln>
            <a:solidFill>
              <a:schemeClr val="bg2">
                <a:lumMod val="75000"/>
              </a:schemeClr>
            </a:solidFill>
          </a:ln>
        </p:spPr>
        <p:style>
          <a:lnRef idx="2">
            <a:schemeClr val="dk1"/>
          </a:lnRef>
          <a:fillRef idx="1">
            <a:schemeClr val="lt1"/>
          </a:fillRef>
          <a:effectRef idx="0">
            <a:schemeClr val="dk1"/>
          </a:effectRef>
          <a:fontRef idx="minor">
            <a:schemeClr val="dk1"/>
          </a:fontRef>
        </p:style>
        <p:txBody>
          <a:bodyPr wrap="none" rtlCol="0">
            <a:spAutoFit/>
          </a:bodyPr>
          <a:lstStyle/>
          <a:p>
            <a:pPr algn="ctr"/>
            <a:r>
              <a:rPr lang="fr-FR" sz="1920" dirty="0" smtClean="0">
                <a:solidFill>
                  <a:srgbClr val="00B050"/>
                </a:solidFill>
                <a:latin typeface="Agency FB" pitchFamily="34" charset="0"/>
              </a:rPr>
              <a:t>WAFA OTO SARII</a:t>
            </a:r>
            <a:endParaRPr lang="fr-FR" sz="1920" dirty="0">
              <a:solidFill>
                <a:srgbClr val="00B050"/>
              </a:solidFill>
              <a:latin typeface="Agency FB" pitchFamily="34" charset="0"/>
            </a:endParaRPr>
          </a:p>
        </p:txBody>
      </p:sp>
      <p:sp>
        <p:nvSpPr>
          <p:cNvPr id="84" name="Espace réservé du contenu 8"/>
          <p:cNvSpPr>
            <a:spLocks noGrp="1"/>
          </p:cNvSpPr>
          <p:nvPr>
            <p:ph sz="quarter" idx="12"/>
          </p:nvPr>
        </p:nvSpPr>
        <p:spPr bwMode="auto">
          <a:xfrm>
            <a:off x="5324470" y="6539866"/>
            <a:ext cx="6128390" cy="330794"/>
          </a:xfrm>
          <a:noFill/>
          <a:ln>
            <a:miter lim="800000"/>
            <a:headEnd/>
            <a:tailEnd/>
          </a:ln>
        </p:spPr>
        <p:txBody>
          <a:bodyPr wrap="square" numCol="1" anchorCtr="0" compatLnSpc="1">
            <a:prstTxWarp prst="textNoShape">
              <a:avLst/>
            </a:prstTxWarp>
          </a:bodyPr>
          <a:lstStyle/>
          <a:p>
            <a:pPr defTabSz="910554" fontAlgn="base">
              <a:spcBef>
                <a:spcPct val="0"/>
              </a:spcBef>
              <a:spcAft>
                <a:spcPct val="0"/>
              </a:spcAft>
            </a:pPr>
            <a:r>
              <a:rPr lang="fr-FR" b="1" dirty="0">
                <a:solidFill>
                  <a:schemeClr val="bg1"/>
                </a:solidFill>
                <a:latin typeface="Arial" charset="0"/>
                <a:cs typeface="Arial" charset="0"/>
              </a:rPr>
              <a:t>Direction </a:t>
            </a:r>
            <a:r>
              <a:rPr lang="fr-FR" b="1" dirty="0" smtClean="0">
                <a:solidFill>
                  <a:schemeClr val="bg1"/>
                </a:solidFill>
                <a:latin typeface="Arial" charset="0"/>
                <a:cs typeface="Arial" charset="0"/>
              </a:rPr>
              <a:t>Sinistres </a:t>
            </a:r>
            <a:r>
              <a:rPr lang="fr-FR" b="1" dirty="0">
                <a:solidFill>
                  <a:schemeClr val="bg1"/>
                </a:solidFill>
                <a:latin typeface="Arial" charset="0"/>
                <a:cs typeface="Arial" charset="0"/>
              </a:rPr>
              <a:t>Auto Matériels</a:t>
            </a:r>
          </a:p>
        </p:txBody>
      </p:sp>
      <p:pic>
        <p:nvPicPr>
          <p:cNvPr id="13" name="Image 12"/>
          <p:cNvPicPr>
            <a:picLocks noChangeAspect="1"/>
          </p:cNvPicPr>
          <p:nvPr/>
        </p:nvPicPr>
        <p:blipFill rotWithShape="1">
          <a:blip r:embed="rId16"/>
          <a:srcRect l="66537" t="30791" r="5901" b="26358"/>
          <a:stretch/>
        </p:blipFill>
        <p:spPr>
          <a:xfrm>
            <a:off x="4824093" y="2305676"/>
            <a:ext cx="1172167" cy="971224"/>
          </a:xfrm>
          <a:prstGeom prst="flowChartConnector">
            <a:avLst/>
          </a:prstGeom>
        </p:spPr>
      </p:pic>
      <p:pic>
        <p:nvPicPr>
          <p:cNvPr id="20" name="Image 19"/>
          <p:cNvPicPr>
            <a:picLocks noChangeAspect="1"/>
          </p:cNvPicPr>
          <p:nvPr/>
        </p:nvPicPr>
        <p:blipFill rotWithShape="1">
          <a:blip r:embed="rId17"/>
          <a:srcRect l="58662" t="33746" r="10625" b="41134"/>
          <a:stretch/>
        </p:blipFill>
        <p:spPr>
          <a:xfrm>
            <a:off x="661968" y="2948006"/>
            <a:ext cx="1113553" cy="1085861"/>
          </a:xfrm>
          <a:prstGeom prst="flowChartConnector">
            <a:avLst/>
          </a:prstGeom>
        </p:spPr>
      </p:pic>
      <p:pic>
        <p:nvPicPr>
          <p:cNvPr id="21" name="Image 20"/>
          <p:cNvPicPr>
            <a:picLocks noChangeAspect="1"/>
          </p:cNvPicPr>
          <p:nvPr/>
        </p:nvPicPr>
        <p:blipFill rotWithShape="1">
          <a:blip r:embed="rId18"/>
          <a:srcRect l="64962" t="36701" r="16138" b="35224"/>
          <a:stretch/>
        </p:blipFill>
        <p:spPr>
          <a:xfrm>
            <a:off x="2302157" y="4161291"/>
            <a:ext cx="1267449" cy="963753"/>
          </a:xfrm>
          <a:prstGeom prst="flowChartConnector">
            <a:avLst/>
          </a:prstGeom>
        </p:spPr>
      </p:pic>
      <p:sp>
        <p:nvSpPr>
          <p:cNvPr id="118" name="Rectangle 117"/>
          <p:cNvSpPr/>
          <p:nvPr/>
        </p:nvSpPr>
        <p:spPr>
          <a:xfrm>
            <a:off x="8257621" y="5056715"/>
            <a:ext cx="2828945" cy="685805"/>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dirty="0" smtClean="0">
                <a:solidFill>
                  <a:srgbClr val="00B050"/>
                </a:solidFill>
                <a:latin typeface="Agency FB" pitchFamily="34" charset="0"/>
              </a:rPr>
              <a:t>Le </a:t>
            </a:r>
            <a:r>
              <a:rPr lang="fr-FR" sz="1260" b="1" dirty="0" smtClean="0">
                <a:solidFill>
                  <a:srgbClr val="00B050"/>
                </a:solidFill>
                <a:latin typeface="Agency FB" pitchFamily="34" charset="0"/>
              </a:rPr>
              <a:t>client est notifié –via </a:t>
            </a:r>
            <a:r>
              <a:rPr lang="fr-FR" sz="1260" b="1" dirty="0" err="1" smtClean="0">
                <a:solidFill>
                  <a:srgbClr val="00B050"/>
                </a:solidFill>
                <a:latin typeface="Agency FB" pitchFamily="34" charset="0"/>
              </a:rPr>
              <a:t>My</a:t>
            </a:r>
            <a:r>
              <a:rPr lang="fr-FR" sz="1260" b="1" dirty="0" smtClean="0">
                <a:solidFill>
                  <a:srgbClr val="00B050"/>
                </a:solidFill>
                <a:latin typeface="Agency FB" pitchFamily="34" charset="0"/>
              </a:rPr>
              <a:t> Wafa -par </a:t>
            </a:r>
            <a:r>
              <a:rPr lang="fr-FR" sz="1260" b="1" dirty="0">
                <a:solidFill>
                  <a:srgbClr val="00B050"/>
                </a:solidFill>
                <a:latin typeface="Agency FB" pitchFamily="34" charset="0"/>
              </a:rPr>
              <a:t>la validation de son règlement</a:t>
            </a:r>
          </a:p>
        </p:txBody>
      </p:sp>
      <p:pic>
        <p:nvPicPr>
          <p:cNvPr id="121" name="Picture 6"/>
          <p:cNvPicPr>
            <a:picLocks noChangeAspect="1" noChangeArrowheads="1"/>
          </p:cNvPicPr>
          <p:nvPr/>
        </p:nvPicPr>
        <p:blipFill>
          <a:blip r:embed="rId19" cstate="print">
            <a:clrChange>
              <a:clrFrom>
                <a:srgbClr val="FFFFFF"/>
              </a:clrFrom>
              <a:clrTo>
                <a:srgbClr val="FFFFFF">
                  <a:alpha val="0"/>
                </a:srgbClr>
              </a:clrTo>
            </a:clrChange>
          </a:blip>
          <a:srcRect/>
          <a:stretch>
            <a:fillRect/>
          </a:stretch>
        </p:blipFill>
        <p:spPr bwMode="auto">
          <a:xfrm>
            <a:off x="7789720" y="4936999"/>
            <a:ext cx="438062" cy="441643"/>
          </a:xfrm>
          <a:prstGeom prst="rect">
            <a:avLst/>
          </a:prstGeom>
          <a:noFill/>
          <a:ln w="9525">
            <a:noFill/>
            <a:miter lim="800000"/>
            <a:headEnd/>
            <a:tailEnd/>
          </a:ln>
          <a:effectLst/>
        </p:spPr>
      </p:pic>
      <p:pic>
        <p:nvPicPr>
          <p:cNvPr id="11" name="Image 10"/>
          <p:cNvPicPr>
            <a:picLocks noChangeAspect="1"/>
          </p:cNvPicPr>
          <p:nvPr/>
        </p:nvPicPr>
        <p:blipFill>
          <a:blip r:embed="rId20"/>
          <a:stretch>
            <a:fillRect/>
          </a:stretch>
        </p:blipFill>
        <p:spPr>
          <a:xfrm>
            <a:off x="3659103" y="4033867"/>
            <a:ext cx="469433" cy="292633"/>
          </a:xfrm>
          <a:prstGeom prst="rect">
            <a:avLst/>
          </a:prstGeom>
        </p:spPr>
      </p:pic>
      <p:sp>
        <p:nvSpPr>
          <p:cNvPr id="77" name="Rectangle 76"/>
          <p:cNvSpPr/>
          <p:nvPr/>
        </p:nvSpPr>
        <p:spPr>
          <a:xfrm>
            <a:off x="4108099" y="4082021"/>
            <a:ext cx="2545586" cy="600079"/>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smtClean="0">
                <a:solidFill>
                  <a:srgbClr val="00B050"/>
                </a:solidFill>
                <a:latin typeface="Agency FB" pitchFamily="34" charset="0"/>
              </a:rPr>
              <a:t>Le client reçoit une notification sur MYWAFA ou un Appel de la Plateforme</a:t>
            </a:r>
            <a:endParaRPr lang="fr-FR" sz="1260" b="1" dirty="0">
              <a:solidFill>
                <a:srgbClr val="00B050"/>
              </a:solidFill>
              <a:latin typeface="Agency FB" pitchFamily="34" charset="0"/>
            </a:endParaRPr>
          </a:p>
        </p:txBody>
      </p:sp>
      <p:pic>
        <p:nvPicPr>
          <p:cNvPr id="91" name="Picture 7"/>
          <p:cNvPicPr>
            <a:picLocks noChangeAspect="1" noChangeArrowheads="1"/>
          </p:cNvPicPr>
          <p:nvPr/>
        </p:nvPicPr>
        <p:blipFill>
          <a:blip r:embed="rId15" cstate="print">
            <a:clrChange>
              <a:clrFrom>
                <a:srgbClr val="F8F8F8"/>
              </a:clrFrom>
              <a:clrTo>
                <a:srgbClr val="F8F8F8">
                  <a:alpha val="0"/>
                </a:srgbClr>
              </a:clrTo>
            </a:clrChange>
          </a:blip>
          <a:srcRect/>
          <a:stretch>
            <a:fillRect/>
          </a:stretch>
        </p:blipFill>
        <p:spPr bwMode="auto">
          <a:xfrm>
            <a:off x="3775163" y="4787888"/>
            <a:ext cx="473836" cy="288668"/>
          </a:xfrm>
          <a:prstGeom prst="rect">
            <a:avLst/>
          </a:prstGeom>
          <a:noFill/>
          <a:ln w="9525">
            <a:noFill/>
            <a:miter lim="800000"/>
            <a:headEnd/>
            <a:tailEnd/>
          </a:ln>
          <a:effectLst/>
        </p:spPr>
      </p:pic>
      <p:sp>
        <p:nvSpPr>
          <p:cNvPr id="92" name="Rectangle 91"/>
          <p:cNvSpPr/>
          <p:nvPr/>
        </p:nvSpPr>
        <p:spPr>
          <a:xfrm>
            <a:off x="4061358" y="4630194"/>
            <a:ext cx="2750286" cy="600079"/>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smtClean="0">
                <a:solidFill>
                  <a:srgbClr val="00B050"/>
                </a:solidFill>
                <a:latin typeface="Agency FB" pitchFamily="34" charset="0"/>
              </a:rPr>
              <a:t>Le client valide sa décision sur MYWAFA</a:t>
            </a:r>
            <a:endParaRPr lang="fr-FR" sz="1260" b="1" dirty="0">
              <a:solidFill>
                <a:srgbClr val="00B050"/>
              </a:solidFill>
              <a:latin typeface="Agency FB" pitchFamily="34" charset="0"/>
            </a:endParaRPr>
          </a:p>
        </p:txBody>
      </p:sp>
      <p:sp>
        <p:nvSpPr>
          <p:cNvPr id="75" name="ZoneTexte 74"/>
          <p:cNvSpPr txBox="1"/>
          <p:nvPr/>
        </p:nvSpPr>
        <p:spPr>
          <a:xfrm>
            <a:off x="235561" y="5742520"/>
            <a:ext cx="3539602" cy="701731"/>
          </a:xfrm>
          <a:prstGeom prst="rect">
            <a:avLst/>
          </a:prstGeom>
          <a:noFill/>
        </p:spPr>
        <p:txBody>
          <a:bodyPr wrap="square" rtlCol="0">
            <a:spAutoFit/>
          </a:bodyPr>
          <a:lstStyle/>
          <a:p>
            <a:pPr algn="ctr"/>
            <a:r>
              <a:rPr lang="fr-FR" sz="1320" b="1" dirty="0" smtClean="0">
                <a:solidFill>
                  <a:srgbClr val="FF66FF"/>
                </a:solidFill>
                <a:latin typeface="Agency FB" pitchFamily="34" charset="0"/>
              </a:rPr>
              <a:t>NB: Pour les dégâts importants le client peut opter pour la prise en charge ou le parcours classique via MY WAFA, la Plateforme ou son Intermédiaire</a:t>
            </a:r>
            <a:endParaRPr lang="fr-FR" sz="1320" b="1" dirty="0">
              <a:solidFill>
                <a:srgbClr val="FF66FF"/>
              </a:solidFill>
              <a:latin typeface="Agency FB" pitchFamily="34" charset="0"/>
            </a:endParaRPr>
          </a:p>
        </p:txBody>
      </p:sp>
    </p:spTree>
    <p:extLst>
      <p:ext uri="{BB962C8B-B14F-4D97-AF65-F5344CB8AC3E}">
        <p14:creationId xmlns:p14="http://schemas.microsoft.com/office/powerpoint/2010/main" val="14241417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Rectangle à coins arrondis 77"/>
          <p:cNvSpPr/>
          <p:nvPr/>
        </p:nvSpPr>
        <p:spPr>
          <a:xfrm>
            <a:off x="1857237" y="3677383"/>
            <a:ext cx="1555373" cy="342902"/>
          </a:xfrm>
          <a:prstGeom prst="roundRect">
            <a:avLst>
              <a:gd name="adj" fmla="val 50000"/>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sp>
        <p:nvSpPr>
          <p:cNvPr id="81" name="Rectangle 80"/>
          <p:cNvSpPr/>
          <p:nvPr/>
        </p:nvSpPr>
        <p:spPr>
          <a:xfrm>
            <a:off x="1048999" y="3671387"/>
            <a:ext cx="3171847" cy="342902"/>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440" b="1" dirty="0">
                <a:solidFill>
                  <a:schemeClr val="tx1"/>
                </a:solidFill>
                <a:latin typeface="Agency FB" pitchFamily="34" charset="0"/>
              </a:rPr>
              <a:t>Proposition forfaitaire</a:t>
            </a:r>
          </a:p>
        </p:txBody>
      </p:sp>
      <p:sp>
        <p:nvSpPr>
          <p:cNvPr id="14" name="Virage 13"/>
          <p:cNvSpPr/>
          <p:nvPr/>
        </p:nvSpPr>
        <p:spPr>
          <a:xfrm rot="10800000">
            <a:off x="1344565" y="2709241"/>
            <a:ext cx="9849600" cy="182228"/>
          </a:xfrm>
          <a:prstGeom prst="bentArrow">
            <a:avLst>
              <a:gd name="adj1" fmla="val 41310"/>
              <a:gd name="adj2" fmla="val 25000"/>
              <a:gd name="adj3" fmla="val 25000"/>
              <a:gd name="adj4" fmla="val 95655"/>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20" name="Rectangle 119"/>
          <p:cNvSpPr/>
          <p:nvPr/>
        </p:nvSpPr>
        <p:spPr>
          <a:xfrm>
            <a:off x="1381092" y="2802491"/>
            <a:ext cx="3715200" cy="73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pic>
        <p:nvPicPr>
          <p:cNvPr id="2050" name="Picture 2"/>
          <p:cNvPicPr>
            <a:picLocks noChangeAspect="1" noChangeArrowheads="1"/>
          </p:cNvPicPr>
          <p:nvPr/>
        </p:nvPicPr>
        <p:blipFill>
          <a:blip r:embed="rId3" cstate="print"/>
          <a:srcRect/>
          <a:stretch>
            <a:fillRect/>
          </a:stretch>
        </p:blipFill>
        <p:spPr bwMode="auto">
          <a:xfrm>
            <a:off x="609600" y="3"/>
            <a:ext cx="10972800" cy="491072"/>
          </a:xfrm>
          <a:prstGeom prst="rect">
            <a:avLst/>
          </a:prstGeom>
          <a:noFill/>
          <a:ln w="9525">
            <a:noFill/>
            <a:miter lim="800000"/>
            <a:headEnd/>
            <a:tailEnd/>
          </a:ln>
        </p:spPr>
      </p:pic>
      <p:pic>
        <p:nvPicPr>
          <p:cNvPr id="5122" name="Image 4"/>
          <p:cNvPicPr>
            <a:picLocks noChangeAspect="1"/>
          </p:cNvPicPr>
          <p:nvPr/>
        </p:nvPicPr>
        <p:blipFill>
          <a:blip r:embed="rId4" cstate="print"/>
          <a:srcRect/>
          <a:stretch>
            <a:fillRect/>
          </a:stretch>
        </p:blipFill>
        <p:spPr bwMode="auto">
          <a:xfrm>
            <a:off x="835243" y="59764"/>
            <a:ext cx="1372325" cy="431311"/>
          </a:xfrm>
          <a:prstGeom prst="rect">
            <a:avLst/>
          </a:prstGeom>
          <a:noFill/>
          <a:ln w="9525">
            <a:noFill/>
            <a:miter lim="800000"/>
            <a:headEnd/>
            <a:tailEnd/>
          </a:ln>
        </p:spPr>
      </p:pic>
      <p:sp>
        <p:nvSpPr>
          <p:cNvPr id="9" name="Rectangle 8"/>
          <p:cNvSpPr/>
          <p:nvPr/>
        </p:nvSpPr>
        <p:spPr>
          <a:xfrm>
            <a:off x="3738775" y="34228"/>
            <a:ext cx="7801030" cy="481236"/>
          </a:xfrm>
          <a:prstGeom prst="rect">
            <a:avLst/>
          </a:prstGeom>
        </p:spPr>
        <p:txBody>
          <a:bodyPr wrap="square" lIns="110826" tIns="55411" rIns="110826" bIns="55411">
            <a:spAutoFit/>
          </a:bodyPr>
          <a:lstStyle/>
          <a:p>
            <a:pPr algn="r"/>
            <a:r>
              <a:rPr lang="fr-FR" sz="2400" b="1" dirty="0">
                <a:solidFill>
                  <a:srgbClr val="00B050"/>
                </a:solidFill>
                <a:latin typeface="Agency FB" pitchFamily="34" charset="0"/>
              </a:rPr>
              <a:t>PARCOURS </a:t>
            </a:r>
            <a:r>
              <a:rPr lang="fr-FR" sz="2400" b="1" dirty="0" smtClean="0">
                <a:solidFill>
                  <a:srgbClr val="00B050"/>
                </a:solidFill>
                <a:latin typeface="Agency FB" pitchFamily="34" charset="0"/>
              </a:rPr>
              <a:t>DIGITAL</a:t>
            </a:r>
            <a:endParaRPr lang="fr-FR" sz="2400" b="1" dirty="0">
              <a:solidFill>
                <a:srgbClr val="00B050"/>
              </a:solidFill>
              <a:latin typeface="Agency FB" pitchFamily="34" charset="0"/>
            </a:endParaRPr>
          </a:p>
        </p:txBody>
      </p:sp>
      <p:sp>
        <p:nvSpPr>
          <p:cNvPr id="73" name="Espace réservé du numéro de diapositive 72"/>
          <p:cNvSpPr>
            <a:spLocks noGrp="1"/>
          </p:cNvSpPr>
          <p:nvPr>
            <p:ph type="sldNum" sz="quarter" idx="12"/>
          </p:nvPr>
        </p:nvSpPr>
        <p:spPr>
          <a:xfrm>
            <a:off x="9071941" y="6520918"/>
            <a:ext cx="2467865" cy="364468"/>
          </a:xfrm>
        </p:spPr>
        <p:txBody>
          <a:bodyPr/>
          <a:lstStyle/>
          <a:p>
            <a:pPr>
              <a:defRPr/>
            </a:pPr>
            <a:fld id="{E11703BC-316E-4658-AE8F-B5827D54B665}" type="slidenum">
              <a:rPr lang="fr-FR" smtClean="0"/>
              <a:pPr>
                <a:defRPr/>
              </a:pPr>
              <a:t>4</a:t>
            </a:fld>
            <a:endParaRPr lang="fr-FR" dirty="0"/>
          </a:p>
        </p:txBody>
      </p:sp>
      <p:sp>
        <p:nvSpPr>
          <p:cNvPr id="56" name="Rectangle 55"/>
          <p:cNvSpPr/>
          <p:nvPr/>
        </p:nvSpPr>
        <p:spPr>
          <a:xfrm>
            <a:off x="652195" y="6567131"/>
            <a:ext cx="10843795" cy="231845"/>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70"/>
          </a:p>
        </p:txBody>
      </p:sp>
      <p:sp>
        <p:nvSpPr>
          <p:cNvPr id="57" name="Espace réservé du contenu 8"/>
          <p:cNvSpPr>
            <a:spLocks noGrp="1"/>
          </p:cNvSpPr>
          <p:nvPr>
            <p:ph sz="quarter" idx="11"/>
          </p:nvPr>
        </p:nvSpPr>
        <p:spPr bwMode="auto">
          <a:xfrm>
            <a:off x="565786" y="6572280"/>
            <a:ext cx="3328034" cy="226694"/>
          </a:xfrm>
          <a:noFill/>
          <a:ln>
            <a:miter lim="800000"/>
            <a:headEnd/>
            <a:tailEnd/>
          </a:ln>
        </p:spPr>
        <p:txBody>
          <a:bodyPr wrap="square" numCol="1" anchorCtr="0" compatLnSpc="1">
            <a:prstTxWarp prst="textNoShape">
              <a:avLst/>
            </a:prstTxWarp>
          </a:bodyPr>
          <a:lstStyle/>
          <a:p>
            <a:pPr defTabSz="910554" fontAlgn="base">
              <a:spcBef>
                <a:spcPct val="0"/>
              </a:spcBef>
              <a:spcAft>
                <a:spcPct val="0"/>
              </a:spcAft>
            </a:pPr>
            <a:r>
              <a:rPr lang="fr-FR" i="1" dirty="0">
                <a:solidFill>
                  <a:schemeClr val="bg1"/>
                </a:solidFill>
                <a:latin typeface="Arial" charset="0"/>
                <a:cs typeface="Arial" charset="0"/>
              </a:rPr>
              <a:t>À usage strictement interne ou confidentiel</a:t>
            </a:r>
          </a:p>
        </p:txBody>
      </p:sp>
      <p:sp>
        <p:nvSpPr>
          <p:cNvPr id="3" name="Virage 2"/>
          <p:cNvSpPr/>
          <p:nvPr/>
        </p:nvSpPr>
        <p:spPr>
          <a:xfrm rot="10800000" flipV="1">
            <a:off x="2251766" y="1306900"/>
            <a:ext cx="8942400" cy="182204"/>
          </a:xfrm>
          <a:prstGeom prst="bentArrow">
            <a:avLst>
              <a:gd name="adj1" fmla="val 41310"/>
              <a:gd name="adj2" fmla="val 25000"/>
              <a:gd name="adj3" fmla="val 25000"/>
              <a:gd name="adj4" fmla="val 9565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4" name="Rectangle 3"/>
          <p:cNvSpPr/>
          <p:nvPr/>
        </p:nvSpPr>
        <p:spPr>
          <a:xfrm>
            <a:off x="11116404" y="1484378"/>
            <a:ext cx="77760" cy="1271338"/>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5" name="Arc plein 4"/>
          <p:cNvSpPr/>
          <p:nvPr/>
        </p:nvSpPr>
        <p:spPr>
          <a:xfrm rot="16200000">
            <a:off x="450472" y="3573255"/>
            <a:ext cx="1900800" cy="382459"/>
          </a:xfrm>
          <a:prstGeom prst="blockArc">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6" name="Virage 15"/>
          <p:cNvSpPr/>
          <p:nvPr/>
        </p:nvSpPr>
        <p:spPr>
          <a:xfrm rot="10800000" flipV="1">
            <a:off x="1387762" y="4626007"/>
            <a:ext cx="9806400" cy="181440"/>
          </a:xfrm>
          <a:prstGeom prst="bentArrow">
            <a:avLst>
              <a:gd name="adj1" fmla="val 41310"/>
              <a:gd name="adj2" fmla="val 25000"/>
              <a:gd name="adj3" fmla="val 25000"/>
              <a:gd name="adj4" fmla="val 95655"/>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8" name="Virage 17"/>
          <p:cNvSpPr/>
          <p:nvPr/>
        </p:nvSpPr>
        <p:spPr>
          <a:xfrm rot="10800000">
            <a:off x="7651763" y="5915042"/>
            <a:ext cx="3542400" cy="197856"/>
          </a:xfrm>
          <a:prstGeom prst="bentArrow">
            <a:avLst>
              <a:gd name="adj1" fmla="val 41310"/>
              <a:gd name="adj2" fmla="val 25000"/>
              <a:gd name="adj3" fmla="val 25000"/>
              <a:gd name="adj4" fmla="val 95655"/>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9" name="Rectangle 18"/>
          <p:cNvSpPr/>
          <p:nvPr/>
        </p:nvSpPr>
        <p:spPr>
          <a:xfrm>
            <a:off x="11116405" y="4791842"/>
            <a:ext cx="77759" cy="1123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8" name="ZoneTexte 7"/>
          <p:cNvSpPr txBox="1"/>
          <p:nvPr/>
        </p:nvSpPr>
        <p:spPr>
          <a:xfrm>
            <a:off x="3952860" y="1516607"/>
            <a:ext cx="6321746" cy="350865"/>
          </a:xfrm>
          <a:prstGeom prst="rect">
            <a:avLst/>
          </a:prstGeom>
          <a:noFill/>
        </p:spPr>
        <p:txBody>
          <a:bodyPr wrap="square" rtlCol="0">
            <a:spAutoFit/>
          </a:bodyPr>
          <a:lstStyle/>
          <a:p>
            <a:r>
              <a:rPr lang="fr-FR" sz="1680" b="1" dirty="0">
                <a:solidFill>
                  <a:schemeClr val="tx2">
                    <a:lumMod val="75000"/>
                  </a:schemeClr>
                </a:solidFill>
                <a:latin typeface="Agency FB" pitchFamily="34" charset="0"/>
              </a:rPr>
              <a:t>Survenance de l’accident	</a:t>
            </a:r>
            <a:r>
              <a:rPr lang="fr-FR" sz="1680" b="1" dirty="0" smtClean="0">
                <a:solidFill>
                  <a:schemeClr val="tx2">
                    <a:lumMod val="75000"/>
                  </a:schemeClr>
                </a:solidFill>
                <a:latin typeface="Agency FB" pitchFamily="34" charset="0"/>
              </a:rPr>
              <a:t>                                                   </a:t>
            </a:r>
            <a:r>
              <a:rPr lang="fr-FR" sz="1680" b="1" dirty="0">
                <a:solidFill>
                  <a:schemeClr val="tx2">
                    <a:lumMod val="75000"/>
                  </a:schemeClr>
                </a:solidFill>
                <a:latin typeface="Agency FB" pitchFamily="34" charset="0"/>
              </a:rPr>
              <a:t>	</a:t>
            </a:r>
          </a:p>
        </p:txBody>
      </p:sp>
      <p:sp>
        <p:nvSpPr>
          <p:cNvPr id="32" name="ZoneTexte 31"/>
          <p:cNvSpPr txBox="1"/>
          <p:nvPr/>
        </p:nvSpPr>
        <p:spPr>
          <a:xfrm>
            <a:off x="1634339" y="3056116"/>
            <a:ext cx="3061325" cy="295466"/>
          </a:xfrm>
          <a:prstGeom prst="rect">
            <a:avLst/>
          </a:prstGeom>
          <a:noFill/>
        </p:spPr>
        <p:txBody>
          <a:bodyPr wrap="square" rtlCol="0">
            <a:spAutoFit/>
          </a:bodyPr>
          <a:lstStyle/>
          <a:p>
            <a:pPr algn="ctr"/>
            <a:r>
              <a:rPr lang="fr-FR" sz="1320" b="1" dirty="0" smtClean="0">
                <a:solidFill>
                  <a:srgbClr val="00B050"/>
                </a:solidFill>
                <a:latin typeface="Agency FB" pitchFamily="34" charset="0"/>
              </a:rPr>
              <a:t>PROPOSITION FORFAITAIRE AU BOUT DE 2 H</a:t>
            </a:r>
            <a:endParaRPr lang="fr-FR" sz="1320" b="1" dirty="0">
              <a:solidFill>
                <a:srgbClr val="00B050"/>
              </a:solidFill>
              <a:latin typeface="Agency FB" pitchFamily="34" charset="0"/>
            </a:endParaRPr>
          </a:p>
        </p:txBody>
      </p:sp>
      <p:sp>
        <p:nvSpPr>
          <p:cNvPr id="34" name="ZoneTexte 33"/>
          <p:cNvSpPr txBox="1"/>
          <p:nvPr/>
        </p:nvSpPr>
        <p:spPr>
          <a:xfrm>
            <a:off x="471971" y="5041651"/>
            <a:ext cx="2834032" cy="276999"/>
          </a:xfrm>
          <a:prstGeom prst="rect">
            <a:avLst/>
          </a:prstGeom>
          <a:noFill/>
        </p:spPr>
        <p:txBody>
          <a:bodyPr wrap="square" rtlCol="0">
            <a:spAutoFit/>
          </a:bodyPr>
          <a:lstStyle/>
          <a:p>
            <a:pPr algn="ctr"/>
            <a:r>
              <a:rPr lang="fr-FR" sz="1200" b="1" dirty="0">
                <a:latin typeface="Agency FB" pitchFamily="34" charset="0"/>
              </a:rPr>
              <a:t>Signature digitale de l’engagement Forfait </a:t>
            </a:r>
          </a:p>
        </p:txBody>
      </p:sp>
      <p:sp>
        <p:nvSpPr>
          <p:cNvPr id="35" name="ZoneTexte 34"/>
          <p:cNvSpPr txBox="1"/>
          <p:nvPr/>
        </p:nvSpPr>
        <p:spPr>
          <a:xfrm>
            <a:off x="7307901" y="4774179"/>
            <a:ext cx="3931636" cy="350865"/>
          </a:xfrm>
          <a:prstGeom prst="rect">
            <a:avLst/>
          </a:prstGeom>
          <a:noFill/>
        </p:spPr>
        <p:txBody>
          <a:bodyPr wrap="square" rtlCol="0">
            <a:spAutoFit/>
          </a:bodyPr>
          <a:lstStyle/>
          <a:p>
            <a:pPr algn="ctr"/>
            <a:r>
              <a:rPr lang="fr-FR" sz="1680" b="1" dirty="0">
                <a:solidFill>
                  <a:schemeClr val="accent4">
                    <a:lumMod val="75000"/>
                  </a:schemeClr>
                </a:solidFill>
                <a:latin typeface="Agency FB" pitchFamily="34" charset="0"/>
              </a:rPr>
              <a:t>Remboursement forfaitaire</a:t>
            </a:r>
          </a:p>
        </p:txBody>
      </p:sp>
      <p:sp>
        <p:nvSpPr>
          <p:cNvPr id="36" name="ZoneTexte 35"/>
          <p:cNvSpPr txBox="1"/>
          <p:nvPr/>
        </p:nvSpPr>
        <p:spPr>
          <a:xfrm>
            <a:off x="7639060" y="6198649"/>
            <a:ext cx="3661746" cy="295466"/>
          </a:xfrm>
          <a:prstGeom prst="rect">
            <a:avLst/>
          </a:prstGeom>
          <a:noFill/>
        </p:spPr>
        <p:txBody>
          <a:bodyPr wrap="square" rtlCol="0">
            <a:spAutoFit/>
          </a:bodyPr>
          <a:lstStyle/>
          <a:p>
            <a:pPr algn="ctr"/>
            <a:r>
              <a:rPr lang="fr-FR" sz="1320" b="1" dirty="0">
                <a:solidFill>
                  <a:schemeClr val="accent4">
                    <a:lumMod val="75000"/>
                  </a:schemeClr>
                </a:solidFill>
                <a:latin typeface="Agency FB" pitchFamily="34" charset="0"/>
              </a:rPr>
              <a:t>Evaluation de la qualité de service à travers la First Line</a:t>
            </a:r>
          </a:p>
        </p:txBody>
      </p:sp>
      <p:sp>
        <p:nvSpPr>
          <p:cNvPr id="43" name="Ellipse 42"/>
          <p:cNvSpPr/>
          <p:nvPr/>
        </p:nvSpPr>
        <p:spPr>
          <a:xfrm>
            <a:off x="4724391" y="1173705"/>
            <a:ext cx="342902" cy="327439"/>
          </a:xfrm>
          <a:prstGeom prst="ellipse">
            <a:avLst/>
          </a:prstGeom>
          <a:solidFill>
            <a:schemeClr val="bg1"/>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sp>
        <p:nvSpPr>
          <p:cNvPr id="51" name="Chevron 50"/>
          <p:cNvSpPr/>
          <p:nvPr/>
        </p:nvSpPr>
        <p:spPr>
          <a:xfrm rot="10800000">
            <a:off x="7553336" y="5829317"/>
            <a:ext cx="257177" cy="428628"/>
          </a:xfrm>
          <a:prstGeom prst="chevron">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60" name="Chevron 59"/>
          <p:cNvSpPr/>
          <p:nvPr/>
        </p:nvSpPr>
        <p:spPr>
          <a:xfrm>
            <a:off x="10296555" y="1224347"/>
            <a:ext cx="171451" cy="257177"/>
          </a:xfrm>
          <a:prstGeom prst="chevr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grpSp>
        <p:nvGrpSpPr>
          <p:cNvPr id="2" name="Groupe 99"/>
          <p:cNvGrpSpPr/>
          <p:nvPr/>
        </p:nvGrpSpPr>
        <p:grpSpPr>
          <a:xfrm>
            <a:off x="6781805" y="745077"/>
            <a:ext cx="1200120" cy="1200158"/>
            <a:chOff x="5143504" y="428608"/>
            <a:chExt cx="1000100" cy="1000132"/>
          </a:xfrm>
        </p:grpSpPr>
        <p:sp>
          <p:nvSpPr>
            <p:cNvPr id="52" name="Organigramme : Connecteur 51"/>
            <p:cNvSpPr/>
            <p:nvPr/>
          </p:nvSpPr>
          <p:spPr>
            <a:xfrm>
              <a:off x="5143504" y="428608"/>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1029" name="Picture 5"/>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5357818" y="571484"/>
              <a:ext cx="642942" cy="655931"/>
            </a:xfrm>
            <a:prstGeom prst="rect">
              <a:avLst/>
            </a:prstGeom>
            <a:noFill/>
            <a:ln w="9525">
              <a:noFill/>
              <a:miter lim="800000"/>
              <a:headEnd/>
              <a:tailEnd/>
            </a:ln>
            <a:effectLst/>
          </p:spPr>
        </p:pic>
      </p:grpSp>
      <p:sp>
        <p:nvSpPr>
          <p:cNvPr id="61" name="Rectangle 60"/>
          <p:cNvSpPr/>
          <p:nvPr/>
        </p:nvSpPr>
        <p:spPr>
          <a:xfrm>
            <a:off x="3401443" y="627932"/>
            <a:ext cx="2743219" cy="428628"/>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smtClean="0">
                <a:solidFill>
                  <a:schemeClr val="accent2">
                    <a:lumMod val="75000"/>
                  </a:schemeClr>
                </a:solidFill>
                <a:latin typeface="Agency FB" pitchFamily="34" charset="0"/>
              </a:rPr>
              <a:t>Le client  </a:t>
            </a:r>
            <a:r>
              <a:rPr lang="fr-FR" sz="1260" b="1" dirty="0">
                <a:solidFill>
                  <a:schemeClr val="accent2">
                    <a:lumMod val="75000"/>
                  </a:schemeClr>
                </a:solidFill>
                <a:latin typeface="Agency FB" pitchFamily="34" charset="0"/>
              </a:rPr>
              <a:t>a eu un </a:t>
            </a:r>
            <a:r>
              <a:rPr lang="fr-FR" sz="1260" b="1" dirty="0" smtClean="0">
                <a:solidFill>
                  <a:schemeClr val="accent2">
                    <a:lumMod val="75000"/>
                  </a:schemeClr>
                </a:solidFill>
                <a:latin typeface="Agency FB" pitchFamily="34" charset="0"/>
              </a:rPr>
              <a:t>accident</a:t>
            </a:r>
            <a:r>
              <a:rPr lang="fr-FR" sz="1260" b="1" dirty="0">
                <a:solidFill>
                  <a:schemeClr val="accent2">
                    <a:lumMod val="75000"/>
                  </a:schemeClr>
                </a:solidFill>
                <a:latin typeface="Agency FB" pitchFamily="34" charset="0"/>
              </a:rPr>
              <a:t> </a:t>
            </a:r>
            <a:r>
              <a:rPr lang="fr-FR" sz="1260" b="1" dirty="0" smtClean="0">
                <a:solidFill>
                  <a:schemeClr val="accent2">
                    <a:lumMod val="75000"/>
                  </a:schemeClr>
                </a:solidFill>
                <a:latin typeface="Agency FB" pitchFamily="34" charset="0"/>
              </a:rPr>
              <a:t>dans le cadre de la </a:t>
            </a:r>
            <a:r>
              <a:rPr lang="fr-FR" b="1" dirty="0" smtClean="0">
                <a:solidFill>
                  <a:schemeClr val="accent2">
                    <a:lumMod val="75000"/>
                  </a:schemeClr>
                </a:solidFill>
                <a:latin typeface="Agency FB" pitchFamily="34" charset="0"/>
              </a:rPr>
              <a:t>garantie Dommage</a:t>
            </a:r>
            <a:endParaRPr lang="fr-FR" b="1" dirty="0">
              <a:solidFill>
                <a:schemeClr val="accent2">
                  <a:lumMod val="75000"/>
                </a:schemeClr>
              </a:solidFill>
              <a:latin typeface="Agency FB" pitchFamily="34" charset="0"/>
            </a:endParaRPr>
          </a:p>
        </p:txBody>
      </p:sp>
      <p:grpSp>
        <p:nvGrpSpPr>
          <p:cNvPr id="7" name="Groupe 100"/>
          <p:cNvGrpSpPr/>
          <p:nvPr/>
        </p:nvGrpSpPr>
        <p:grpSpPr>
          <a:xfrm>
            <a:off x="10382280" y="1430881"/>
            <a:ext cx="1200120" cy="1200158"/>
            <a:chOff x="8143900" y="1071550"/>
            <a:chExt cx="1000100" cy="1000132"/>
          </a:xfrm>
        </p:grpSpPr>
        <p:sp>
          <p:nvSpPr>
            <p:cNvPr id="53" name="Organigramme : Connecteur 52"/>
            <p:cNvSpPr/>
            <p:nvPr/>
          </p:nvSpPr>
          <p:spPr>
            <a:xfrm>
              <a:off x="8143900" y="1071550"/>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72" name="Picture 4" descr="C:\Users\f.tabouti\Desktop\Icones\sm.png"/>
            <p:cNvPicPr>
              <a:picLocks noChangeAspect="1" noChangeArrowheads="1"/>
            </p:cNvPicPr>
            <p:nvPr/>
          </p:nvPicPr>
          <p:blipFill>
            <a:blip r:embed="rId6" cstate="print"/>
            <a:srcRect/>
            <a:stretch>
              <a:fillRect/>
            </a:stretch>
          </p:blipFill>
          <p:spPr bwMode="auto">
            <a:xfrm>
              <a:off x="8215338" y="1357302"/>
              <a:ext cx="500066" cy="500066"/>
            </a:xfrm>
            <a:prstGeom prst="rect">
              <a:avLst/>
            </a:prstGeom>
            <a:noFill/>
          </p:spPr>
        </p:pic>
        <p:pic>
          <p:nvPicPr>
            <p:cNvPr id="74" name="Image 73" descr="tel.png"/>
            <p:cNvPicPr>
              <a:picLocks noChangeAspect="1"/>
            </p:cNvPicPr>
            <p:nvPr/>
          </p:nvPicPr>
          <p:blipFill>
            <a:blip r:embed="rId7" cstate="print"/>
            <a:stretch>
              <a:fillRect/>
            </a:stretch>
          </p:blipFill>
          <p:spPr>
            <a:xfrm>
              <a:off x="8715404" y="1428740"/>
              <a:ext cx="357190" cy="357190"/>
            </a:xfrm>
            <a:prstGeom prst="rect">
              <a:avLst/>
            </a:prstGeom>
          </p:spPr>
        </p:pic>
      </p:grpSp>
      <p:pic>
        <p:nvPicPr>
          <p:cNvPr id="76" name="Image 75" descr="photo.png"/>
          <p:cNvPicPr>
            <a:picLocks noChangeAspect="1"/>
          </p:cNvPicPr>
          <p:nvPr/>
        </p:nvPicPr>
        <p:blipFill>
          <a:blip r:embed="rId8" cstate="print"/>
          <a:stretch>
            <a:fillRect/>
          </a:stretch>
        </p:blipFill>
        <p:spPr>
          <a:xfrm>
            <a:off x="6978506" y="2467301"/>
            <a:ext cx="171451" cy="171451"/>
          </a:xfrm>
          <a:prstGeom prst="rect">
            <a:avLst/>
          </a:prstGeom>
        </p:spPr>
      </p:pic>
      <p:grpSp>
        <p:nvGrpSpPr>
          <p:cNvPr id="10" name="Groupe 98"/>
          <p:cNvGrpSpPr/>
          <p:nvPr/>
        </p:nvGrpSpPr>
        <p:grpSpPr>
          <a:xfrm>
            <a:off x="2152622" y="745077"/>
            <a:ext cx="1285884" cy="1200158"/>
            <a:chOff x="1071538" y="428608"/>
            <a:chExt cx="1071570" cy="1000132"/>
          </a:xfrm>
        </p:grpSpPr>
        <p:sp>
          <p:nvSpPr>
            <p:cNvPr id="6" name="Organigramme : Connecteur 5"/>
            <p:cNvSpPr/>
            <p:nvPr/>
          </p:nvSpPr>
          <p:spPr>
            <a:xfrm>
              <a:off x="1143008" y="428608"/>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2051" name="Picture 3"/>
            <p:cNvPicPr>
              <a:picLocks noChangeAspect="1" noChangeArrowheads="1"/>
            </p:cNvPicPr>
            <p:nvPr/>
          </p:nvPicPr>
          <p:blipFill>
            <a:blip r:embed="rId9">
              <a:clrChange>
                <a:clrFrom>
                  <a:srgbClr val="FFFFFF"/>
                </a:clrFrom>
                <a:clrTo>
                  <a:srgbClr val="FFFFFF">
                    <a:alpha val="0"/>
                  </a:srgbClr>
                </a:clrTo>
              </a:clrChange>
            </a:blip>
            <a:srcRect/>
            <a:stretch>
              <a:fillRect/>
            </a:stretch>
          </p:blipFill>
          <p:spPr bwMode="auto">
            <a:xfrm>
              <a:off x="1071538" y="571484"/>
              <a:ext cx="1049990" cy="618399"/>
            </a:xfrm>
            <a:prstGeom prst="rect">
              <a:avLst/>
            </a:prstGeom>
            <a:noFill/>
            <a:ln w="9525">
              <a:noFill/>
              <a:miter lim="800000"/>
              <a:headEnd/>
              <a:tailEnd/>
            </a:ln>
            <a:effectLst/>
          </p:spPr>
        </p:pic>
      </p:grpSp>
      <p:sp>
        <p:nvSpPr>
          <p:cNvPr id="79" name="Organigramme : Connecteur 78"/>
          <p:cNvSpPr/>
          <p:nvPr/>
        </p:nvSpPr>
        <p:spPr>
          <a:xfrm>
            <a:off x="609600" y="2914647"/>
            <a:ext cx="1200120" cy="1200158"/>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sp>
        <p:nvSpPr>
          <p:cNvPr id="85" name="ZoneTexte 84"/>
          <p:cNvSpPr txBox="1"/>
          <p:nvPr/>
        </p:nvSpPr>
        <p:spPr>
          <a:xfrm>
            <a:off x="8565484" y="3097496"/>
            <a:ext cx="1709122" cy="350865"/>
          </a:xfrm>
          <a:prstGeom prst="rect">
            <a:avLst/>
          </a:prstGeom>
          <a:noFill/>
        </p:spPr>
        <p:txBody>
          <a:bodyPr wrap="none" rtlCol="0">
            <a:spAutoFit/>
          </a:bodyPr>
          <a:lstStyle/>
          <a:p>
            <a:r>
              <a:rPr lang="fr-FR" sz="1680" b="1" dirty="0">
                <a:solidFill>
                  <a:schemeClr val="accent6">
                    <a:lumMod val="75000"/>
                  </a:schemeClr>
                </a:solidFill>
                <a:latin typeface="Agency FB" pitchFamily="34" charset="0"/>
              </a:rPr>
              <a:t>Déclaration </a:t>
            </a:r>
            <a:r>
              <a:rPr lang="fr-FR" sz="1680" b="1" dirty="0" smtClean="0">
                <a:solidFill>
                  <a:schemeClr val="accent6">
                    <a:lumMod val="75000"/>
                  </a:schemeClr>
                </a:solidFill>
                <a:latin typeface="Agency FB" pitchFamily="34" charset="0"/>
              </a:rPr>
              <a:t>DIGITALE</a:t>
            </a:r>
            <a:endParaRPr lang="fr-FR" sz="1680" b="1" dirty="0">
              <a:solidFill>
                <a:schemeClr val="accent6">
                  <a:lumMod val="75000"/>
                </a:schemeClr>
              </a:solidFill>
              <a:latin typeface="Agency FB" pitchFamily="34" charset="0"/>
            </a:endParaRPr>
          </a:p>
        </p:txBody>
      </p:sp>
      <p:sp>
        <p:nvSpPr>
          <p:cNvPr id="86" name="Ellipse 85"/>
          <p:cNvSpPr/>
          <p:nvPr/>
        </p:nvSpPr>
        <p:spPr>
          <a:xfrm>
            <a:off x="9267847" y="1173705"/>
            <a:ext cx="342902" cy="327439"/>
          </a:xfrm>
          <a:prstGeom prst="ellipse">
            <a:avLst/>
          </a:prstGeom>
          <a:solidFill>
            <a:schemeClr val="bg1"/>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sp>
        <p:nvSpPr>
          <p:cNvPr id="87" name="Rectangle 86"/>
          <p:cNvSpPr/>
          <p:nvPr/>
        </p:nvSpPr>
        <p:spPr>
          <a:xfrm>
            <a:off x="7755420" y="934397"/>
            <a:ext cx="3429024" cy="428628"/>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smtClean="0">
                <a:solidFill>
                  <a:schemeClr val="tx1"/>
                </a:solidFill>
                <a:latin typeface="Agency FB" pitchFamily="34" charset="0"/>
              </a:rPr>
              <a:t>Il déclare son sinistre via l’application MY WAFA </a:t>
            </a:r>
          </a:p>
          <a:p>
            <a:pPr algn="ctr"/>
            <a:endParaRPr lang="fr-FR" sz="1260" b="1" dirty="0">
              <a:solidFill>
                <a:schemeClr val="tx1"/>
              </a:solidFill>
              <a:latin typeface="Agency FB" pitchFamily="34" charset="0"/>
            </a:endParaRPr>
          </a:p>
        </p:txBody>
      </p:sp>
      <p:sp>
        <p:nvSpPr>
          <p:cNvPr id="88" name="Ellipse 87"/>
          <p:cNvSpPr/>
          <p:nvPr/>
        </p:nvSpPr>
        <p:spPr>
          <a:xfrm>
            <a:off x="9525024" y="2693147"/>
            <a:ext cx="342902" cy="327439"/>
          </a:xfrm>
          <a:prstGeom prst="ellipse">
            <a:avLst/>
          </a:prstGeom>
          <a:solidFill>
            <a:schemeClr val="bg1"/>
          </a:solid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sp>
        <p:nvSpPr>
          <p:cNvPr id="89" name="Rectangle 88"/>
          <p:cNvSpPr/>
          <p:nvPr/>
        </p:nvSpPr>
        <p:spPr>
          <a:xfrm>
            <a:off x="7823214" y="1972358"/>
            <a:ext cx="2445537" cy="600079"/>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smtClean="0">
                <a:solidFill>
                  <a:schemeClr val="accent2">
                    <a:lumMod val="60000"/>
                    <a:lumOff val="40000"/>
                  </a:schemeClr>
                </a:solidFill>
                <a:latin typeface="Agency FB" pitchFamily="34" charset="0"/>
              </a:rPr>
              <a:t>S’agissant de dégâts légers, le dossier est soumis au parcours Rapide</a:t>
            </a:r>
            <a:endParaRPr lang="fr-FR" sz="1260" b="1" dirty="0">
              <a:solidFill>
                <a:schemeClr val="accent2">
                  <a:lumMod val="60000"/>
                  <a:lumOff val="40000"/>
                </a:schemeClr>
              </a:solidFill>
              <a:latin typeface="Agency FB" pitchFamily="34" charset="0"/>
            </a:endParaRPr>
          </a:p>
        </p:txBody>
      </p:sp>
      <p:sp>
        <p:nvSpPr>
          <p:cNvPr id="94" name="Rectangle 93"/>
          <p:cNvSpPr/>
          <p:nvPr/>
        </p:nvSpPr>
        <p:spPr>
          <a:xfrm>
            <a:off x="8641273" y="4203949"/>
            <a:ext cx="3698447" cy="600079"/>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smtClean="0">
                <a:solidFill>
                  <a:srgbClr val="00B050"/>
                </a:solidFill>
                <a:latin typeface="Agency FB" pitchFamily="34" charset="0"/>
              </a:rPr>
              <a:t>Le client récupère </a:t>
            </a:r>
            <a:r>
              <a:rPr lang="fr-FR" sz="1260" b="1" dirty="0">
                <a:solidFill>
                  <a:srgbClr val="00B050"/>
                </a:solidFill>
                <a:latin typeface="Agency FB" pitchFamily="34" charset="0"/>
              </a:rPr>
              <a:t>son indemnisation</a:t>
            </a:r>
          </a:p>
        </p:txBody>
      </p:sp>
      <p:sp>
        <p:nvSpPr>
          <p:cNvPr id="95" name="Ellipse 94"/>
          <p:cNvSpPr/>
          <p:nvPr/>
        </p:nvSpPr>
        <p:spPr>
          <a:xfrm>
            <a:off x="7296159" y="2693147"/>
            <a:ext cx="342902" cy="327439"/>
          </a:xfrm>
          <a:prstGeom prst="ellipse">
            <a:avLst/>
          </a:prstGeom>
          <a:solidFill>
            <a:schemeClr val="bg1"/>
          </a:solid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pic>
        <p:nvPicPr>
          <p:cNvPr id="97" name="Image 96" descr="po.png"/>
          <p:cNvPicPr>
            <a:picLocks noChangeAspect="1"/>
          </p:cNvPicPr>
          <p:nvPr/>
        </p:nvPicPr>
        <p:blipFill>
          <a:blip r:embed="rId10" cstate="print"/>
          <a:stretch>
            <a:fillRect/>
          </a:stretch>
        </p:blipFill>
        <p:spPr>
          <a:xfrm>
            <a:off x="7204345" y="2451547"/>
            <a:ext cx="157334" cy="159127"/>
          </a:xfrm>
          <a:prstGeom prst="rect">
            <a:avLst/>
          </a:prstGeom>
        </p:spPr>
      </p:pic>
      <p:pic>
        <p:nvPicPr>
          <p:cNvPr id="112" name="Image 111" descr="money-icon.png"/>
          <p:cNvPicPr>
            <a:picLocks noChangeAspect="1"/>
          </p:cNvPicPr>
          <p:nvPr/>
        </p:nvPicPr>
        <p:blipFill>
          <a:blip r:embed="rId11" cstate="print">
            <a:duotone>
              <a:prstClr val="black"/>
              <a:schemeClr val="accent6">
                <a:tint val="45000"/>
                <a:satMod val="400000"/>
              </a:schemeClr>
            </a:duotone>
          </a:blip>
          <a:stretch>
            <a:fillRect/>
          </a:stretch>
        </p:blipFill>
        <p:spPr>
          <a:xfrm rot="10800000">
            <a:off x="11478356" y="4612929"/>
            <a:ext cx="197244" cy="203711"/>
          </a:xfrm>
          <a:prstGeom prst="rect">
            <a:avLst/>
          </a:prstGeom>
        </p:spPr>
      </p:pic>
      <p:sp>
        <p:nvSpPr>
          <p:cNvPr id="90" name="Ellipse 89"/>
          <p:cNvSpPr/>
          <p:nvPr/>
        </p:nvSpPr>
        <p:spPr>
          <a:xfrm>
            <a:off x="2752702" y="2693147"/>
            <a:ext cx="342902" cy="327439"/>
          </a:xfrm>
          <a:prstGeom prst="ellipse">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sp>
        <p:nvSpPr>
          <p:cNvPr id="122" name="Ellipse 121"/>
          <p:cNvSpPr/>
          <p:nvPr/>
        </p:nvSpPr>
        <p:spPr>
          <a:xfrm>
            <a:off x="9096396" y="5915043"/>
            <a:ext cx="342902" cy="327439"/>
          </a:xfrm>
          <a:prstGeom prst="ellipse">
            <a:avLst/>
          </a:prstGeom>
          <a:solidFill>
            <a:schemeClr val="bg1"/>
          </a:solidFill>
          <a:ln w="285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sp>
        <p:nvSpPr>
          <p:cNvPr id="119" name="Organigramme : Connecteur 118"/>
          <p:cNvSpPr/>
          <p:nvPr/>
        </p:nvSpPr>
        <p:spPr>
          <a:xfrm>
            <a:off x="4810116" y="2202412"/>
            <a:ext cx="1200120" cy="1200158"/>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sp>
        <p:nvSpPr>
          <p:cNvPr id="127" name="Rectangle 126"/>
          <p:cNvSpPr/>
          <p:nvPr/>
        </p:nvSpPr>
        <p:spPr>
          <a:xfrm>
            <a:off x="1381805" y="4629157"/>
            <a:ext cx="5400000" cy="7344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grpSp>
        <p:nvGrpSpPr>
          <p:cNvPr id="83" name="Groupe 82"/>
          <p:cNvGrpSpPr/>
          <p:nvPr/>
        </p:nvGrpSpPr>
        <p:grpSpPr>
          <a:xfrm>
            <a:off x="6313204" y="5341393"/>
            <a:ext cx="1240132" cy="1200158"/>
            <a:chOff x="1643042" y="4143384"/>
            <a:chExt cx="1033443" cy="1000132"/>
          </a:xfrm>
        </p:grpSpPr>
        <p:grpSp>
          <p:nvGrpSpPr>
            <p:cNvPr id="17" name="Groupe 103"/>
            <p:cNvGrpSpPr/>
            <p:nvPr/>
          </p:nvGrpSpPr>
          <p:grpSpPr>
            <a:xfrm>
              <a:off x="1643042" y="4143384"/>
              <a:ext cx="1033443" cy="1000132"/>
              <a:chOff x="4395781" y="4214822"/>
              <a:chExt cx="1033443" cy="1000132"/>
            </a:xfrm>
          </p:grpSpPr>
          <p:sp>
            <p:nvSpPr>
              <p:cNvPr id="80" name="Organigramme : Connecteur 79"/>
              <p:cNvSpPr/>
              <p:nvPr/>
            </p:nvSpPr>
            <p:spPr>
              <a:xfrm>
                <a:off x="4429124" y="4214822"/>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2055" name="Picture 7"/>
              <p:cNvPicPr>
                <a:picLocks noChangeAspect="1" noChangeArrowheads="1"/>
              </p:cNvPicPr>
              <p:nvPr/>
            </p:nvPicPr>
            <p:blipFill>
              <a:blip r:embed="rId12">
                <a:clrChange>
                  <a:clrFrom>
                    <a:srgbClr val="FFFFFF"/>
                  </a:clrFrom>
                  <a:clrTo>
                    <a:srgbClr val="FFFFFF">
                      <a:alpha val="0"/>
                    </a:srgbClr>
                  </a:clrTo>
                </a:clrChange>
              </a:blip>
              <a:srcRect/>
              <a:stretch>
                <a:fillRect/>
              </a:stretch>
            </p:blipFill>
            <p:spPr bwMode="auto">
              <a:xfrm>
                <a:off x="4395781" y="4214822"/>
                <a:ext cx="982658" cy="603278"/>
              </a:xfrm>
              <a:prstGeom prst="rect">
                <a:avLst/>
              </a:prstGeom>
              <a:noFill/>
              <a:ln w="9525">
                <a:noFill/>
                <a:miter lim="800000"/>
                <a:headEnd/>
                <a:tailEnd/>
              </a:ln>
              <a:effectLst/>
            </p:spPr>
          </p:pic>
        </p:grpSp>
        <p:pic>
          <p:nvPicPr>
            <p:cNvPr id="2057" name="Picture 9"/>
            <p:cNvPicPr>
              <a:picLocks noChangeAspect="1" noChangeArrowheads="1"/>
            </p:cNvPicPr>
            <p:nvPr/>
          </p:nvPicPr>
          <p:blipFill>
            <a:blip r:embed="rId13" cstate="print">
              <a:clrChange>
                <a:clrFrom>
                  <a:srgbClr val="F8F8F8"/>
                </a:clrFrom>
                <a:clrTo>
                  <a:srgbClr val="F8F8F8">
                    <a:alpha val="0"/>
                  </a:srgbClr>
                </a:clrTo>
              </a:clrChange>
            </a:blip>
            <a:srcRect/>
            <a:stretch>
              <a:fillRect/>
            </a:stretch>
          </p:blipFill>
          <p:spPr bwMode="auto">
            <a:xfrm>
              <a:off x="1857356" y="4643450"/>
              <a:ext cx="631835" cy="481831"/>
            </a:xfrm>
            <a:prstGeom prst="rect">
              <a:avLst/>
            </a:prstGeom>
            <a:noFill/>
            <a:ln w="9525">
              <a:noFill/>
              <a:miter lim="800000"/>
              <a:headEnd/>
              <a:tailEnd/>
            </a:ln>
            <a:effectLst/>
          </p:spPr>
        </p:pic>
      </p:grpSp>
      <p:sp>
        <p:nvSpPr>
          <p:cNvPr id="129" name="Chevron 128"/>
          <p:cNvSpPr/>
          <p:nvPr/>
        </p:nvSpPr>
        <p:spPr>
          <a:xfrm flipH="1">
            <a:off x="6181726" y="2716765"/>
            <a:ext cx="171451" cy="257177"/>
          </a:xfrm>
          <a:prstGeom prst="chevron">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30" name="Chevron 129"/>
          <p:cNvSpPr/>
          <p:nvPr/>
        </p:nvSpPr>
        <p:spPr>
          <a:xfrm>
            <a:off x="5324470" y="4543432"/>
            <a:ext cx="171451" cy="257177"/>
          </a:xfrm>
          <a:prstGeom prst="chevr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31" name="Ellipse 130"/>
          <p:cNvSpPr/>
          <p:nvPr/>
        </p:nvSpPr>
        <p:spPr>
          <a:xfrm>
            <a:off x="9096396" y="4473169"/>
            <a:ext cx="342902" cy="327439"/>
          </a:xfrm>
          <a:prstGeom prst="ellipse">
            <a:avLst/>
          </a:prstGeom>
          <a:solidFill>
            <a:schemeClr val="bg1"/>
          </a:solidFill>
          <a:ln w="285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sp>
        <p:nvSpPr>
          <p:cNvPr id="132" name="Rectangle 131"/>
          <p:cNvSpPr/>
          <p:nvPr/>
        </p:nvSpPr>
        <p:spPr>
          <a:xfrm>
            <a:off x="8437965" y="5478683"/>
            <a:ext cx="2724557" cy="600079"/>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smtClean="0">
                <a:solidFill>
                  <a:schemeClr val="tx1"/>
                </a:solidFill>
                <a:latin typeface="Agency FB" pitchFamily="34" charset="0"/>
              </a:rPr>
              <a:t>Le client reçoit </a:t>
            </a:r>
            <a:r>
              <a:rPr lang="fr-FR" sz="1260" b="1" dirty="0">
                <a:solidFill>
                  <a:schemeClr val="tx1"/>
                </a:solidFill>
                <a:latin typeface="Agency FB" pitchFamily="34" charset="0"/>
              </a:rPr>
              <a:t>un appel pour évaluer le service</a:t>
            </a:r>
          </a:p>
        </p:txBody>
      </p:sp>
      <p:sp>
        <p:nvSpPr>
          <p:cNvPr id="123" name="Ellipse 122"/>
          <p:cNvSpPr/>
          <p:nvPr/>
        </p:nvSpPr>
        <p:spPr>
          <a:xfrm>
            <a:off x="2924153" y="4473169"/>
            <a:ext cx="342902" cy="327439"/>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pic>
        <p:nvPicPr>
          <p:cNvPr id="104" name="Picture 8"/>
          <p:cNvPicPr>
            <a:picLocks noChangeAspect="1" noChangeArrowheads="1"/>
          </p:cNvPicPr>
          <p:nvPr/>
        </p:nvPicPr>
        <p:blipFill>
          <a:blip r:embed="rId14" cstate="print">
            <a:clrChange>
              <a:clrFrom>
                <a:srgbClr val="F8FAFB"/>
              </a:clrFrom>
              <a:clrTo>
                <a:srgbClr val="F8FAFB">
                  <a:alpha val="0"/>
                </a:srgbClr>
              </a:clrTo>
            </a:clrChange>
          </a:blip>
          <a:srcRect/>
          <a:stretch>
            <a:fillRect/>
          </a:stretch>
        </p:blipFill>
        <p:spPr bwMode="auto">
          <a:xfrm>
            <a:off x="7449662" y="2342942"/>
            <a:ext cx="320027" cy="288522"/>
          </a:xfrm>
          <a:prstGeom prst="rect">
            <a:avLst/>
          </a:prstGeom>
          <a:noFill/>
          <a:ln w="9525">
            <a:noFill/>
            <a:miter lim="800000"/>
            <a:headEnd/>
            <a:tailEnd/>
          </a:ln>
          <a:effectLst/>
        </p:spPr>
      </p:pic>
      <p:pic>
        <p:nvPicPr>
          <p:cNvPr id="106" name="Picture 7"/>
          <p:cNvPicPr>
            <a:picLocks noChangeAspect="1" noChangeArrowheads="1"/>
          </p:cNvPicPr>
          <p:nvPr/>
        </p:nvPicPr>
        <p:blipFill>
          <a:blip r:embed="rId15" cstate="print">
            <a:clrChange>
              <a:clrFrom>
                <a:srgbClr val="F8F8F8"/>
              </a:clrFrom>
              <a:clrTo>
                <a:srgbClr val="F8F8F8">
                  <a:alpha val="0"/>
                </a:srgbClr>
              </a:clrTo>
            </a:clrChange>
          </a:blip>
          <a:srcRect/>
          <a:stretch>
            <a:fillRect/>
          </a:stretch>
        </p:blipFill>
        <p:spPr bwMode="auto">
          <a:xfrm>
            <a:off x="7753406" y="5588555"/>
            <a:ext cx="473836" cy="288668"/>
          </a:xfrm>
          <a:prstGeom prst="rect">
            <a:avLst/>
          </a:prstGeom>
          <a:noFill/>
          <a:ln w="9525">
            <a:noFill/>
            <a:miter lim="800000"/>
            <a:headEnd/>
            <a:tailEnd/>
          </a:ln>
          <a:effectLst/>
        </p:spPr>
      </p:pic>
      <p:sp>
        <p:nvSpPr>
          <p:cNvPr id="82" name="ZoneTexte 81"/>
          <p:cNvSpPr txBox="1"/>
          <p:nvPr/>
        </p:nvSpPr>
        <p:spPr>
          <a:xfrm>
            <a:off x="323266" y="674020"/>
            <a:ext cx="1645002" cy="978729"/>
          </a:xfrm>
          <a:prstGeom prst="rect">
            <a:avLst/>
          </a:prstGeom>
          <a:solidFill>
            <a:schemeClr val="bg1"/>
          </a:solidFill>
          <a:ln>
            <a:solidFill>
              <a:schemeClr val="bg2">
                <a:lumMod val="75000"/>
              </a:schemeClr>
            </a:solidFill>
          </a:ln>
        </p:spPr>
        <p:style>
          <a:lnRef idx="2">
            <a:schemeClr val="dk1"/>
          </a:lnRef>
          <a:fillRef idx="1">
            <a:schemeClr val="lt1"/>
          </a:fillRef>
          <a:effectRef idx="0">
            <a:schemeClr val="dk1"/>
          </a:effectRef>
          <a:fontRef idx="minor">
            <a:schemeClr val="dk1"/>
          </a:fontRef>
        </p:style>
        <p:txBody>
          <a:bodyPr wrap="none" rtlCol="0">
            <a:spAutoFit/>
          </a:bodyPr>
          <a:lstStyle/>
          <a:p>
            <a:pPr algn="ctr"/>
            <a:r>
              <a:rPr lang="fr-FR" sz="1920" dirty="0" smtClean="0">
                <a:solidFill>
                  <a:srgbClr val="00B050"/>
                </a:solidFill>
                <a:latin typeface="Agency FB" pitchFamily="34" charset="0"/>
              </a:rPr>
              <a:t>PARCOURS DIGITAL</a:t>
            </a:r>
          </a:p>
          <a:p>
            <a:pPr algn="ctr"/>
            <a:r>
              <a:rPr lang="fr-FR" sz="1920" dirty="0" smtClean="0">
                <a:solidFill>
                  <a:srgbClr val="00B050"/>
                </a:solidFill>
                <a:latin typeface="Agency FB" pitchFamily="34" charset="0"/>
              </a:rPr>
              <a:t>CAS FORTUIT</a:t>
            </a:r>
          </a:p>
          <a:p>
            <a:pPr algn="ctr"/>
            <a:r>
              <a:rPr lang="fr-FR" sz="1920" dirty="0" smtClean="0">
                <a:solidFill>
                  <a:srgbClr val="00B050"/>
                </a:solidFill>
                <a:latin typeface="Agency FB" pitchFamily="34" charset="0"/>
              </a:rPr>
              <a:t>WAFA OTO SARII</a:t>
            </a:r>
            <a:endParaRPr lang="fr-FR" sz="1920" dirty="0">
              <a:solidFill>
                <a:srgbClr val="00B050"/>
              </a:solidFill>
              <a:latin typeface="Agency FB" pitchFamily="34" charset="0"/>
            </a:endParaRPr>
          </a:p>
        </p:txBody>
      </p:sp>
      <p:sp>
        <p:nvSpPr>
          <p:cNvPr id="84" name="Espace réservé du contenu 8"/>
          <p:cNvSpPr>
            <a:spLocks noGrp="1"/>
          </p:cNvSpPr>
          <p:nvPr>
            <p:ph sz="quarter" idx="12"/>
          </p:nvPr>
        </p:nvSpPr>
        <p:spPr bwMode="auto">
          <a:xfrm>
            <a:off x="5324470" y="6539866"/>
            <a:ext cx="6128390" cy="330794"/>
          </a:xfrm>
          <a:noFill/>
          <a:ln>
            <a:miter lim="800000"/>
            <a:headEnd/>
            <a:tailEnd/>
          </a:ln>
        </p:spPr>
        <p:txBody>
          <a:bodyPr wrap="square" numCol="1" anchorCtr="0" compatLnSpc="1">
            <a:prstTxWarp prst="textNoShape">
              <a:avLst/>
            </a:prstTxWarp>
          </a:bodyPr>
          <a:lstStyle/>
          <a:p>
            <a:pPr defTabSz="910554" fontAlgn="base">
              <a:spcBef>
                <a:spcPct val="0"/>
              </a:spcBef>
              <a:spcAft>
                <a:spcPct val="0"/>
              </a:spcAft>
            </a:pPr>
            <a:r>
              <a:rPr lang="fr-FR" b="1" dirty="0">
                <a:solidFill>
                  <a:schemeClr val="bg1"/>
                </a:solidFill>
                <a:latin typeface="Arial" charset="0"/>
                <a:cs typeface="Arial" charset="0"/>
              </a:rPr>
              <a:t>Direction </a:t>
            </a:r>
            <a:r>
              <a:rPr lang="fr-FR" b="1" dirty="0" smtClean="0">
                <a:solidFill>
                  <a:schemeClr val="bg1"/>
                </a:solidFill>
                <a:latin typeface="Arial" charset="0"/>
                <a:cs typeface="Arial" charset="0"/>
              </a:rPr>
              <a:t>Sinistres </a:t>
            </a:r>
            <a:r>
              <a:rPr lang="fr-FR" b="1" dirty="0">
                <a:solidFill>
                  <a:schemeClr val="bg1"/>
                </a:solidFill>
                <a:latin typeface="Arial" charset="0"/>
                <a:cs typeface="Arial" charset="0"/>
              </a:rPr>
              <a:t>Auto Matériels</a:t>
            </a:r>
          </a:p>
        </p:txBody>
      </p:sp>
      <p:pic>
        <p:nvPicPr>
          <p:cNvPr id="13" name="Image 12"/>
          <p:cNvPicPr>
            <a:picLocks noChangeAspect="1"/>
          </p:cNvPicPr>
          <p:nvPr/>
        </p:nvPicPr>
        <p:blipFill rotWithShape="1">
          <a:blip r:embed="rId16"/>
          <a:srcRect l="66537" t="30791" r="5901" b="26358"/>
          <a:stretch/>
        </p:blipFill>
        <p:spPr>
          <a:xfrm>
            <a:off x="4824093" y="2305676"/>
            <a:ext cx="1172167" cy="971224"/>
          </a:xfrm>
          <a:prstGeom prst="flowChartConnector">
            <a:avLst/>
          </a:prstGeom>
        </p:spPr>
      </p:pic>
      <p:pic>
        <p:nvPicPr>
          <p:cNvPr id="20" name="Image 19"/>
          <p:cNvPicPr>
            <a:picLocks noChangeAspect="1"/>
          </p:cNvPicPr>
          <p:nvPr/>
        </p:nvPicPr>
        <p:blipFill rotWithShape="1">
          <a:blip r:embed="rId17"/>
          <a:srcRect l="58662" t="33746" r="10625" b="41134"/>
          <a:stretch/>
        </p:blipFill>
        <p:spPr>
          <a:xfrm>
            <a:off x="661968" y="2948006"/>
            <a:ext cx="1113553" cy="1085861"/>
          </a:xfrm>
          <a:prstGeom prst="flowChartConnector">
            <a:avLst/>
          </a:prstGeom>
        </p:spPr>
      </p:pic>
      <p:pic>
        <p:nvPicPr>
          <p:cNvPr id="21" name="Image 20"/>
          <p:cNvPicPr>
            <a:picLocks noChangeAspect="1"/>
          </p:cNvPicPr>
          <p:nvPr/>
        </p:nvPicPr>
        <p:blipFill rotWithShape="1">
          <a:blip r:embed="rId18"/>
          <a:srcRect l="64962" t="36701" r="16138" b="35224"/>
          <a:stretch/>
        </p:blipFill>
        <p:spPr>
          <a:xfrm>
            <a:off x="2393276" y="4173864"/>
            <a:ext cx="1010806" cy="930568"/>
          </a:xfrm>
          <a:prstGeom prst="flowChartConnector">
            <a:avLst/>
          </a:prstGeom>
        </p:spPr>
      </p:pic>
      <p:sp>
        <p:nvSpPr>
          <p:cNvPr id="118" name="Rectangle 117"/>
          <p:cNvSpPr/>
          <p:nvPr/>
        </p:nvSpPr>
        <p:spPr>
          <a:xfrm>
            <a:off x="8257621" y="5056715"/>
            <a:ext cx="2828945" cy="685805"/>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smtClean="0">
                <a:solidFill>
                  <a:srgbClr val="00B050"/>
                </a:solidFill>
                <a:latin typeface="Agency FB" pitchFamily="34" charset="0"/>
              </a:rPr>
              <a:t>Le client est notifié –via </a:t>
            </a:r>
            <a:r>
              <a:rPr lang="fr-FR" sz="1260" b="1" dirty="0" err="1" smtClean="0">
                <a:solidFill>
                  <a:srgbClr val="00B050"/>
                </a:solidFill>
                <a:latin typeface="Agency FB" pitchFamily="34" charset="0"/>
              </a:rPr>
              <a:t>My</a:t>
            </a:r>
            <a:r>
              <a:rPr lang="fr-FR" sz="1260" b="1" dirty="0" smtClean="0">
                <a:solidFill>
                  <a:srgbClr val="00B050"/>
                </a:solidFill>
                <a:latin typeface="Agency FB" pitchFamily="34" charset="0"/>
              </a:rPr>
              <a:t> Wafa -par </a:t>
            </a:r>
            <a:r>
              <a:rPr lang="fr-FR" sz="1260" b="1" dirty="0">
                <a:solidFill>
                  <a:srgbClr val="00B050"/>
                </a:solidFill>
                <a:latin typeface="Agency FB" pitchFamily="34" charset="0"/>
              </a:rPr>
              <a:t>la validation de son règlement</a:t>
            </a:r>
          </a:p>
        </p:txBody>
      </p:sp>
      <p:pic>
        <p:nvPicPr>
          <p:cNvPr id="121" name="Picture 6"/>
          <p:cNvPicPr>
            <a:picLocks noChangeAspect="1" noChangeArrowheads="1"/>
          </p:cNvPicPr>
          <p:nvPr/>
        </p:nvPicPr>
        <p:blipFill>
          <a:blip r:embed="rId19" cstate="print">
            <a:clrChange>
              <a:clrFrom>
                <a:srgbClr val="FFFFFF"/>
              </a:clrFrom>
              <a:clrTo>
                <a:srgbClr val="FFFFFF">
                  <a:alpha val="0"/>
                </a:srgbClr>
              </a:clrTo>
            </a:clrChange>
          </a:blip>
          <a:srcRect/>
          <a:stretch>
            <a:fillRect/>
          </a:stretch>
        </p:blipFill>
        <p:spPr bwMode="auto">
          <a:xfrm>
            <a:off x="7835297" y="5061187"/>
            <a:ext cx="438062" cy="441643"/>
          </a:xfrm>
          <a:prstGeom prst="rect">
            <a:avLst/>
          </a:prstGeom>
          <a:noFill/>
          <a:ln w="9525">
            <a:noFill/>
            <a:miter lim="800000"/>
            <a:headEnd/>
            <a:tailEnd/>
          </a:ln>
          <a:effectLst/>
        </p:spPr>
      </p:pic>
      <p:sp>
        <p:nvSpPr>
          <p:cNvPr id="71" name="ZoneTexte 70"/>
          <p:cNvSpPr txBox="1"/>
          <p:nvPr/>
        </p:nvSpPr>
        <p:spPr>
          <a:xfrm>
            <a:off x="1165397" y="2137226"/>
            <a:ext cx="3539602" cy="498598"/>
          </a:xfrm>
          <a:prstGeom prst="rect">
            <a:avLst/>
          </a:prstGeom>
          <a:noFill/>
        </p:spPr>
        <p:txBody>
          <a:bodyPr wrap="square" rtlCol="0">
            <a:spAutoFit/>
          </a:bodyPr>
          <a:lstStyle/>
          <a:p>
            <a:pPr algn="ctr"/>
            <a:r>
              <a:rPr lang="fr-FR" sz="1320" b="1" dirty="0">
                <a:solidFill>
                  <a:schemeClr val="accent1"/>
                </a:solidFill>
                <a:latin typeface="Agency FB" pitchFamily="34" charset="0"/>
              </a:rPr>
              <a:t>Expertise du véhicule </a:t>
            </a:r>
            <a:r>
              <a:rPr lang="fr-FR" sz="1320" b="1" dirty="0" smtClean="0">
                <a:solidFill>
                  <a:schemeClr val="accent1"/>
                </a:solidFill>
                <a:latin typeface="Agency FB" pitchFamily="34" charset="0"/>
              </a:rPr>
              <a:t>(A DISTANCE SUR LA BASE DES PHOTO et DECLARATION TRANSMISES VIA MYWAFA) </a:t>
            </a:r>
            <a:endParaRPr lang="fr-FR" sz="1320" b="1" dirty="0">
              <a:solidFill>
                <a:schemeClr val="accent1"/>
              </a:solidFill>
              <a:latin typeface="Agency FB" pitchFamily="34" charset="0"/>
            </a:endParaRPr>
          </a:p>
        </p:txBody>
      </p:sp>
      <p:sp>
        <p:nvSpPr>
          <p:cNvPr id="75" name="ZoneTexte 74"/>
          <p:cNvSpPr txBox="1"/>
          <p:nvPr/>
        </p:nvSpPr>
        <p:spPr>
          <a:xfrm>
            <a:off x="307951" y="5669121"/>
            <a:ext cx="3539602" cy="498598"/>
          </a:xfrm>
          <a:prstGeom prst="rect">
            <a:avLst/>
          </a:prstGeom>
          <a:noFill/>
        </p:spPr>
        <p:txBody>
          <a:bodyPr wrap="square" rtlCol="0">
            <a:spAutoFit/>
          </a:bodyPr>
          <a:lstStyle/>
          <a:p>
            <a:pPr algn="ctr"/>
            <a:r>
              <a:rPr lang="fr-FR" sz="1320" b="1" dirty="0" smtClean="0">
                <a:solidFill>
                  <a:srgbClr val="FF66FF"/>
                </a:solidFill>
                <a:latin typeface="Agency FB" pitchFamily="34" charset="0"/>
              </a:rPr>
              <a:t>NB: Pour les dégâts importants le client peut opter pour la prise en charge ou le parcours classique via MY WAFA</a:t>
            </a:r>
            <a:endParaRPr lang="fr-FR" sz="1320" b="1" dirty="0">
              <a:solidFill>
                <a:srgbClr val="FF66FF"/>
              </a:solidFill>
              <a:latin typeface="Agency FB" pitchFamily="34" charset="0"/>
            </a:endParaRPr>
          </a:p>
        </p:txBody>
      </p:sp>
      <p:sp>
        <p:nvSpPr>
          <p:cNvPr id="77" name="Rectangle 76"/>
          <p:cNvSpPr/>
          <p:nvPr/>
        </p:nvSpPr>
        <p:spPr>
          <a:xfrm>
            <a:off x="3669188" y="3835010"/>
            <a:ext cx="2545586" cy="600079"/>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smtClean="0">
                <a:solidFill>
                  <a:srgbClr val="00B050"/>
                </a:solidFill>
                <a:latin typeface="Agency FB" pitchFamily="34" charset="0"/>
              </a:rPr>
              <a:t>Le client reçoit une notification sur MYWAFA ou un Appel de la Plateforme</a:t>
            </a:r>
            <a:endParaRPr lang="fr-FR" sz="1260" b="1" dirty="0">
              <a:solidFill>
                <a:srgbClr val="00B050"/>
              </a:solidFill>
              <a:latin typeface="Agency FB" pitchFamily="34" charset="0"/>
            </a:endParaRPr>
          </a:p>
        </p:txBody>
      </p:sp>
      <p:sp>
        <p:nvSpPr>
          <p:cNvPr id="91" name="Rectangle 90"/>
          <p:cNvSpPr/>
          <p:nvPr/>
        </p:nvSpPr>
        <p:spPr>
          <a:xfrm>
            <a:off x="3517165" y="4612929"/>
            <a:ext cx="2750286" cy="600079"/>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smtClean="0">
                <a:solidFill>
                  <a:srgbClr val="00B050"/>
                </a:solidFill>
                <a:latin typeface="Agency FB" pitchFamily="34" charset="0"/>
              </a:rPr>
              <a:t>Le client valide sa décision sur MYWAFA</a:t>
            </a:r>
            <a:endParaRPr lang="fr-FR" sz="1260" b="1" dirty="0">
              <a:solidFill>
                <a:srgbClr val="00B050"/>
              </a:solidFill>
              <a:latin typeface="Agency FB" pitchFamily="34" charset="0"/>
            </a:endParaRPr>
          </a:p>
        </p:txBody>
      </p:sp>
      <p:pic>
        <p:nvPicPr>
          <p:cNvPr id="92" name="Picture 7"/>
          <p:cNvPicPr>
            <a:picLocks noChangeAspect="1" noChangeArrowheads="1"/>
          </p:cNvPicPr>
          <p:nvPr/>
        </p:nvPicPr>
        <p:blipFill>
          <a:blip r:embed="rId15" cstate="print">
            <a:clrChange>
              <a:clrFrom>
                <a:srgbClr val="F8F8F8"/>
              </a:clrFrom>
              <a:clrTo>
                <a:srgbClr val="F8F8F8">
                  <a:alpha val="0"/>
                </a:srgbClr>
              </a:clrTo>
            </a:clrChange>
          </a:blip>
          <a:srcRect/>
          <a:stretch>
            <a:fillRect/>
          </a:stretch>
        </p:blipFill>
        <p:spPr bwMode="auto">
          <a:xfrm>
            <a:off x="3342821" y="4076113"/>
            <a:ext cx="473836" cy="288668"/>
          </a:xfrm>
          <a:prstGeom prst="rect">
            <a:avLst/>
          </a:prstGeom>
          <a:noFill/>
          <a:ln w="9525">
            <a:noFill/>
            <a:miter lim="800000"/>
            <a:headEnd/>
            <a:tailEnd/>
          </a:ln>
          <a:effectLst/>
        </p:spPr>
      </p:pic>
      <p:pic>
        <p:nvPicPr>
          <p:cNvPr id="93" name="Picture 7"/>
          <p:cNvPicPr>
            <a:picLocks noChangeAspect="1" noChangeArrowheads="1"/>
          </p:cNvPicPr>
          <p:nvPr/>
        </p:nvPicPr>
        <p:blipFill>
          <a:blip r:embed="rId15" cstate="print">
            <a:clrChange>
              <a:clrFrom>
                <a:srgbClr val="F8F8F8"/>
              </a:clrFrom>
              <a:clrTo>
                <a:srgbClr val="F8F8F8">
                  <a:alpha val="0"/>
                </a:srgbClr>
              </a:clrTo>
            </a:clrChange>
          </a:blip>
          <a:srcRect/>
          <a:stretch>
            <a:fillRect/>
          </a:stretch>
        </p:blipFill>
        <p:spPr bwMode="auto">
          <a:xfrm>
            <a:off x="3300126" y="4776950"/>
            <a:ext cx="473836" cy="288668"/>
          </a:xfrm>
          <a:prstGeom prst="rect">
            <a:avLst/>
          </a:prstGeom>
          <a:noFill/>
          <a:ln w="9525">
            <a:noFill/>
            <a:miter lim="800000"/>
            <a:headEnd/>
            <a:tailEnd/>
          </a:ln>
          <a:effectLst/>
        </p:spPr>
      </p:pic>
    </p:spTree>
    <p:extLst>
      <p:ext uri="{BB962C8B-B14F-4D97-AF65-F5344CB8AC3E}">
        <p14:creationId xmlns:p14="http://schemas.microsoft.com/office/powerpoint/2010/main" val="321925933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Rectangle à coins arrondis 77"/>
          <p:cNvSpPr/>
          <p:nvPr/>
        </p:nvSpPr>
        <p:spPr>
          <a:xfrm>
            <a:off x="2324074" y="4122503"/>
            <a:ext cx="3171847" cy="342902"/>
          </a:xfrm>
          <a:prstGeom prst="roundRect">
            <a:avLst>
              <a:gd name="adj" fmla="val 50000"/>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sp>
        <p:nvSpPr>
          <p:cNvPr id="81" name="Rectangle 80"/>
          <p:cNvSpPr/>
          <p:nvPr/>
        </p:nvSpPr>
        <p:spPr>
          <a:xfrm>
            <a:off x="1117565" y="3436002"/>
            <a:ext cx="3171847" cy="342902"/>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a:solidFill>
                  <a:schemeClr val="tx1"/>
                </a:solidFill>
                <a:latin typeface="Agency FB" pitchFamily="34" charset="0"/>
              </a:rPr>
              <a:t>L’expertise du véhicule est faite </a:t>
            </a:r>
          </a:p>
          <a:p>
            <a:pPr algn="ctr"/>
            <a:r>
              <a:rPr lang="fr-FR" sz="1260" b="1" dirty="0">
                <a:solidFill>
                  <a:schemeClr val="tx1"/>
                </a:solidFill>
                <a:latin typeface="Agency FB" pitchFamily="34" charset="0"/>
              </a:rPr>
              <a:t>au niveau du garage agréé </a:t>
            </a:r>
          </a:p>
        </p:txBody>
      </p:sp>
      <p:sp>
        <p:nvSpPr>
          <p:cNvPr id="14" name="Virage 13"/>
          <p:cNvSpPr/>
          <p:nvPr/>
        </p:nvSpPr>
        <p:spPr>
          <a:xfrm rot="10800000">
            <a:off x="1344565" y="2709241"/>
            <a:ext cx="9849600" cy="182228"/>
          </a:xfrm>
          <a:prstGeom prst="bentArrow">
            <a:avLst>
              <a:gd name="adj1" fmla="val 41310"/>
              <a:gd name="adj2" fmla="val 25000"/>
              <a:gd name="adj3" fmla="val 25000"/>
              <a:gd name="adj4" fmla="val 95655"/>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20" name="Rectangle 119"/>
          <p:cNvSpPr/>
          <p:nvPr/>
        </p:nvSpPr>
        <p:spPr>
          <a:xfrm>
            <a:off x="1381092" y="2802491"/>
            <a:ext cx="3715200" cy="73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pic>
        <p:nvPicPr>
          <p:cNvPr id="2050" name="Picture 2"/>
          <p:cNvPicPr>
            <a:picLocks noChangeAspect="1" noChangeArrowheads="1"/>
          </p:cNvPicPr>
          <p:nvPr/>
        </p:nvPicPr>
        <p:blipFill>
          <a:blip r:embed="rId3" cstate="print"/>
          <a:srcRect/>
          <a:stretch>
            <a:fillRect/>
          </a:stretch>
        </p:blipFill>
        <p:spPr bwMode="auto">
          <a:xfrm>
            <a:off x="609600" y="3"/>
            <a:ext cx="10972800" cy="491072"/>
          </a:xfrm>
          <a:prstGeom prst="rect">
            <a:avLst/>
          </a:prstGeom>
          <a:noFill/>
          <a:ln w="9525">
            <a:noFill/>
            <a:miter lim="800000"/>
            <a:headEnd/>
            <a:tailEnd/>
          </a:ln>
        </p:spPr>
      </p:pic>
      <p:pic>
        <p:nvPicPr>
          <p:cNvPr id="5122" name="Image 4"/>
          <p:cNvPicPr>
            <a:picLocks noChangeAspect="1"/>
          </p:cNvPicPr>
          <p:nvPr/>
        </p:nvPicPr>
        <p:blipFill>
          <a:blip r:embed="rId4" cstate="print"/>
          <a:srcRect/>
          <a:stretch>
            <a:fillRect/>
          </a:stretch>
        </p:blipFill>
        <p:spPr bwMode="auto">
          <a:xfrm>
            <a:off x="835243" y="59764"/>
            <a:ext cx="1372325" cy="431311"/>
          </a:xfrm>
          <a:prstGeom prst="rect">
            <a:avLst/>
          </a:prstGeom>
          <a:noFill/>
          <a:ln w="9525">
            <a:noFill/>
            <a:miter lim="800000"/>
            <a:headEnd/>
            <a:tailEnd/>
          </a:ln>
        </p:spPr>
      </p:pic>
      <p:sp>
        <p:nvSpPr>
          <p:cNvPr id="9" name="Rectangle 8"/>
          <p:cNvSpPr/>
          <p:nvPr/>
        </p:nvSpPr>
        <p:spPr>
          <a:xfrm>
            <a:off x="3738775" y="34228"/>
            <a:ext cx="7801030" cy="370437"/>
          </a:xfrm>
          <a:prstGeom prst="rect">
            <a:avLst/>
          </a:prstGeom>
        </p:spPr>
        <p:txBody>
          <a:bodyPr wrap="square" lIns="110826" tIns="55411" rIns="110826" bIns="55411">
            <a:spAutoFit/>
          </a:bodyPr>
          <a:lstStyle/>
          <a:p>
            <a:pPr algn="r"/>
            <a:r>
              <a:rPr lang="fr-FR" altLang="fr-FR" sz="1680" b="1" dirty="0">
                <a:solidFill>
                  <a:schemeClr val="accent1">
                    <a:lumMod val="50000"/>
                  </a:schemeClr>
                </a:solidFill>
                <a:ea typeface="Tahoma" pitchFamily="34" charset="0"/>
                <a:cs typeface="Tahoma" pitchFamily="34" charset="0"/>
              </a:rPr>
              <a:t>PEC Réparation dans un garage partenaire </a:t>
            </a:r>
            <a:endParaRPr lang="fr-FR" sz="1680" b="1" dirty="0">
              <a:solidFill>
                <a:schemeClr val="accent1">
                  <a:lumMod val="50000"/>
                </a:schemeClr>
              </a:solidFill>
              <a:ea typeface="Tahoma" pitchFamily="34" charset="0"/>
              <a:cs typeface="Tahoma" pitchFamily="34" charset="0"/>
            </a:endParaRPr>
          </a:p>
        </p:txBody>
      </p:sp>
      <p:sp>
        <p:nvSpPr>
          <p:cNvPr id="73" name="Espace réservé du numéro de diapositive 72"/>
          <p:cNvSpPr>
            <a:spLocks noGrp="1"/>
          </p:cNvSpPr>
          <p:nvPr>
            <p:ph type="sldNum" sz="quarter" idx="12"/>
          </p:nvPr>
        </p:nvSpPr>
        <p:spPr>
          <a:xfrm>
            <a:off x="9071941" y="6520918"/>
            <a:ext cx="2467865" cy="364468"/>
          </a:xfrm>
        </p:spPr>
        <p:txBody>
          <a:bodyPr/>
          <a:lstStyle/>
          <a:p>
            <a:pPr>
              <a:defRPr/>
            </a:pPr>
            <a:fld id="{E11703BC-316E-4658-AE8F-B5827D54B665}" type="slidenum">
              <a:rPr lang="fr-FR" smtClean="0"/>
              <a:pPr>
                <a:defRPr/>
              </a:pPr>
              <a:t>5</a:t>
            </a:fld>
            <a:endParaRPr lang="fr-FR" dirty="0"/>
          </a:p>
        </p:txBody>
      </p:sp>
      <p:sp>
        <p:nvSpPr>
          <p:cNvPr id="56" name="Rectangle 55"/>
          <p:cNvSpPr/>
          <p:nvPr/>
        </p:nvSpPr>
        <p:spPr>
          <a:xfrm>
            <a:off x="652195" y="6567131"/>
            <a:ext cx="10843795" cy="231845"/>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70"/>
          </a:p>
        </p:txBody>
      </p:sp>
      <p:sp>
        <p:nvSpPr>
          <p:cNvPr id="57" name="Espace réservé du contenu 8"/>
          <p:cNvSpPr>
            <a:spLocks noGrp="1"/>
          </p:cNvSpPr>
          <p:nvPr>
            <p:ph sz="quarter" idx="11"/>
          </p:nvPr>
        </p:nvSpPr>
        <p:spPr bwMode="auto">
          <a:xfrm>
            <a:off x="565786" y="6572280"/>
            <a:ext cx="3328034" cy="226694"/>
          </a:xfrm>
          <a:noFill/>
          <a:ln>
            <a:miter lim="800000"/>
            <a:headEnd/>
            <a:tailEnd/>
          </a:ln>
        </p:spPr>
        <p:txBody>
          <a:bodyPr wrap="square" numCol="1" anchorCtr="0" compatLnSpc="1">
            <a:prstTxWarp prst="textNoShape">
              <a:avLst/>
            </a:prstTxWarp>
          </a:bodyPr>
          <a:lstStyle/>
          <a:p>
            <a:pPr defTabSz="910554" fontAlgn="base">
              <a:spcBef>
                <a:spcPct val="0"/>
              </a:spcBef>
              <a:spcAft>
                <a:spcPct val="0"/>
              </a:spcAft>
            </a:pPr>
            <a:r>
              <a:rPr lang="fr-FR" i="1" dirty="0">
                <a:solidFill>
                  <a:schemeClr val="bg1"/>
                </a:solidFill>
                <a:latin typeface="Arial" charset="0"/>
                <a:cs typeface="Arial" charset="0"/>
              </a:rPr>
              <a:t>À usage strictement interne ou confidentiel</a:t>
            </a:r>
          </a:p>
        </p:txBody>
      </p:sp>
      <p:sp>
        <p:nvSpPr>
          <p:cNvPr id="3" name="Virage 2"/>
          <p:cNvSpPr/>
          <p:nvPr/>
        </p:nvSpPr>
        <p:spPr>
          <a:xfrm rot="10800000" flipV="1">
            <a:off x="2251766" y="1306900"/>
            <a:ext cx="8942400" cy="182204"/>
          </a:xfrm>
          <a:prstGeom prst="bentArrow">
            <a:avLst>
              <a:gd name="adj1" fmla="val 41310"/>
              <a:gd name="adj2" fmla="val 25000"/>
              <a:gd name="adj3" fmla="val 25000"/>
              <a:gd name="adj4" fmla="val 9565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4" name="Rectangle 3"/>
          <p:cNvSpPr/>
          <p:nvPr/>
        </p:nvSpPr>
        <p:spPr>
          <a:xfrm>
            <a:off x="11116404" y="1484378"/>
            <a:ext cx="77760" cy="1271338"/>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5" name="Arc plein 4"/>
          <p:cNvSpPr/>
          <p:nvPr/>
        </p:nvSpPr>
        <p:spPr>
          <a:xfrm rot="16200000">
            <a:off x="450472" y="3573255"/>
            <a:ext cx="1900800" cy="382459"/>
          </a:xfrm>
          <a:prstGeom prst="blockArc">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6" name="Virage 15"/>
          <p:cNvSpPr/>
          <p:nvPr/>
        </p:nvSpPr>
        <p:spPr>
          <a:xfrm rot="10800000" flipV="1">
            <a:off x="1387762" y="4626007"/>
            <a:ext cx="9806400" cy="181440"/>
          </a:xfrm>
          <a:prstGeom prst="bentArrow">
            <a:avLst>
              <a:gd name="adj1" fmla="val 41310"/>
              <a:gd name="adj2" fmla="val 25000"/>
              <a:gd name="adj3" fmla="val 25000"/>
              <a:gd name="adj4" fmla="val 95655"/>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8" name="Virage 17"/>
          <p:cNvSpPr/>
          <p:nvPr/>
        </p:nvSpPr>
        <p:spPr>
          <a:xfrm rot="10800000">
            <a:off x="7651763" y="5915042"/>
            <a:ext cx="3542400" cy="197856"/>
          </a:xfrm>
          <a:prstGeom prst="bentArrow">
            <a:avLst>
              <a:gd name="adj1" fmla="val 41310"/>
              <a:gd name="adj2" fmla="val 25000"/>
              <a:gd name="adj3" fmla="val 25000"/>
              <a:gd name="adj4" fmla="val 95655"/>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9" name="Rectangle 18"/>
          <p:cNvSpPr/>
          <p:nvPr/>
        </p:nvSpPr>
        <p:spPr>
          <a:xfrm>
            <a:off x="11116405" y="4791842"/>
            <a:ext cx="77759" cy="1123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8" name="ZoneTexte 7"/>
          <p:cNvSpPr txBox="1"/>
          <p:nvPr/>
        </p:nvSpPr>
        <p:spPr>
          <a:xfrm>
            <a:off x="3930464" y="1401077"/>
            <a:ext cx="5455340" cy="350865"/>
          </a:xfrm>
          <a:prstGeom prst="rect">
            <a:avLst/>
          </a:prstGeom>
          <a:noFill/>
        </p:spPr>
        <p:txBody>
          <a:bodyPr wrap="none" rtlCol="0">
            <a:spAutoFit/>
          </a:bodyPr>
          <a:lstStyle/>
          <a:p>
            <a:r>
              <a:rPr lang="fr-FR" sz="1680" b="1" dirty="0">
                <a:solidFill>
                  <a:schemeClr val="tx2">
                    <a:lumMod val="75000"/>
                  </a:schemeClr>
                </a:solidFill>
                <a:latin typeface="Agency FB" pitchFamily="34" charset="0"/>
              </a:rPr>
              <a:t>Survenance de l’accident		                                      Assistance</a:t>
            </a:r>
          </a:p>
        </p:txBody>
      </p:sp>
      <p:sp>
        <p:nvSpPr>
          <p:cNvPr id="32" name="ZoneTexte 31"/>
          <p:cNvSpPr txBox="1"/>
          <p:nvPr/>
        </p:nvSpPr>
        <p:spPr>
          <a:xfrm>
            <a:off x="515596" y="3110477"/>
            <a:ext cx="4570951" cy="286232"/>
          </a:xfrm>
          <a:prstGeom prst="rect">
            <a:avLst/>
          </a:prstGeom>
          <a:noFill/>
        </p:spPr>
        <p:txBody>
          <a:bodyPr wrap="square" rtlCol="0">
            <a:spAutoFit/>
          </a:bodyPr>
          <a:lstStyle/>
          <a:p>
            <a:pPr algn="ctr"/>
            <a:r>
              <a:rPr lang="fr-FR" sz="1260" b="1" dirty="0">
                <a:solidFill>
                  <a:schemeClr val="accent1"/>
                </a:solidFill>
                <a:latin typeface="Agency FB" pitchFamily="34" charset="0"/>
              </a:rPr>
              <a:t>Dépôt du véhicule pour réparation</a:t>
            </a:r>
          </a:p>
        </p:txBody>
      </p:sp>
      <p:sp>
        <p:nvSpPr>
          <p:cNvPr id="34" name="ZoneTexte 33"/>
          <p:cNvSpPr txBox="1"/>
          <p:nvPr/>
        </p:nvSpPr>
        <p:spPr>
          <a:xfrm>
            <a:off x="1407470" y="4775430"/>
            <a:ext cx="3931636" cy="350865"/>
          </a:xfrm>
          <a:prstGeom prst="rect">
            <a:avLst/>
          </a:prstGeom>
          <a:noFill/>
        </p:spPr>
        <p:txBody>
          <a:bodyPr wrap="square" rtlCol="0">
            <a:spAutoFit/>
          </a:bodyPr>
          <a:lstStyle/>
          <a:p>
            <a:pPr algn="ctr"/>
            <a:r>
              <a:rPr lang="fr-FR" sz="1680" b="1" dirty="0">
                <a:latin typeface="Agency FB" pitchFamily="34" charset="0"/>
              </a:rPr>
              <a:t>Expertise mécanique et réparation du véhicule</a:t>
            </a:r>
          </a:p>
        </p:txBody>
      </p:sp>
      <p:sp>
        <p:nvSpPr>
          <p:cNvPr id="35" name="ZoneTexte 34"/>
          <p:cNvSpPr txBox="1"/>
          <p:nvPr/>
        </p:nvSpPr>
        <p:spPr>
          <a:xfrm>
            <a:off x="7307901" y="4774179"/>
            <a:ext cx="3931636" cy="350865"/>
          </a:xfrm>
          <a:prstGeom prst="rect">
            <a:avLst/>
          </a:prstGeom>
          <a:noFill/>
        </p:spPr>
        <p:txBody>
          <a:bodyPr wrap="square" rtlCol="0">
            <a:spAutoFit/>
          </a:bodyPr>
          <a:lstStyle/>
          <a:p>
            <a:pPr algn="ctr"/>
            <a:r>
              <a:rPr lang="fr-FR" sz="1680" b="1" dirty="0">
                <a:solidFill>
                  <a:schemeClr val="accent4">
                    <a:lumMod val="75000"/>
                  </a:schemeClr>
                </a:solidFill>
                <a:latin typeface="Agency FB" pitchFamily="34" charset="0"/>
              </a:rPr>
              <a:t>Récupération du véhicule réparé</a:t>
            </a:r>
          </a:p>
        </p:txBody>
      </p:sp>
      <p:sp>
        <p:nvSpPr>
          <p:cNvPr id="36" name="ZoneTexte 35"/>
          <p:cNvSpPr txBox="1"/>
          <p:nvPr/>
        </p:nvSpPr>
        <p:spPr>
          <a:xfrm>
            <a:off x="7651763" y="6154777"/>
            <a:ext cx="3257573" cy="498598"/>
          </a:xfrm>
          <a:prstGeom prst="rect">
            <a:avLst/>
          </a:prstGeom>
          <a:noFill/>
        </p:spPr>
        <p:txBody>
          <a:bodyPr wrap="square" rtlCol="0">
            <a:spAutoFit/>
          </a:bodyPr>
          <a:lstStyle/>
          <a:p>
            <a:pPr algn="ctr"/>
            <a:r>
              <a:rPr lang="fr-FR" sz="1320" b="1" dirty="0">
                <a:solidFill>
                  <a:schemeClr val="accent4">
                    <a:lumMod val="75000"/>
                  </a:schemeClr>
                </a:solidFill>
                <a:latin typeface="Agency FB" pitchFamily="34" charset="0"/>
              </a:rPr>
              <a:t>Evaluation de la qualité de service à travers la First Line</a:t>
            </a:r>
          </a:p>
        </p:txBody>
      </p:sp>
      <p:sp>
        <p:nvSpPr>
          <p:cNvPr id="43" name="Ellipse 42"/>
          <p:cNvSpPr/>
          <p:nvPr/>
        </p:nvSpPr>
        <p:spPr>
          <a:xfrm>
            <a:off x="4724391" y="1173705"/>
            <a:ext cx="342902" cy="327439"/>
          </a:xfrm>
          <a:prstGeom prst="ellipse">
            <a:avLst/>
          </a:prstGeom>
          <a:solidFill>
            <a:schemeClr val="bg1"/>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sp>
        <p:nvSpPr>
          <p:cNvPr id="51" name="Chevron 50"/>
          <p:cNvSpPr/>
          <p:nvPr/>
        </p:nvSpPr>
        <p:spPr>
          <a:xfrm rot="10800000">
            <a:off x="7553336" y="5829317"/>
            <a:ext cx="257177" cy="428628"/>
          </a:xfrm>
          <a:prstGeom prst="chevron">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60" name="Chevron 59"/>
          <p:cNvSpPr/>
          <p:nvPr/>
        </p:nvSpPr>
        <p:spPr>
          <a:xfrm>
            <a:off x="10296555" y="1224347"/>
            <a:ext cx="171451" cy="257177"/>
          </a:xfrm>
          <a:prstGeom prst="chevr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grpSp>
        <p:nvGrpSpPr>
          <p:cNvPr id="2" name="Groupe 99"/>
          <p:cNvGrpSpPr/>
          <p:nvPr/>
        </p:nvGrpSpPr>
        <p:grpSpPr>
          <a:xfrm>
            <a:off x="6781805" y="745077"/>
            <a:ext cx="1200120" cy="1200158"/>
            <a:chOff x="5143504" y="428608"/>
            <a:chExt cx="1000100" cy="1000132"/>
          </a:xfrm>
        </p:grpSpPr>
        <p:sp>
          <p:nvSpPr>
            <p:cNvPr id="52" name="Organigramme : Connecteur 51"/>
            <p:cNvSpPr/>
            <p:nvPr/>
          </p:nvSpPr>
          <p:spPr>
            <a:xfrm>
              <a:off x="5143504" y="428608"/>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1029" name="Picture 5"/>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5357818" y="571484"/>
              <a:ext cx="642942" cy="655931"/>
            </a:xfrm>
            <a:prstGeom prst="rect">
              <a:avLst/>
            </a:prstGeom>
            <a:noFill/>
            <a:ln w="9525">
              <a:noFill/>
              <a:miter lim="800000"/>
              <a:headEnd/>
              <a:tailEnd/>
            </a:ln>
            <a:effectLst/>
          </p:spPr>
        </p:pic>
      </p:grpSp>
      <p:grpSp>
        <p:nvGrpSpPr>
          <p:cNvPr id="7" name="Groupe 100"/>
          <p:cNvGrpSpPr/>
          <p:nvPr/>
        </p:nvGrpSpPr>
        <p:grpSpPr>
          <a:xfrm>
            <a:off x="10382280" y="1430881"/>
            <a:ext cx="1200120" cy="1200158"/>
            <a:chOff x="8143900" y="1071550"/>
            <a:chExt cx="1000100" cy="1000132"/>
          </a:xfrm>
        </p:grpSpPr>
        <p:sp>
          <p:nvSpPr>
            <p:cNvPr id="53" name="Organigramme : Connecteur 52"/>
            <p:cNvSpPr/>
            <p:nvPr/>
          </p:nvSpPr>
          <p:spPr>
            <a:xfrm>
              <a:off x="8143900" y="1071550"/>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72" name="Picture 4" descr="C:\Users\f.tabouti\Desktop\Icones\sm.png"/>
            <p:cNvPicPr>
              <a:picLocks noChangeAspect="1" noChangeArrowheads="1"/>
            </p:cNvPicPr>
            <p:nvPr/>
          </p:nvPicPr>
          <p:blipFill>
            <a:blip r:embed="rId6" cstate="print"/>
            <a:srcRect/>
            <a:stretch>
              <a:fillRect/>
            </a:stretch>
          </p:blipFill>
          <p:spPr bwMode="auto">
            <a:xfrm>
              <a:off x="8215338" y="1357302"/>
              <a:ext cx="500066" cy="500066"/>
            </a:xfrm>
            <a:prstGeom prst="rect">
              <a:avLst/>
            </a:prstGeom>
            <a:noFill/>
          </p:spPr>
        </p:pic>
        <p:pic>
          <p:nvPicPr>
            <p:cNvPr id="74" name="Image 73" descr="tel.png"/>
            <p:cNvPicPr>
              <a:picLocks noChangeAspect="1"/>
            </p:cNvPicPr>
            <p:nvPr/>
          </p:nvPicPr>
          <p:blipFill>
            <a:blip r:embed="rId7" cstate="print"/>
            <a:stretch>
              <a:fillRect/>
            </a:stretch>
          </p:blipFill>
          <p:spPr>
            <a:xfrm>
              <a:off x="8715404" y="1428740"/>
              <a:ext cx="357190" cy="357190"/>
            </a:xfrm>
            <a:prstGeom prst="rect">
              <a:avLst/>
            </a:prstGeom>
          </p:spPr>
        </p:pic>
      </p:grpSp>
      <p:pic>
        <p:nvPicPr>
          <p:cNvPr id="76" name="Image 75" descr="photo.png"/>
          <p:cNvPicPr>
            <a:picLocks noChangeAspect="1"/>
          </p:cNvPicPr>
          <p:nvPr/>
        </p:nvPicPr>
        <p:blipFill>
          <a:blip r:embed="rId8" cstate="print"/>
          <a:stretch>
            <a:fillRect/>
          </a:stretch>
        </p:blipFill>
        <p:spPr>
          <a:xfrm>
            <a:off x="7824629" y="2459589"/>
            <a:ext cx="171451" cy="171451"/>
          </a:xfrm>
          <a:prstGeom prst="rect">
            <a:avLst/>
          </a:prstGeom>
        </p:spPr>
      </p:pic>
      <p:grpSp>
        <p:nvGrpSpPr>
          <p:cNvPr id="10" name="Groupe 98"/>
          <p:cNvGrpSpPr/>
          <p:nvPr/>
        </p:nvGrpSpPr>
        <p:grpSpPr>
          <a:xfrm>
            <a:off x="2152622" y="745077"/>
            <a:ext cx="1285884" cy="1200158"/>
            <a:chOff x="1071538" y="428608"/>
            <a:chExt cx="1071570" cy="1000132"/>
          </a:xfrm>
        </p:grpSpPr>
        <p:sp>
          <p:nvSpPr>
            <p:cNvPr id="6" name="Organigramme : Connecteur 5"/>
            <p:cNvSpPr/>
            <p:nvPr/>
          </p:nvSpPr>
          <p:spPr>
            <a:xfrm>
              <a:off x="1143008" y="428608"/>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2051" name="Picture 3"/>
            <p:cNvPicPr>
              <a:picLocks noChangeAspect="1" noChangeArrowheads="1"/>
            </p:cNvPicPr>
            <p:nvPr/>
          </p:nvPicPr>
          <p:blipFill>
            <a:blip r:embed="rId9">
              <a:clrChange>
                <a:clrFrom>
                  <a:srgbClr val="FFFFFF"/>
                </a:clrFrom>
                <a:clrTo>
                  <a:srgbClr val="FFFFFF">
                    <a:alpha val="0"/>
                  </a:srgbClr>
                </a:clrTo>
              </a:clrChange>
            </a:blip>
            <a:srcRect/>
            <a:stretch>
              <a:fillRect/>
            </a:stretch>
          </p:blipFill>
          <p:spPr bwMode="auto">
            <a:xfrm>
              <a:off x="1071538" y="571484"/>
              <a:ext cx="1049990" cy="618399"/>
            </a:xfrm>
            <a:prstGeom prst="rect">
              <a:avLst/>
            </a:prstGeom>
            <a:noFill/>
            <a:ln w="9525">
              <a:noFill/>
              <a:miter lim="800000"/>
              <a:headEnd/>
              <a:tailEnd/>
            </a:ln>
            <a:effectLst/>
          </p:spPr>
        </p:pic>
      </p:grpSp>
      <p:grpSp>
        <p:nvGrpSpPr>
          <p:cNvPr id="11" name="Groupe 101"/>
          <p:cNvGrpSpPr/>
          <p:nvPr/>
        </p:nvGrpSpPr>
        <p:grpSpPr>
          <a:xfrm>
            <a:off x="817745" y="2844556"/>
            <a:ext cx="986224" cy="927347"/>
            <a:chOff x="428596" y="1643054"/>
            <a:chExt cx="1000100" cy="1000132"/>
          </a:xfrm>
        </p:grpSpPr>
        <p:sp>
          <p:nvSpPr>
            <p:cNvPr id="79" name="Organigramme : Connecteur 78"/>
            <p:cNvSpPr/>
            <p:nvPr/>
          </p:nvSpPr>
          <p:spPr>
            <a:xfrm>
              <a:off x="428596" y="1643054"/>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2053" name="Picture 5"/>
            <p:cNvPicPr>
              <a:picLocks noChangeAspect="1" noChangeArrowheads="1"/>
            </p:cNvPicPr>
            <p:nvPr/>
          </p:nvPicPr>
          <p:blipFill>
            <a:blip r:embed="rId10">
              <a:clrChange>
                <a:clrFrom>
                  <a:srgbClr val="FFFFFF"/>
                </a:clrFrom>
                <a:clrTo>
                  <a:srgbClr val="FFFFFF">
                    <a:alpha val="0"/>
                  </a:srgbClr>
                </a:clrTo>
              </a:clrChange>
            </a:blip>
            <a:srcRect/>
            <a:stretch>
              <a:fillRect/>
            </a:stretch>
          </p:blipFill>
          <p:spPr bwMode="auto">
            <a:xfrm>
              <a:off x="428596" y="1714492"/>
              <a:ext cx="969993" cy="785818"/>
            </a:xfrm>
            <a:prstGeom prst="rect">
              <a:avLst/>
            </a:prstGeom>
            <a:noFill/>
            <a:ln w="9525">
              <a:noFill/>
              <a:miter lim="800000"/>
              <a:headEnd/>
              <a:tailEnd/>
            </a:ln>
            <a:effectLst/>
          </p:spPr>
        </p:pic>
      </p:grpSp>
      <p:sp>
        <p:nvSpPr>
          <p:cNvPr id="85" name="ZoneTexte 84"/>
          <p:cNvSpPr txBox="1"/>
          <p:nvPr/>
        </p:nvSpPr>
        <p:spPr>
          <a:xfrm>
            <a:off x="8632882" y="2999812"/>
            <a:ext cx="1858201" cy="350865"/>
          </a:xfrm>
          <a:prstGeom prst="rect">
            <a:avLst/>
          </a:prstGeom>
          <a:noFill/>
        </p:spPr>
        <p:txBody>
          <a:bodyPr wrap="none" rtlCol="0">
            <a:spAutoFit/>
          </a:bodyPr>
          <a:lstStyle/>
          <a:p>
            <a:r>
              <a:rPr lang="fr-FR" sz="1680" b="1" dirty="0">
                <a:solidFill>
                  <a:schemeClr val="accent6">
                    <a:lumMod val="75000"/>
                  </a:schemeClr>
                </a:solidFill>
                <a:latin typeface="Agency FB" pitchFamily="34" charset="0"/>
              </a:rPr>
              <a:t>Déclaration du sinistre</a:t>
            </a:r>
          </a:p>
        </p:txBody>
      </p:sp>
      <p:sp>
        <p:nvSpPr>
          <p:cNvPr id="86" name="Ellipse 85"/>
          <p:cNvSpPr/>
          <p:nvPr/>
        </p:nvSpPr>
        <p:spPr>
          <a:xfrm>
            <a:off x="9267847" y="1173705"/>
            <a:ext cx="342902" cy="327439"/>
          </a:xfrm>
          <a:prstGeom prst="ellipse">
            <a:avLst/>
          </a:prstGeom>
          <a:solidFill>
            <a:schemeClr val="bg1"/>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sp>
        <p:nvSpPr>
          <p:cNvPr id="88" name="Ellipse 87"/>
          <p:cNvSpPr/>
          <p:nvPr/>
        </p:nvSpPr>
        <p:spPr>
          <a:xfrm>
            <a:off x="9525024" y="2693147"/>
            <a:ext cx="342902" cy="327439"/>
          </a:xfrm>
          <a:prstGeom prst="ellipse">
            <a:avLst/>
          </a:prstGeom>
          <a:solidFill>
            <a:schemeClr val="bg1"/>
          </a:solid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sp>
        <p:nvSpPr>
          <p:cNvPr id="91" name="Rectangle 90"/>
          <p:cNvSpPr/>
          <p:nvPr/>
        </p:nvSpPr>
        <p:spPr>
          <a:xfrm>
            <a:off x="7965625" y="2397944"/>
            <a:ext cx="3461701" cy="321864"/>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a:solidFill>
                  <a:srgbClr val="00B050"/>
                </a:solidFill>
                <a:latin typeface="Agency FB" pitchFamily="34" charset="0"/>
              </a:rPr>
              <a:t>Le client choisit le parcours PEC</a:t>
            </a:r>
          </a:p>
        </p:txBody>
      </p:sp>
      <p:sp>
        <p:nvSpPr>
          <p:cNvPr id="94" name="Rectangle 93"/>
          <p:cNvSpPr/>
          <p:nvPr/>
        </p:nvSpPr>
        <p:spPr>
          <a:xfrm>
            <a:off x="7635587" y="3848293"/>
            <a:ext cx="3698447" cy="600079"/>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a:solidFill>
                  <a:srgbClr val="00B050"/>
                </a:solidFill>
                <a:latin typeface="Agency FB" pitchFamily="34" charset="0"/>
              </a:rPr>
              <a:t>Le client paie tout éventuel</a:t>
            </a:r>
          </a:p>
          <a:p>
            <a:pPr algn="ctr"/>
            <a:r>
              <a:rPr lang="fr-FR" sz="1260" b="1" dirty="0">
                <a:solidFill>
                  <a:srgbClr val="00B050"/>
                </a:solidFill>
                <a:latin typeface="Agency FB" pitchFamily="34" charset="0"/>
              </a:rPr>
              <a:t>Ticket modérateur          et récupère son véhicule réparé</a:t>
            </a:r>
          </a:p>
        </p:txBody>
      </p:sp>
      <p:sp>
        <p:nvSpPr>
          <p:cNvPr id="95" name="Ellipse 94"/>
          <p:cNvSpPr/>
          <p:nvPr/>
        </p:nvSpPr>
        <p:spPr>
          <a:xfrm>
            <a:off x="7296159" y="2693147"/>
            <a:ext cx="342902" cy="327439"/>
          </a:xfrm>
          <a:prstGeom prst="ellipse">
            <a:avLst/>
          </a:prstGeom>
          <a:solidFill>
            <a:schemeClr val="bg1"/>
          </a:solid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pic>
        <p:nvPicPr>
          <p:cNvPr id="97" name="Image 96" descr="po.png"/>
          <p:cNvPicPr>
            <a:picLocks noChangeAspect="1"/>
          </p:cNvPicPr>
          <p:nvPr/>
        </p:nvPicPr>
        <p:blipFill>
          <a:blip r:embed="rId11" cstate="print"/>
          <a:stretch>
            <a:fillRect/>
          </a:stretch>
        </p:blipFill>
        <p:spPr>
          <a:xfrm>
            <a:off x="8081806" y="2459589"/>
            <a:ext cx="157334" cy="159127"/>
          </a:xfrm>
          <a:prstGeom prst="rect">
            <a:avLst/>
          </a:prstGeom>
        </p:spPr>
      </p:pic>
      <p:pic>
        <p:nvPicPr>
          <p:cNvPr id="112" name="Image 111" descr="money-icon.png"/>
          <p:cNvPicPr>
            <a:picLocks noChangeAspect="1"/>
          </p:cNvPicPr>
          <p:nvPr/>
        </p:nvPicPr>
        <p:blipFill>
          <a:blip r:embed="rId12" cstate="print">
            <a:duotone>
              <a:prstClr val="black"/>
              <a:schemeClr val="accent6">
                <a:tint val="45000"/>
                <a:satMod val="400000"/>
              </a:schemeClr>
            </a:duotone>
          </a:blip>
          <a:stretch>
            <a:fillRect/>
          </a:stretch>
        </p:blipFill>
        <p:spPr>
          <a:xfrm rot="10800000">
            <a:off x="8997774" y="4168573"/>
            <a:ext cx="197244" cy="203711"/>
          </a:xfrm>
          <a:prstGeom prst="rect">
            <a:avLst/>
          </a:prstGeom>
        </p:spPr>
      </p:pic>
      <p:sp>
        <p:nvSpPr>
          <p:cNvPr id="90" name="Ellipse 89"/>
          <p:cNvSpPr/>
          <p:nvPr/>
        </p:nvSpPr>
        <p:spPr>
          <a:xfrm>
            <a:off x="2752702" y="2693147"/>
            <a:ext cx="342902" cy="327439"/>
          </a:xfrm>
          <a:prstGeom prst="ellipse">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sp>
        <p:nvSpPr>
          <p:cNvPr id="122" name="Ellipse 121"/>
          <p:cNvSpPr/>
          <p:nvPr/>
        </p:nvSpPr>
        <p:spPr>
          <a:xfrm>
            <a:off x="9096396" y="5915043"/>
            <a:ext cx="342902" cy="327439"/>
          </a:xfrm>
          <a:prstGeom prst="ellipse">
            <a:avLst/>
          </a:prstGeom>
          <a:solidFill>
            <a:schemeClr val="bg1"/>
          </a:solidFill>
          <a:ln w="285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grpSp>
        <p:nvGrpSpPr>
          <p:cNvPr id="15" name="Groupe 124"/>
          <p:cNvGrpSpPr/>
          <p:nvPr/>
        </p:nvGrpSpPr>
        <p:grpSpPr>
          <a:xfrm>
            <a:off x="2356852" y="1955370"/>
            <a:ext cx="1200120" cy="1200158"/>
            <a:chOff x="3643306" y="1643054"/>
            <a:chExt cx="1000100" cy="1000132"/>
          </a:xfrm>
        </p:grpSpPr>
        <p:sp>
          <p:nvSpPr>
            <p:cNvPr id="119" name="Organigramme : Connecteur 118"/>
            <p:cNvSpPr/>
            <p:nvPr/>
          </p:nvSpPr>
          <p:spPr>
            <a:xfrm>
              <a:off x="3643306" y="1643054"/>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2056" name="Picture 8"/>
            <p:cNvPicPr>
              <a:picLocks noChangeAspect="1" noChangeArrowheads="1"/>
            </p:cNvPicPr>
            <p:nvPr/>
          </p:nvPicPr>
          <p:blipFill>
            <a:blip r:embed="rId13" cstate="print">
              <a:clrChange>
                <a:clrFrom>
                  <a:srgbClr val="FFFFFF"/>
                </a:clrFrom>
                <a:clrTo>
                  <a:srgbClr val="FFFFFF">
                    <a:alpha val="0"/>
                  </a:srgbClr>
                </a:clrTo>
              </a:clrChange>
            </a:blip>
            <a:srcRect/>
            <a:stretch>
              <a:fillRect/>
            </a:stretch>
          </p:blipFill>
          <p:spPr bwMode="auto">
            <a:xfrm>
              <a:off x="3714744" y="1714492"/>
              <a:ext cx="874324" cy="785818"/>
            </a:xfrm>
            <a:prstGeom prst="rect">
              <a:avLst/>
            </a:prstGeom>
            <a:noFill/>
            <a:ln w="9525">
              <a:noFill/>
              <a:miter lim="800000"/>
              <a:headEnd/>
              <a:tailEnd/>
            </a:ln>
            <a:effectLst/>
          </p:spPr>
        </p:pic>
      </p:grpSp>
      <p:pic>
        <p:nvPicPr>
          <p:cNvPr id="126" name="Image 125" descr="digital-icon-png-3.png"/>
          <p:cNvPicPr>
            <a:picLocks noChangeAspect="1"/>
          </p:cNvPicPr>
          <p:nvPr/>
        </p:nvPicPr>
        <p:blipFill>
          <a:blip r:embed="rId14" cstate="print"/>
          <a:stretch>
            <a:fillRect/>
          </a:stretch>
        </p:blipFill>
        <p:spPr>
          <a:xfrm>
            <a:off x="1809720" y="3943353"/>
            <a:ext cx="514354" cy="514354"/>
          </a:xfrm>
          <a:prstGeom prst="rect">
            <a:avLst/>
          </a:prstGeom>
        </p:spPr>
      </p:pic>
      <p:sp>
        <p:nvSpPr>
          <p:cNvPr id="127" name="Rectangle 126"/>
          <p:cNvSpPr/>
          <p:nvPr/>
        </p:nvSpPr>
        <p:spPr>
          <a:xfrm>
            <a:off x="1381805" y="4629157"/>
            <a:ext cx="5400000" cy="7344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grpSp>
        <p:nvGrpSpPr>
          <p:cNvPr id="83" name="Groupe 82"/>
          <p:cNvGrpSpPr/>
          <p:nvPr/>
        </p:nvGrpSpPr>
        <p:grpSpPr>
          <a:xfrm>
            <a:off x="6313204" y="5341393"/>
            <a:ext cx="1240132" cy="1200158"/>
            <a:chOff x="1643042" y="4143384"/>
            <a:chExt cx="1033443" cy="1000132"/>
          </a:xfrm>
        </p:grpSpPr>
        <p:grpSp>
          <p:nvGrpSpPr>
            <p:cNvPr id="17" name="Groupe 103"/>
            <p:cNvGrpSpPr/>
            <p:nvPr/>
          </p:nvGrpSpPr>
          <p:grpSpPr>
            <a:xfrm>
              <a:off x="1643042" y="4143384"/>
              <a:ext cx="1033443" cy="1000132"/>
              <a:chOff x="4395781" y="4214822"/>
              <a:chExt cx="1033443" cy="1000132"/>
            </a:xfrm>
          </p:grpSpPr>
          <p:sp>
            <p:nvSpPr>
              <p:cNvPr id="80" name="Organigramme : Connecteur 79"/>
              <p:cNvSpPr/>
              <p:nvPr/>
            </p:nvSpPr>
            <p:spPr>
              <a:xfrm>
                <a:off x="4429124" y="4214822"/>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2055" name="Picture 7"/>
              <p:cNvPicPr>
                <a:picLocks noChangeAspect="1" noChangeArrowheads="1"/>
              </p:cNvPicPr>
              <p:nvPr/>
            </p:nvPicPr>
            <p:blipFill>
              <a:blip r:embed="rId15">
                <a:clrChange>
                  <a:clrFrom>
                    <a:srgbClr val="FFFFFF"/>
                  </a:clrFrom>
                  <a:clrTo>
                    <a:srgbClr val="FFFFFF">
                      <a:alpha val="0"/>
                    </a:srgbClr>
                  </a:clrTo>
                </a:clrChange>
              </a:blip>
              <a:srcRect/>
              <a:stretch>
                <a:fillRect/>
              </a:stretch>
            </p:blipFill>
            <p:spPr bwMode="auto">
              <a:xfrm>
                <a:off x="4395781" y="4214822"/>
                <a:ext cx="982658" cy="603278"/>
              </a:xfrm>
              <a:prstGeom prst="rect">
                <a:avLst/>
              </a:prstGeom>
              <a:noFill/>
              <a:ln w="9525">
                <a:noFill/>
                <a:miter lim="800000"/>
                <a:headEnd/>
                <a:tailEnd/>
              </a:ln>
              <a:effectLst/>
            </p:spPr>
          </p:pic>
        </p:grpSp>
        <p:pic>
          <p:nvPicPr>
            <p:cNvPr id="2057" name="Picture 9"/>
            <p:cNvPicPr>
              <a:picLocks noChangeAspect="1" noChangeArrowheads="1"/>
            </p:cNvPicPr>
            <p:nvPr/>
          </p:nvPicPr>
          <p:blipFill>
            <a:blip r:embed="rId16" cstate="print">
              <a:clrChange>
                <a:clrFrom>
                  <a:srgbClr val="F8F8F8"/>
                </a:clrFrom>
                <a:clrTo>
                  <a:srgbClr val="F8F8F8">
                    <a:alpha val="0"/>
                  </a:srgbClr>
                </a:clrTo>
              </a:clrChange>
            </a:blip>
            <a:srcRect/>
            <a:stretch>
              <a:fillRect/>
            </a:stretch>
          </p:blipFill>
          <p:spPr bwMode="auto">
            <a:xfrm>
              <a:off x="1857356" y="4643450"/>
              <a:ext cx="631835" cy="481831"/>
            </a:xfrm>
            <a:prstGeom prst="rect">
              <a:avLst/>
            </a:prstGeom>
            <a:noFill/>
            <a:ln w="9525">
              <a:noFill/>
              <a:miter lim="800000"/>
              <a:headEnd/>
              <a:tailEnd/>
            </a:ln>
            <a:effectLst/>
          </p:spPr>
        </p:pic>
      </p:grpSp>
      <p:sp>
        <p:nvSpPr>
          <p:cNvPr id="129" name="Chevron 128"/>
          <p:cNvSpPr/>
          <p:nvPr/>
        </p:nvSpPr>
        <p:spPr>
          <a:xfrm flipH="1">
            <a:off x="6181726" y="2716765"/>
            <a:ext cx="171451" cy="257177"/>
          </a:xfrm>
          <a:prstGeom prst="chevron">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30" name="Chevron 129"/>
          <p:cNvSpPr/>
          <p:nvPr/>
        </p:nvSpPr>
        <p:spPr>
          <a:xfrm>
            <a:off x="5324470" y="4543432"/>
            <a:ext cx="171451" cy="257177"/>
          </a:xfrm>
          <a:prstGeom prst="chevr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31" name="Ellipse 130"/>
          <p:cNvSpPr/>
          <p:nvPr/>
        </p:nvSpPr>
        <p:spPr>
          <a:xfrm>
            <a:off x="9096396" y="4473169"/>
            <a:ext cx="342902" cy="327439"/>
          </a:xfrm>
          <a:prstGeom prst="ellipse">
            <a:avLst/>
          </a:prstGeom>
          <a:solidFill>
            <a:schemeClr val="bg1"/>
          </a:solidFill>
          <a:ln w="285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grpSp>
        <p:nvGrpSpPr>
          <p:cNvPr id="12" name="Groupe 102"/>
          <p:cNvGrpSpPr/>
          <p:nvPr/>
        </p:nvGrpSpPr>
        <p:grpSpPr>
          <a:xfrm>
            <a:off x="6524667" y="4114804"/>
            <a:ext cx="1371571" cy="1200158"/>
            <a:chOff x="3786182" y="3000376"/>
            <a:chExt cx="1142976" cy="1000132"/>
          </a:xfrm>
        </p:grpSpPr>
        <p:sp>
          <p:nvSpPr>
            <p:cNvPr id="55" name="Organigramme : Connecteur 54"/>
            <p:cNvSpPr/>
            <p:nvPr/>
          </p:nvSpPr>
          <p:spPr>
            <a:xfrm>
              <a:off x="3929058" y="3000376"/>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2054" name="Picture 6"/>
            <p:cNvPicPr>
              <a:picLocks noChangeAspect="1" noChangeArrowheads="1"/>
            </p:cNvPicPr>
            <p:nvPr/>
          </p:nvPicPr>
          <p:blipFill>
            <a:blip r:embed="rId17">
              <a:clrChange>
                <a:clrFrom>
                  <a:srgbClr val="FFFFFF"/>
                </a:clrFrom>
                <a:clrTo>
                  <a:srgbClr val="FFFFFF">
                    <a:alpha val="0"/>
                  </a:srgbClr>
                </a:clrTo>
              </a:clrChange>
            </a:blip>
            <a:srcRect/>
            <a:stretch>
              <a:fillRect/>
            </a:stretch>
          </p:blipFill>
          <p:spPr bwMode="auto">
            <a:xfrm>
              <a:off x="3786182" y="3143252"/>
              <a:ext cx="1122172" cy="656881"/>
            </a:xfrm>
            <a:prstGeom prst="rect">
              <a:avLst/>
            </a:prstGeom>
            <a:noFill/>
            <a:ln w="9525">
              <a:noFill/>
              <a:miter lim="800000"/>
              <a:headEnd/>
              <a:tailEnd/>
            </a:ln>
            <a:effectLst/>
          </p:spPr>
        </p:pic>
      </p:grpSp>
      <p:sp>
        <p:nvSpPr>
          <p:cNvPr id="123" name="Ellipse 122"/>
          <p:cNvSpPr/>
          <p:nvPr/>
        </p:nvSpPr>
        <p:spPr>
          <a:xfrm>
            <a:off x="2924153" y="4473169"/>
            <a:ext cx="342902" cy="327439"/>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sp>
        <p:nvSpPr>
          <p:cNvPr id="102" name="ZoneTexte 101"/>
          <p:cNvSpPr txBox="1"/>
          <p:nvPr/>
        </p:nvSpPr>
        <p:spPr>
          <a:xfrm rot="1946789">
            <a:off x="2617872" y="2255000"/>
            <a:ext cx="873957" cy="276999"/>
          </a:xfrm>
          <a:prstGeom prst="rect">
            <a:avLst/>
          </a:prstGeom>
          <a:noFill/>
        </p:spPr>
        <p:txBody>
          <a:bodyPr wrap="none" rtlCol="0">
            <a:spAutoFit/>
          </a:bodyPr>
          <a:lstStyle/>
          <a:p>
            <a:r>
              <a:rPr lang="fr-FR" sz="1200" b="1" dirty="0">
                <a:solidFill>
                  <a:schemeClr val="bg1"/>
                </a:solidFill>
                <a:latin typeface="Agency FB" pitchFamily="34" charset="0"/>
              </a:rPr>
              <a:t>G. partenaire</a:t>
            </a:r>
          </a:p>
        </p:txBody>
      </p:sp>
      <p:pic>
        <p:nvPicPr>
          <p:cNvPr id="104" name="Picture 8"/>
          <p:cNvPicPr>
            <a:picLocks noChangeAspect="1" noChangeArrowheads="1"/>
          </p:cNvPicPr>
          <p:nvPr/>
        </p:nvPicPr>
        <p:blipFill>
          <a:blip r:embed="rId18" cstate="print">
            <a:clrChange>
              <a:clrFrom>
                <a:srgbClr val="F8FAFB"/>
              </a:clrFrom>
              <a:clrTo>
                <a:srgbClr val="F8FAFB">
                  <a:alpha val="0"/>
                </a:srgbClr>
              </a:clrTo>
            </a:clrChange>
          </a:blip>
          <a:srcRect/>
          <a:stretch>
            <a:fillRect/>
          </a:stretch>
        </p:blipFill>
        <p:spPr bwMode="auto">
          <a:xfrm>
            <a:off x="8347742" y="2368948"/>
            <a:ext cx="320027" cy="288522"/>
          </a:xfrm>
          <a:prstGeom prst="rect">
            <a:avLst/>
          </a:prstGeom>
          <a:noFill/>
          <a:ln w="9525">
            <a:noFill/>
            <a:miter lim="800000"/>
            <a:headEnd/>
            <a:tailEnd/>
          </a:ln>
          <a:effectLst/>
        </p:spPr>
      </p:pic>
      <p:sp>
        <p:nvSpPr>
          <p:cNvPr id="82" name="ZoneTexte 81"/>
          <p:cNvSpPr txBox="1"/>
          <p:nvPr/>
        </p:nvSpPr>
        <p:spPr>
          <a:xfrm>
            <a:off x="721893" y="600055"/>
            <a:ext cx="1034257" cy="683264"/>
          </a:xfrm>
          <a:prstGeom prst="rect">
            <a:avLst/>
          </a:prstGeom>
          <a:solidFill>
            <a:schemeClr val="bg1"/>
          </a:solidFill>
          <a:ln>
            <a:solidFill>
              <a:schemeClr val="bg2">
                <a:lumMod val="75000"/>
              </a:schemeClr>
            </a:solidFill>
          </a:ln>
        </p:spPr>
        <p:style>
          <a:lnRef idx="2">
            <a:schemeClr val="dk1"/>
          </a:lnRef>
          <a:fillRef idx="1">
            <a:schemeClr val="lt1"/>
          </a:fillRef>
          <a:effectRef idx="0">
            <a:schemeClr val="dk1"/>
          </a:effectRef>
          <a:fontRef idx="minor">
            <a:schemeClr val="dk1"/>
          </a:fontRef>
        </p:style>
        <p:txBody>
          <a:bodyPr wrap="none" rtlCol="0">
            <a:spAutoFit/>
          </a:bodyPr>
          <a:lstStyle/>
          <a:p>
            <a:pPr algn="ctr"/>
            <a:r>
              <a:rPr lang="fr-FR" sz="1920" dirty="0">
                <a:latin typeface="Agency FB" pitchFamily="34" charset="0"/>
              </a:rPr>
              <a:t>PEC </a:t>
            </a:r>
          </a:p>
          <a:p>
            <a:pPr algn="ctr"/>
            <a:r>
              <a:rPr lang="fr-FR" sz="1920" dirty="0">
                <a:latin typeface="Agency FB" pitchFamily="34" charset="0"/>
              </a:rPr>
              <a:t>Réparation</a:t>
            </a:r>
          </a:p>
        </p:txBody>
      </p:sp>
      <p:sp>
        <p:nvSpPr>
          <p:cNvPr id="84" name="Espace réservé du contenu 8"/>
          <p:cNvSpPr>
            <a:spLocks noGrp="1"/>
          </p:cNvSpPr>
          <p:nvPr>
            <p:ph sz="quarter" idx="12"/>
          </p:nvPr>
        </p:nvSpPr>
        <p:spPr bwMode="auto">
          <a:xfrm>
            <a:off x="5324470" y="6539866"/>
            <a:ext cx="6128390" cy="330794"/>
          </a:xfrm>
          <a:noFill/>
          <a:ln>
            <a:miter lim="800000"/>
            <a:headEnd/>
            <a:tailEnd/>
          </a:ln>
        </p:spPr>
        <p:txBody>
          <a:bodyPr wrap="square" numCol="1" anchorCtr="0" compatLnSpc="1">
            <a:prstTxWarp prst="textNoShape">
              <a:avLst/>
            </a:prstTxWarp>
          </a:bodyPr>
          <a:lstStyle/>
          <a:p>
            <a:pPr defTabSz="910554" fontAlgn="base">
              <a:spcBef>
                <a:spcPct val="0"/>
              </a:spcBef>
              <a:spcAft>
                <a:spcPct val="0"/>
              </a:spcAft>
            </a:pPr>
            <a:r>
              <a:rPr lang="fr-FR" b="1" dirty="0">
                <a:solidFill>
                  <a:schemeClr val="bg1"/>
                </a:solidFill>
                <a:latin typeface="Arial" charset="0"/>
                <a:cs typeface="Arial" charset="0"/>
              </a:rPr>
              <a:t>Direction </a:t>
            </a:r>
            <a:r>
              <a:rPr lang="fr-FR" b="1" dirty="0" smtClean="0">
                <a:solidFill>
                  <a:schemeClr val="bg1"/>
                </a:solidFill>
                <a:latin typeface="Arial" charset="0"/>
                <a:cs typeface="Arial" charset="0"/>
              </a:rPr>
              <a:t>Sinistres </a:t>
            </a:r>
            <a:r>
              <a:rPr lang="fr-FR" b="1" dirty="0">
                <a:solidFill>
                  <a:schemeClr val="bg1"/>
                </a:solidFill>
                <a:latin typeface="Arial" charset="0"/>
                <a:cs typeface="Arial" charset="0"/>
              </a:rPr>
              <a:t>Auto Matériels</a:t>
            </a:r>
          </a:p>
        </p:txBody>
      </p:sp>
      <p:grpSp>
        <p:nvGrpSpPr>
          <p:cNvPr id="92" name="Groupe 102"/>
          <p:cNvGrpSpPr/>
          <p:nvPr/>
        </p:nvGrpSpPr>
        <p:grpSpPr>
          <a:xfrm>
            <a:off x="696011" y="3761191"/>
            <a:ext cx="1051752" cy="887126"/>
            <a:chOff x="3786182" y="3000376"/>
            <a:chExt cx="1142976" cy="1000132"/>
          </a:xfrm>
        </p:grpSpPr>
        <p:sp>
          <p:nvSpPr>
            <p:cNvPr id="98" name="Organigramme : Connecteur 97"/>
            <p:cNvSpPr/>
            <p:nvPr/>
          </p:nvSpPr>
          <p:spPr>
            <a:xfrm>
              <a:off x="3929058" y="3000376"/>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99" name="Picture 6"/>
            <p:cNvPicPr>
              <a:picLocks noChangeAspect="1" noChangeArrowheads="1"/>
            </p:cNvPicPr>
            <p:nvPr/>
          </p:nvPicPr>
          <p:blipFill>
            <a:blip r:embed="rId17">
              <a:clrChange>
                <a:clrFrom>
                  <a:srgbClr val="FFFFFF"/>
                </a:clrFrom>
                <a:clrTo>
                  <a:srgbClr val="FFFFFF">
                    <a:alpha val="0"/>
                  </a:srgbClr>
                </a:clrTo>
              </a:clrChange>
            </a:blip>
            <a:srcRect/>
            <a:stretch>
              <a:fillRect/>
            </a:stretch>
          </p:blipFill>
          <p:spPr bwMode="auto">
            <a:xfrm>
              <a:off x="3786182" y="3143252"/>
              <a:ext cx="1122172" cy="656881"/>
            </a:xfrm>
            <a:prstGeom prst="rect">
              <a:avLst/>
            </a:prstGeom>
            <a:noFill/>
            <a:ln w="9525">
              <a:noFill/>
              <a:miter lim="800000"/>
              <a:headEnd/>
              <a:tailEnd/>
            </a:ln>
            <a:effectLst/>
          </p:spPr>
        </p:pic>
      </p:grpSp>
      <p:sp>
        <p:nvSpPr>
          <p:cNvPr id="100" name="Rectangle 99"/>
          <p:cNvSpPr/>
          <p:nvPr/>
        </p:nvSpPr>
        <p:spPr>
          <a:xfrm>
            <a:off x="3300505" y="610967"/>
            <a:ext cx="2743219" cy="428628"/>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dirty="0">
                <a:solidFill>
                  <a:schemeClr val="tx1"/>
                </a:solidFill>
                <a:latin typeface="Agency FB" pitchFamily="34" charset="0"/>
              </a:rPr>
              <a:t>Le client  a eu un accident, il appelle son assistance </a:t>
            </a:r>
          </a:p>
        </p:txBody>
      </p:sp>
      <p:sp>
        <p:nvSpPr>
          <p:cNvPr id="101" name="Rectangle 100"/>
          <p:cNvSpPr/>
          <p:nvPr/>
        </p:nvSpPr>
        <p:spPr>
          <a:xfrm>
            <a:off x="7810512" y="613586"/>
            <a:ext cx="3429024" cy="428628"/>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dirty="0">
                <a:solidFill>
                  <a:schemeClr val="tx1"/>
                </a:solidFill>
                <a:latin typeface="Agency FB" pitchFamily="34" charset="0"/>
              </a:rPr>
              <a:t>Les prestations d’assistance sont activées conformément à la formule d’assistance souscrite par l’assuré</a:t>
            </a:r>
          </a:p>
        </p:txBody>
      </p:sp>
      <p:sp>
        <p:nvSpPr>
          <p:cNvPr id="103" name="Rectangle 102"/>
          <p:cNvSpPr/>
          <p:nvPr/>
        </p:nvSpPr>
        <p:spPr>
          <a:xfrm>
            <a:off x="8259522" y="1756409"/>
            <a:ext cx="2261581" cy="600079"/>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960" dirty="0">
                <a:solidFill>
                  <a:schemeClr val="tx1"/>
                </a:solidFill>
                <a:latin typeface="Agency FB" pitchFamily="34" charset="0"/>
              </a:rPr>
              <a:t>Le client  déclare son sinistre sur </a:t>
            </a:r>
          </a:p>
          <a:p>
            <a:pPr algn="ctr"/>
            <a:r>
              <a:rPr lang="fr-FR" sz="960" dirty="0">
                <a:solidFill>
                  <a:schemeClr val="tx1"/>
                </a:solidFill>
                <a:latin typeface="Agency FB" pitchFamily="34" charset="0"/>
              </a:rPr>
              <a:t>l’application </a:t>
            </a:r>
            <a:r>
              <a:rPr lang="fr-FR" sz="960" b="1" dirty="0" err="1">
                <a:solidFill>
                  <a:schemeClr val="tx1"/>
                </a:solidFill>
                <a:latin typeface="Agency FB" pitchFamily="34" charset="0"/>
              </a:rPr>
              <a:t>MyWafa</a:t>
            </a:r>
            <a:endParaRPr lang="fr-FR" sz="960" b="1" dirty="0">
              <a:solidFill>
                <a:schemeClr val="tx1"/>
              </a:solidFill>
              <a:latin typeface="Agency FB" pitchFamily="34" charset="0"/>
            </a:endParaRPr>
          </a:p>
          <a:p>
            <a:pPr algn="ctr"/>
            <a:r>
              <a:rPr lang="fr-FR" sz="960" dirty="0">
                <a:solidFill>
                  <a:schemeClr val="tx1"/>
                </a:solidFill>
                <a:latin typeface="Agency FB" pitchFamily="34" charset="0"/>
              </a:rPr>
              <a:t> ou </a:t>
            </a:r>
            <a:r>
              <a:rPr lang="fr-FR" sz="960" b="1" dirty="0">
                <a:solidFill>
                  <a:schemeClr val="tx1"/>
                </a:solidFill>
                <a:latin typeface="Agency FB" pitchFamily="34" charset="0"/>
              </a:rPr>
              <a:t>par téléphone à la plateforme ou chez son intermédiaire en transmettant le document de base</a:t>
            </a:r>
          </a:p>
        </p:txBody>
      </p:sp>
      <p:sp>
        <p:nvSpPr>
          <p:cNvPr id="108" name="ZoneTexte 107"/>
          <p:cNvSpPr txBox="1"/>
          <p:nvPr/>
        </p:nvSpPr>
        <p:spPr>
          <a:xfrm>
            <a:off x="6333419" y="3060389"/>
            <a:ext cx="2375824" cy="295466"/>
          </a:xfrm>
          <a:prstGeom prst="rect">
            <a:avLst/>
          </a:prstGeom>
          <a:noFill/>
        </p:spPr>
        <p:txBody>
          <a:bodyPr wrap="square" rtlCol="0">
            <a:spAutoFit/>
          </a:bodyPr>
          <a:lstStyle/>
          <a:p>
            <a:r>
              <a:rPr lang="fr-FR" sz="1320" b="1" dirty="0">
                <a:solidFill>
                  <a:srgbClr val="92D050"/>
                </a:solidFill>
                <a:latin typeface="Agency FB" pitchFamily="34" charset="0"/>
              </a:rPr>
              <a:t>Validation de la prise en charge </a:t>
            </a:r>
          </a:p>
        </p:txBody>
      </p:sp>
      <p:pic>
        <p:nvPicPr>
          <p:cNvPr id="13" name="Image 12"/>
          <p:cNvPicPr>
            <a:picLocks noChangeAspect="1"/>
          </p:cNvPicPr>
          <p:nvPr/>
        </p:nvPicPr>
        <p:blipFill>
          <a:blip r:embed="rId19"/>
          <a:stretch>
            <a:fillRect/>
          </a:stretch>
        </p:blipFill>
        <p:spPr>
          <a:xfrm>
            <a:off x="6696118" y="2065958"/>
            <a:ext cx="1310063" cy="1043328"/>
          </a:xfrm>
          <a:prstGeom prst="ellipse">
            <a:avLst/>
          </a:prstGeom>
          <a:ln w="63500" cap="rnd">
            <a:solidFill>
              <a:schemeClr val="bg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0" name="Rectangle 19"/>
          <p:cNvSpPr/>
          <p:nvPr/>
        </p:nvSpPr>
        <p:spPr>
          <a:xfrm>
            <a:off x="3976478" y="3356977"/>
            <a:ext cx="2516974" cy="674819"/>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a:solidFill>
                  <a:srgbClr val="00B050"/>
                </a:solidFill>
                <a:latin typeface="Agency FB" pitchFamily="34" charset="0"/>
              </a:rPr>
              <a:t>Le client récupère sa prise en charge auprès de son intermédiaire ou depuis l'application digitale</a:t>
            </a:r>
          </a:p>
        </p:txBody>
      </p:sp>
      <p:pic>
        <p:nvPicPr>
          <p:cNvPr id="21" name="Image 20"/>
          <p:cNvPicPr>
            <a:picLocks noChangeAspect="1"/>
          </p:cNvPicPr>
          <p:nvPr/>
        </p:nvPicPr>
        <p:blipFill>
          <a:blip r:embed="rId20"/>
          <a:stretch>
            <a:fillRect/>
          </a:stretch>
        </p:blipFill>
        <p:spPr>
          <a:xfrm>
            <a:off x="4296126" y="2134372"/>
            <a:ext cx="1308574" cy="1130489"/>
          </a:xfrm>
          <a:prstGeom prst="ellipse">
            <a:avLst/>
          </a:prstGeom>
          <a:ln w="63500" cap="rnd">
            <a:solidFill>
              <a:schemeClr val="bg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09" name="ZoneTexte 108"/>
          <p:cNvSpPr txBox="1"/>
          <p:nvPr/>
        </p:nvSpPr>
        <p:spPr>
          <a:xfrm>
            <a:off x="2419660" y="4052713"/>
            <a:ext cx="3076261" cy="424732"/>
          </a:xfrm>
          <a:prstGeom prst="rect">
            <a:avLst/>
          </a:prstGeom>
          <a:noFill/>
        </p:spPr>
        <p:txBody>
          <a:bodyPr wrap="square" rtlCol="0">
            <a:spAutoFit/>
          </a:bodyPr>
          <a:lstStyle/>
          <a:p>
            <a:pPr algn="ctr"/>
            <a:r>
              <a:rPr lang="fr-FR" sz="1080" b="1" dirty="0">
                <a:latin typeface="Agency FB" pitchFamily="34" charset="0"/>
              </a:rPr>
              <a:t>Réparateur communique à l'assuré et à l'expert la date prévisionnelle de  livraison du VH réparé</a:t>
            </a:r>
          </a:p>
        </p:txBody>
      </p:sp>
    </p:spTree>
    <p:extLst>
      <p:ext uri="{BB962C8B-B14F-4D97-AF65-F5344CB8AC3E}">
        <p14:creationId xmlns:p14="http://schemas.microsoft.com/office/powerpoint/2010/main" val="422297450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Rectangle à coins arrondis 77"/>
          <p:cNvSpPr/>
          <p:nvPr/>
        </p:nvSpPr>
        <p:spPr>
          <a:xfrm>
            <a:off x="2084043" y="3429001"/>
            <a:ext cx="3317581" cy="320323"/>
          </a:xfrm>
          <a:prstGeom prst="roundRect">
            <a:avLst>
              <a:gd name="adj" fmla="val 50000"/>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p>
        </p:txBody>
      </p:sp>
      <p:sp>
        <p:nvSpPr>
          <p:cNvPr id="81" name="Rectangle 80"/>
          <p:cNvSpPr/>
          <p:nvPr/>
        </p:nvSpPr>
        <p:spPr>
          <a:xfrm>
            <a:off x="1751024" y="3369715"/>
            <a:ext cx="3671794" cy="379609"/>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38880" rIns="38880" rtlCol="0" anchor="ctr"/>
          <a:lstStyle/>
          <a:p>
            <a:pPr algn="ctr"/>
            <a:r>
              <a:rPr lang="fr-FR" sz="1134" dirty="0">
                <a:solidFill>
                  <a:schemeClr val="tx1"/>
                </a:solidFill>
                <a:latin typeface="Agency FB" pitchFamily="34" charset="0"/>
              </a:rPr>
              <a:t>L’expertise du véhicule est faite à distance dans maximum </a:t>
            </a:r>
            <a:r>
              <a:rPr lang="fr-FR" sz="1296" b="1" dirty="0">
                <a:solidFill>
                  <a:schemeClr val="tx1"/>
                </a:solidFill>
                <a:latin typeface="Agency FB" pitchFamily="34" charset="0"/>
              </a:rPr>
              <a:t>2H</a:t>
            </a:r>
          </a:p>
        </p:txBody>
      </p:sp>
      <p:sp>
        <p:nvSpPr>
          <p:cNvPr id="14" name="Virage 13"/>
          <p:cNvSpPr/>
          <p:nvPr/>
        </p:nvSpPr>
        <p:spPr>
          <a:xfrm rot="10800000">
            <a:off x="1819709" y="2781218"/>
            <a:ext cx="8864640" cy="164005"/>
          </a:xfrm>
          <a:prstGeom prst="bentArrow">
            <a:avLst>
              <a:gd name="adj1" fmla="val 41310"/>
              <a:gd name="adj2" fmla="val 25000"/>
              <a:gd name="adj3" fmla="val 25000"/>
              <a:gd name="adj4" fmla="val 95655"/>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solidFill>
                <a:schemeClr val="tx1"/>
              </a:solidFill>
            </a:endParaRPr>
          </a:p>
        </p:txBody>
      </p:sp>
      <p:sp>
        <p:nvSpPr>
          <p:cNvPr id="120" name="Rectangle 119"/>
          <p:cNvSpPr/>
          <p:nvPr/>
        </p:nvSpPr>
        <p:spPr>
          <a:xfrm>
            <a:off x="1852583" y="2865142"/>
            <a:ext cx="3343680" cy="660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solidFill>
                <a:schemeClr val="tx1"/>
              </a:solidFill>
            </a:endParaRPr>
          </a:p>
        </p:txBody>
      </p:sp>
      <p:pic>
        <p:nvPicPr>
          <p:cNvPr id="2050" name="Picture 2"/>
          <p:cNvPicPr>
            <a:picLocks noChangeAspect="1" noChangeArrowheads="1"/>
          </p:cNvPicPr>
          <p:nvPr/>
        </p:nvPicPr>
        <p:blipFill>
          <a:blip r:embed="rId3" cstate="print"/>
          <a:srcRect/>
          <a:stretch>
            <a:fillRect/>
          </a:stretch>
        </p:blipFill>
        <p:spPr bwMode="auto">
          <a:xfrm>
            <a:off x="1235394" y="314177"/>
            <a:ext cx="9875520" cy="441965"/>
          </a:xfrm>
          <a:prstGeom prst="rect">
            <a:avLst/>
          </a:prstGeom>
          <a:noFill/>
          <a:ln w="9525">
            <a:noFill/>
            <a:miter lim="800000"/>
            <a:headEnd/>
            <a:tailEnd/>
          </a:ln>
        </p:spPr>
      </p:pic>
      <p:pic>
        <p:nvPicPr>
          <p:cNvPr id="5122" name="Image 4"/>
          <p:cNvPicPr>
            <a:picLocks noChangeAspect="1"/>
          </p:cNvPicPr>
          <p:nvPr/>
        </p:nvPicPr>
        <p:blipFill>
          <a:blip r:embed="rId4" cstate="print"/>
          <a:srcRect/>
          <a:stretch>
            <a:fillRect/>
          </a:stretch>
        </p:blipFill>
        <p:spPr bwMode="auto">
          <a:xfrm>
            <a:off x="1361320" y="396689"/>
            <a:ext cx="1235093" cy="388180"/>
          </a:xfrm>
          <a:prstGeom prst="rect">
            <a:avLst/>
          </a:prstGeom>
          <a:noFill/>
          <a:ln w="9525">
            <a:noFill/>
            <a:miter lim="800000"/>
            <a:headEnd/>
            <a:tailEnd/>
          </a:ln>
        </p:spPr>
      </p:pic>
      <p:sp>
        <p:nvSpPr>
          <p:cNvPr id="9" name="Rectangle 8"/>
          <p:cNvSpPr/>
          <p:nvPr/>
        </p:nvSpPr>
        <p:spPr>
          <a:xfrm>
            <a:off x="3974498" y="373706"/>
            <a:ext cx="7020928" cy="370437"/>
          </a:xfrm>
          <a:prstGeom prst="rect">
            <a:avLst/>
          </a:prstGeom>
        </p:spPr>
        <p:txBody>
          <a:bodyPr wrap="square" lIns="110826" tIns="55411" rIns="110826" bIns="55411">
            <a:spAutoFit/>
          </a:bodyPr>
          <a:lstStyle/>
          <a:p>
            <a:pPr algn="r"/>
            <a:r>
              <a:rPr lang="fr-FR" altLang="fr-FR" sz="1680" b="1" dirty="0">
                <a:solidFill>
                  <a:schemeClr val="accent1">
                    <a:lumMod val="50000"/>
                  </a:schemeClr>
                </a:solidFill>
                <a:ea typeface="Tahoma" pitchFamily="34" charset="0"/>
                <a:cs typeface="Tahoma" pitchFamily="34" charset="0"/>
              </a:rPr>
              <a:t>PEC Réparation dans le cadre du parcours </a:t>
            </a:r>
            <a:r>
              <a:rPr lang="fr-FR" altLang="fr-FR" sz="1680" b="1" dirty="0" smtClean="0">
                <a:solidFill>
                  <a:schemeClr val="accent1">
                    <a:lumMod val="50000"/>
                  </a:schemeClr>
                </a:solidFill>
                <a:ea typeface="Tahoma" pitchFamily="34" charset="0"/>
                <a:cs typeface="Tahoma" pitchFamily="34" charset="0"/>
              </a:rPr>
              <a:t>ISLAH SARII</a:t>
            </a:r>
            <a:endParaRPr lang="fr-FR" sz="1680" b="1" dirty="0">
              <a:solidFill>
                <a:schemeClr val="accent1">
                  <a:lumMod val="50000"/>
                </a:schemeClr>
              </a:solidFill>
              <a:ea typeface="Tahoma" pitchFamily="34" charset="0"/>
              <a:cs typeface="Tahoma" pitchFamily="34" charset="0"/>
            </a:endParaRPr>
          </a:p>
        </p:txBody>
      </p:sp>
      <p:sp>
        <p:nvSpPr>
          <p:cNvPr id="73" name="Espace réservé du numéro de diapositive 72"/>
          <p:cNvSpPr>
            <a:spLocks noGrp="1"/>
          </p:cNvSpPr>
          <p:nvPr>
            <p:ph type="sldNum" sz="quarter" idx="12"/>
          </p:nvPr>
        </p:nvSpPr>
        <p:spPr>
          <a:xfrm>
            <a:off x="8774348" y="6211728"/>
            <a:ext cx="2221079" cy="328021"/>
          </a:xfrm>
        </p:spPr>
        <p:txBody>
          <a:bodyPr/>
          <a:lstStyle/>
          <a:p>
            <a:pPr>
              <a:defRPr/>
            </a:pPr>
            <a:fld id="{E11703BC-316E-4658-AE8F-B5827D54B665}" type="slidenum">
              <a:rPr lang="fr-FR" smtClean="0"/>
              <a:pPr>
                <a:defRPr/>
              </a:pPr>
              <a:t>6</a:t>
            </a:fld>
            <a:endParaRPr lang="fr-FR" dirty="0"/>
          </a:p>
        </p:txBody>
      </p:sp>
      <p:sp>
        <p:nvSpPr>
          <p:cNvPr id="56" name="Rectangle 55"/>
          <p:cNvSpPr/>
          <p:nvPr/>
        </p:nvSpPr>
        <p:spPr>
          <a:xfrm>
            <a:off x="1196577" y="6253319"/>
            <a:ext cx="9759415" cy="208661"/>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94"/>
          </a:p>
        </p:txBody>
      </p:sp>
      <p:sp>
        <p:nvSpPr>
          <p:cNvPr id="57" name="Espace réservé du contenu 8"/>
          <p:cNvSpPr>
            <a:spLocks noGrp="1"/>
          </p:cNvSpPr>
          <p:nvPr>
            <p:ph sz="quarter" idx="11"/>
          </p:nvPr>
        </p:nvSpPr>
        <p:spPr bwMode="auto">
          <a:xfrm>
            <a:off x="1118807" y="6257953"/>
            <a:ext cx="4123850" cy="204025"/>
          </a:xfrm>
          <a:noFill/>
          <a:ln>
            <a:miter lim="800000"/>
            <a:headEnd/>
            <a:tailEnd/>
          </a:ln>
        </p:spPr>
        <p:txBody>
          <a:bodyPr wrap="square" numCol="1" anchorCtr="0" compatLnSpc="1">
            <a:prstTxWarp prst="textNoShape">
              <a:avLst/>
            </a:prstTxWarp>
          </a:bodyPr>
          <a:lstStyle/>
          <a:p>
            <a:pPr defTabSz="819499" fontAlgn="base">
              <a:spcBef>
                <a:spcPct val="0"/>
              </a:spcBef>
              <a:spcAft>
                <a:spcPct val="0"/>
              </a:spcAft>
            </a:pPr>
            <a:r>
              <a:rPr lang="fr-FR" i="1" dirty="0">
                <a:solidFill>
                  <a:schemeClr val="bg1"/>
                </a:solidFill>
                <a:latin typeface="Arial" charset="0"/>
                <a:cs typeface="Arial" charset="0"/>
              </a:rPr>
              <a:t>À usage strictement interne ou confidentiel</a:t>
            </a:r>
          </a:p>
        </p:txBody>
      </p:sp>
      <p:sp>
        <p:nvSpPr>
          <p:cNvPr id="3" name="Virage 2"/>
          <p:cNvSpPr/>
          <p:nvPr/>
        </p:nvSpPr>
        <p:spPr>
          <a:xfrm rot="10800000" flipV="1">
            <a:off x="2636190" y="1519110"/>
            <a:ext cx="8048160" cy="163984"/>
          </a:xfrm>
          <a:prstGeom prst="bentArrow">
            <a:avLst>
              <a:gd name="adj1" fmla="val 41310"/>
              <a:gd name="adj2" fmla="val 25000"/>
              <a:gd name="adj3" fmla="val 25000"/>
              <a:gd name="adj4" fmla="val 9565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solidFill>
                <a:schemeClr val="tx1"/>
              </a:solidFill>
            </a:endParaRPr>
          </a:p>
        </p:txBody>
      </p:sp>
      <p:sp>
        <p:nvSpPr>
          <p:cNvPr id="4" name="Rectangle 3"/>
          <p:cNvSpPr/>
          <p:nvPr/>
        </p:nvSpPr>
        <p:spPr>
          <a:xfrm>
            <a:off x="10614364" y="1678840"/>
            <a:ext cx="69984" cy="1144205"/>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solidFill>
                <a:schemeClr val="tx1"/>
              </a:solidFill>
            </a:endParaRPr>
          </a:p>
        </p:txBody>
      </p:sp>
      <p:sp>
        <p:nvSpPr>
          <p:cNvPr id="5" name="Arc plein 4"/>
          <p:cNvSpPr/>
          <p:nvPr/>
        </p:nvSpPr>
        <p:spPr>
          <a:xfrm rot="16200000">
            <a:off x="1015025" y="3558830"/>
            <a:ext cx="1710720" cy="344213"/>
          </a:xfrm>
          <a:prstGeom prst="blockArc">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solidFill>
                <a:schemeClr val="tx1"/>
              </a:solidFill>
            </a:endParaRPr>
          </a:p>
        </p:txBody>
      </p:sp>
      <p:sp>
        <p:nvSpPr>
          <p:cNvPr id="16" name="Virage 15"/>
          <p:cNvSpPr/>
          <p:nvPr/>
        </p:nvSpPr>
        <p:spPr>
          <a:xfrm rot="10800000" flipV="1">
            <a:off x="1858586" y="4506306"/>
            <a:ext cx="8825760" cy="163296"/>
          </a:xfrm>
          <a:prstGeom prst="bentArrow">
            <a:avLst>
              <a:gd name="adj1" fmla="val 41310"/>
              <a:gd name="adj2" fmla="val 25000"/>
              <a:gd name="adj3" fmla="val 25000"/>
              <a:gd name="adj4" fmla="val 95655"/>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solidFill>
                <a:schemeClr val="tx1"/>
              </a:solidFill>
            </a:endParaRPr>
          </a:p>
        </p:txBody>
      </p:sp>
      <p:sp>
        <p:nvSpPr>
          <p:cNvPr id="18" name="Virage 17"/>
          <p:cNvSpPr/>
          <p:nvPr/>
        </p:nvSpPr>
        <p:spPr>
          <a:xfrm rot="10800000">
            <a:off x="7496186" y="5666439"/>
            <a:ext cx="3188160" cy="178070"/>
          </a:xfrm>
          <a:prstGeom prst="bentArrow">
            <a:avLst>
              <a:gd name="adj1" fmla="val 41310"/>
              <a:gd name="adj2" fmla="val 25000"/>
              <a:gd name="adj3" fmla="val 25000"/>
              <a:gd name="adj4" fmla="val 95655"/>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solidFill>
                <a:schemeClr val="tx1"/>
              </a:solidFill>
            </a:endParaRPr>
          </a:p>
        </p:txBody>
      </p:sp>
      <p:sp>
        <p:nvSpPr>
          <p:cNvPr id="19" name="Rectangle 18"/>
          <p:cNvSpPr/>
          <p:nvPr/>
        </p:nvSpPr>
        <p:spPr>
          <a:xfrm>
            <a:off x="10614365" y="4655558"/>
            <a:ext cx="69983" cy="101088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solidFill>
                <a:schemeClr val="tx1"/>
              </a:solidFill>
            </a:endParaRPr>
          </a:p>
        </p:txBody>
      </p:sp>
      <p:sp>
        <p:nvSpPr>
          <p:cNvPr id="8" name="ZoneTexte 7"/>
          <p:cNvSpPr txBox="1"/>
          <p:nvPr/>
        </p:nvSpPr>
        <p:spPr>
          <a:xfrm>
            <a:off x="4153698" y="1706386"/>
            <a:ext cx="5192447" cy="325025"/>
          </a:xfrm>
          <a:prstGeom prst="rect">
            <a:avLst/>
          </a:prstGeom>
          <a:noFill/>
        </p:spPr>
        <p:txBody>
          <a:bodyPr wrap="none" rtlCol="0">
            <a:spAutoFit/>
          </a:bodyPr>
          <a:lstStyle/>
          <a:p>
            <a:r>
              <a:rPr lang="fr-FR" sz="1512" b="1" dirty="0">
                <a:solidFill>
                  <a:schemeClr val="tx2">
                    <a:lumMod val="75000"/>
                  </a:schemeClr>
                </a:solidFill>
                <a:latin typeface="Agency FB" pitchFamily="34" charset="0"/>
              </a:rPr>
              <a:t>Survenance de l’accident		                                      Assistance</a:t>
            </a:r>
          </a:p>
        </p:txBody>
      </p:sp>
      <p:sp>
        <p:nvSpPr>
          <p:cNvPr id="32" name="ZoneTexte 31"/>
          <p:cNvSpPr txBox="1"/>
          <p:nvPr/>
        </p:nvSpPr>
        <p:spPr>
          <a:xfrm>
            <a:off x="1430884" y="2996987"/>
            <a:ext cx="4113856" cy="441403"/>
          </a:xfrm>
          <a:prstGeom prst="rect">
            <a:avLst/>
          </a:prstGeom>
          <a:noFill/>
        </p:spPr>
        <p:txBody>
          <a:bodyPr wrap="square" rtlCol="0">
            <a:spAutoFit/>
          </a:bodyPr>
          <a:lstStyle/>
          <a:p>
            <a:pPr algn="ctr"/>
            <a:r>
              <a:rPr lang="fr-FR" sz="1134" b="1" dirty="0">
                <a:solidFill>
                  <a:schemeClr val="accent1"/>
                </a:solidFill>
                <a:latin typeface="Agency FB" pitchFamily="34" charset="0"/>
              </a:rPr>
              <a:t>Récupération du véhicule par le garagiste dans maximum 1H</a:t>
            </a:r>
          </a:p>
          <a:p>
            <a:pPr algn="ctr"/>
            <a:r>
              <a:rPr lang="fr-FR" sz="1134" b="1" dirty="0">
                <a:solidFill>
                  <a:schemeClr val="accent1"/>
                </a:solidFill>
                <a:latin typeface="Agency FB" pitchFamily="34" charset="0"/>
              </a:rPr>
              <a:t> ou dépôt du VH au garage conventionné par les soins de l’assuré</a:t>
            </a:r>
          </a:p>
        </p:txBody>
      </p:sp>
      <p:sp>
        <p:nvSpPr>
          <p:cNvPr id="34" name="ZoneTexte 33"/>
          <p:cNvSpPr txBox="1"/>
          <p:nvPr/>
        </p:nvSpPr>
        <p:spPr>
          <a:xfrm>
            <a:off x="2326070" y="4687235"/>
            <a:ext cx="3538472" cy="557717"/>
          </a:xfrm>
          <a:prstGeom prst="rect">
            <a:avLst/>
          </a:prstGeom>
          <a:noFill/>
        </p:spPr>
        <p:txBody>
          <a:bodyPr wrap="square" rtlCol="0">
            <a:spAutoFit/>
          </a:bodyPr>
          <a:lstStyle/>
          <a:p>
            <a:pPr algn="ctr"/>
            <a:r>
              <a:rPr lang="fr-FR" sz="1512" b="1" dirty="0">
                <a:latin typeface="Agency FB" pitchFamily="34" charset="0"/>
              </a:rPr>
              <a:t>Partage des Photos après réparation par le garagiste pour validation expert dans 2H</a:t>
            </a:r>
          </a:p>
        </p:txBody>
      </p:sp>
      <p:sp>
        <p:nvSpPr>
          <p:cNvPr id="35" name="ZoneTexte 34"/>
          <p:cNvSpPr txBox="1"/>
          <p:nvPr/>
        </p:nvSpPr>
        <p:spPr>
          <a:xfrm>
            <a:off x="7186712" y="4639661"/>
            <a:ext cx="3538472" cy="325025"/>
          </a:xfrm>
          <a:prstGeom prst="rect">
            <a:avLst/>
          </a:prstGeom>
          <a:noFill/>
        </p:spPr>
        <p:txBody>
          <a:bodyPr wrap="square" rtlCol="0">
            <a:spAutoFit/>
          </a:bodyPr>
          <a:lstStyle/>
          <a:p>
            <a:pPr algn="ctr"/>
            <a:r>
              <a:rPr lang="fr-FR" sz="1512" b="1" dirty="0">
                <a:solidFill>
                  <a:schemeClr val="accent4">
                    <a:lumMod val="75000"/>
                  </a:schemeClr>
                </a:solidFill>
                <a:latin typeface="Agency FB" pitchFamily="34" charset="0"/>
              </a:rPr>
              <a:t>Récupération du véhicule réparé</a:t>
            </a:r>
          </a:p>
        </p:txBody>
      </p:sp>
      <p:sp>
        <p:nvSpPr>
          <p:cNvPr id="36" name="ZoneTexte 35"/>
          <p:cNvSpPr txBox="1"/>
          <p:nvPr/>
        </p:nvSpPr>
        <p:spPr>
          <a:xfrm>
            <a:off x="7496188" y="5882200"/>
            <a:ext cx="2931816" cy="457946"/>
          </a:xfrm>
          <a:prstGeom prst="rect">
            <a:avLst/>
          </a:prstGeom>
          <a:noFill/>
        </p:spPr>
        <p:txBody>
          <a:bodyPr wrap="square" rtlCol="0">
            <a:spAutoFit/>
          </a:bodyPr>
          <a:lstStyle/>
          <a:p>
            <a:pPr algn="ctr"/>
            <a:r>
              <a:rPr lang="fr-FR" sz="1188" b="1" dirty="0">
                <a:solidFill>
                  <a:schemeClr val="accent4">
                    <a:lumMod val="75000"/>
                  </a:schemeClr>
                </a:solidFill>
                <a:latin typeface="Agency FB" pitchFamily="34" charset="0"/>
              </a:rPr>
              <a:t>Evaluation de la qualité de service à travers la First Line</a:t>
            </a:r>
          </a:p>
        </p:txBody>
      </p:sp>
      <p:sp>
        <p:nvSpPr>
          <p:cNvPr id="43" name="Ellipse 42"/>
          <p:cNvSpPr/>
          <p:nvPr/>
        </p:nvSpPr>
        <p:spPr>
          <a:xfrm>
            <a:off x="4861552" y="1399235"/>
            <a:ext cx="308612" cy="294695"/>
          </a:xfrm>
          <a:prstGeom prst="ellipse">
            <a:avLst/>
          </a:prstGeom>
          <a:solidFill>
            <a:schemeClr val="bg1"/>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dirty="0">
              <a:solidFill>
                <a:schemeClr val="tx2">
                  <a:lumMod val="50000"/>
                </a:schemeClr>
              </a:solidFill>
            </a:endParaRPr>
          </a:p>
        </p:txBody>
      </p:sp>
      <p:sp>
        <p:nvSpPr>
          <p:cNvPr id="51" name="Chevron 50"/>
          <p:cNvSpPr/>
          <p:nvPr/>
        </p:nvSpPr>
        <p:spPr>
          <a:xfrm rot="10800000">
            <a:off x="7407603" y="5589286"/>
            <a:ext cx="231460" cy="385765"/>
          </a:xfrm>
          <a:prstGeom prst="chevron">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solidFill>
                <a:schemeClr val="tx1"/>
              </a:solidFill>
            </a:endParaRPr>
          </a:p>
        </p:txBody>
      </p:sp>
      <p:sp>
        <p:nvSpPr>
          <p:cNvPr id="60" name="Chevron 59"/>
          <p:cNvSpPr/>
          <p:nvPr/>
        </p:nvSpPr>
        <p:spPr>
          <a:xfrm>
            <a:off x="9876500" y="1444814"/>
            <a:ext cx="154306" cy="231460"/>
          </a:xfrm>
          <a:prstGeom prst="chevr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solidFill>
                <a:schemeClr val="tx1"/>
              </a:solidFill>
            </a:endParaRPr>
          </a:p>
        </p:txBody>
      </p:sp>
      <p:grpSp>
        <p:nvGrpSpPr>
          <p:cNvPr id="2" name="Groupe 99"/>
          <p:cNvGrpSpPr/>
          <p:nvPr/>
        </p:nvGrpSpPr>
        <p:grpSpPr>
          <a:xfrm>
            <a:off x="6713225" y="1013470"/>
            <a:ext cx="1080108" cy="1080143"/>
            <a:chOff x="5143504" y="428608"/>
            <a:chExt cx="1000100" cy="1000132"/>
          </a:xfrm>
        </p:grpSpPr>
        <p:sp>
          <p:nvSpPr>
            <p:cNvPr id="52" name="Organigramme : Connecteur 51"/>
            <p:cNvSpPr/>
            <p:nvPr/>
          </p:nvSpPr>
          <p:spPr>
            <a:xfrm>
              <a:off x="5143504" y="428608"/>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p>
          </p:txBody>
        </p:sp>
        <p:pic>
          <p:nvPicPr>
            <p:cNvPr id="1029" name="Picture 5"/>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5357818" y="571484"/>
              <a:ext cx="642942" cy="655931"/>
            </a:xfrm>
            <a:prstGeom prst="rect">
              <a:avLst/>
            </a:prstGeom>
            <a:noFill/>
            <a:ln w="9525">
              <a:noFill/>
              <a:miter lim="800000"/>
              <a:headEnd/>
              <a:tailEnd/>
            </a:ln>
            <a:effectLst/>
          </p:spPr>
        </p:pic>
      </p:grpSp>
      <p:sp>
        <p:nvSpPr>
          <p:cNvPr id="61" name="Rectangle 60"/>
          <p:cNvSpPr/>
          <p:nvPr/>
        </p:nvSpPr>
        <p:spPr>
          <a:xfrm>
            <a:off x="3541389" y="904743"/>
            <a:ext cx="3240427" cy="385765"/>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38880" rIns="38880" rtlCol="0" anchor="ctr"/>
          <a:lstStyle/>
          <a:p>
            <a:pPr algn="ctr"/>
            <a:r>
              <a:rPr lang="fr-FR" sz="1134" dirty="0">
                <a:solidFill>
                  <a:schemeClr val="tx1"/>
                </a:solidFill>
                <a:latin typeface="Agency FB" pitchFamily="34" charset="0"/>
              </a:rPr>
              <a:t>Le client a eu un accident, il constate les dégâts et appelle son assistance </a:t>
            </a:r>
          </a:p>
        </p:txBody>
      </p:sp>
      <p:grpSp>
        <p:nvGrpSpPr>
          <p:cNvPr id="7" name="Groupe 100"/>
          <p:cNvGrpSpPr/>
          <p:nvPr/>
        </p:nvGrpSpPr>
        <p:grpSpPr>
          <a:xfrm>
            <a:off x="9953652" y="1630694"/>
            <a:ext cx="1080108" cy="1080143"/>
            <a:chOff x="8143900" y="1071550"/>
            <a:chExt cx="1000100" cy="1000132"/>
          </a:xfrm>
        </p:grpSpPr>
        <p:sp>
          <p:nvSpPr>
            <p:cNvPr id="53" name="Organigramme : Connecteur 52"/>
            <p:cNvSpPr/>
            <p:nvPr/>
          </p:nvSpPr>
          <p:spPr>
            <a:xfrm>
              <a:off x="8143900" y="1071550"/>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p>
          </p:txBody>
        </p:sp>
        <p:pic>
          <p:nvPicPr>
            <p:cNvPr id="72" name="Picture 4" descr="C:\Users\f.tabouti\Desktop\Icones\sm.png"/>
            <p:cNvPicPr>
              <a:picLocks noChangeAspect="1" noChangeArrowheads="1"/>
            </p:cNvPicPr>
            <p:nvPr/>
          </p:nvPicPr>
          <p:blipFill>
            <a:blip r:embed="rId6" cstate="print"/>
            <a:srcRect/>
            <a:stretch>
              <a:fillRect/>
            </a:stretch>
          </p:blipFill>
          <p:spPr bwMode="auto">
            <a:xfrm>
              <a:off x="8215338" y="1357302"/>
              <a:ext cx="500066" cy="500066"/>
            </a:xfrm>
            <a:prstGeom prst="rect">
              <a:avLst/>
            </a:prstGeom>
            <a:noFill/>
          </p:spPr>
        </p:pic>
        <p:pic>
          <p:nvPicPr>
            <p:cNvPr id="74" name="Image 73" descr="tel.png"/>
            <p:cNvPicPr>
              <a:picLocks noChangeAspect="1"/>
            </p:cNvPicPr>
            <p:nvPr/>
          </p:nvPicPr>
          <p:blipFill>
            <a:blip r:embed="rId7" cstate="print"/>
            <a:stretch>
              <a:fillRect/>
            </a:stretch>
          </p:blipFill>
          <p:spPr>
            <a:xfrm>
              <a:off x="8715404" y="1428740"/>
              <a:ext cx="357190" cy="357190"/>
            </a:xfrm>
            <a:prstGeom prst="rect">
              <a:avLst/>
            </a:prstGeom>
          </p:spPr>
        </p:pic>
      </p:grpSp>
      <p:pic>
        <p:nvPicPr>
          <p:cNvPr id="76" name="Image 75" descr="photo.png"/>
          <p:cNvPicPr>
            <a:picLocks noChangeAspect="1"/>
          </p:cNvPicPr>
          <p:nvPr/>
        </p:nvPicPr>
        <p:blipFill>
          <a:blip r:embed="rId8" cstate="print"/>
          <a:stretch>
            <a:fillRect/>
          </a:stretch>
        </p:blipFill>
        <p:spPr>
          <a:xfrm>
            <a:off x="7651766" y="2556530"/>
            <a:ext cx="154306" cy="154306"/>
          </a:xfrm>
          <a:prstGeom prst="rect">
            <a:avLst/>
          </a:prstGeom>
        </p:spPr>
      </p:pic>
      <p:grpSp>
        <p:nvGrpSpPr>
          <p:cNvPr id="10" name="Groupe 98"/>
          <p:cNvGrpSpPr/>
          <p:nvPr/>
        </p:nvGrpSpPr>
        <p:grpSpPr>
          <a:xfrm>
            <a:off x="2546961" y="1013470"/>
            <a:ext cx="1157296" cy="1080143"/>
            <a:chOff x="1071538" y="428608"/>
            <a:chExt cx="1071570" cy="1000132"/>
          </a:xfrm>
        </p:grpSpPr>
        <p:sp>
          <p:nvSpPr>
            <p:cNvPr id="6" name="Organigramme : Connecteur 5"/>
            <p:cNvSpPr/>
            <p:nvPr/>
          </p:nvSpPr>
          <p:spPr>
            <a:xfrm>
              <a:off x="1143008" y="428608"/>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p>
          </p:txBody>
        </p:sp>
        <p:pic>
          <p:nvPicPr>
            <p:cNvPr id="2051" name="Picture 3"/>
            <p:cNvPicPr>
              <a:picLocks noChangeAspect="1" noChangeArrowheads="1"/>
            </p:cNvPicPr>
            <p:nvPr/>
          </p:nvPicPr>
          <p:blipFill>
            <a:blip r:embed="rId9">
              <a:clrChange>
                <a:clrFrom>
                  <a:srgbClr val="FFFFFF"/>
                </a:clrFrom>
                <a:clrTo>
                  <a:srgbClr val="FFFFFF">
                    <a:alpha val="0"/>
                  </a:srgbClr>
                </a:clrTo>
              </a:clrChange>
            </a:blip>
            <a:srcRect/>
            <a:stretch>
              <a:fillRect/>
            </a:stretch>
          </p:blipFill>
          <p:spPr bwMode="auto">
            <a:xfrm>
              <a:off x="1071538" y="571484"/>
              <a:ext cx="1049990" cy="618399"/>
            </a:xfrm>
            <a:prstGeom prst="rect">
              <a:avLst/>
            </a:prstGeom>
            <a:noFill/>
            <a:ln w="9525">
              <a:noFill/>
              <a:miter lim="800000"/>
              <a:headEnd/>
              <a:tailEnd/>
            </a:ln>
            <a:effectLst/>
          </p:spPr>
        </p:pic>
      </p:grpSp>
      <p:grpSp>
        <p:nvGrpSpPr>
          <p:cNvPr id="11" name="Groupe 101"/>
          <p:cNvGrpSpPr/>
          <p:nvPr/>
        </p:nvGrpSpPr>
        <p:grpSpPr>
          <a:xfrm>
            <a:off x="1169814" y="3224678"/>
            <a:ext cx="941038" cy="1080143"/>
            <a:chOff x="428596" y="1643054"/>
            <a:chExt cx="1000100" cy="1000132"/>
          </a:xfrm>
        </p:grpSpPr>
        <p:sp>
          <p:nvSpPr>
            <p:cNvPr id="79" name="Organigramme : Connecteur 78"/>
            <p:cNvSpPr/>
            <p:nvPr/>
          </p:nvSpPr>
          <p:spPr>
            <a:xfrm>
              <a:off x="428596" y="1643054"/>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p>
          </p:txBody>
        </p:sp>
        <p:pic>
          <p:nvPicPr>
            <p:cNvPr id="2053" name="Picture 5"/>
            <p:cNvPicPr>
              <a:picLocks noChangeAspect="1" noChangeArrowheads="1"/>
            </p:cNvPicPr>
            <p:nvPr/>
          </p:nvPicPr>
          <p:blipFill>
            <a:blip r:embed="rId10">
              <a:clrChange>
                <a:clrFrom>
                  <a:srgbClr val="FFFFFF"/>
                </a:clrFrom>
                <a:clrTo>
                  <a:srgbClr val="FFFFFF">
                    <a:alpha val="0"/>
                  </a:srgbClr>
                </a:clrTo>
              </a:clrChange>
            </a:blip>
            <a:srcRect/>
            <a:stretch>
              <a:fillRect/>
            </a:stretch>
          </p:blipFill>
          <p:spPr bwMode="auto">
            <a:xfrm>
              <a:off x="428596" y="1714492"/>
              <a:ext cx="969993" cy="785818"/>
            </a:xfrm>
            <a:prstGeom prst="rect">
              <a:avLst/>
            </a:prstGeom>
            <a:noFill/>
            <a:ln w="9525">
              <a:noFill/>
              <a:miter lim="800000"/>
              <a:headEnd/>
              <a:tailEnd/>
            </a:ln>
            <a:effectLst/>
          </p:spPr>
        </p:pic>
      </p:grpSp>
      <p:sp>
        <p:nvSpPr>
          <p:cNvPr id="85" name="ZoneTexte 84"/>
          <p:cNvSpPr txBox="1"/>
          <p:nvPr/>
        </p:nvSpPr>
        <p:spPr>
          <a:xfrm>
            <a:off x="7394156" y="3019449"/>
            <a:ext cx="1688283" cy="325025"/>
          </a:xfrm>
          <a:prstGeom prst="rect">
            <a:avLst/>
          </a:prstGeom>
          <a:noFill/>
        </p:spPr>
        <p:txBody>
          <a:bodyPr wrap="none" rtlCol="0">
            <a:spAutoFit/>
          </a:bodyPr>
          <a:lstStyle/>
          <a:p>
            <a:r>
              <a:rPr lang="fr-FR" sz="1512" b="1" dirty="0">
                <a:solidFill>
                  <a:schemeClr val="accent6">
                    <a:lumMod val="75000"/>
                  </a:schemeClr>
                </a:solidFill>
                <a:latin typeface="Agency FB" pitchFamily="34" charset="0"/>
              </a:rPr>
              <a:t>Déclaration du sinistre</a:t>
            </a:r>
          </a:p>
        </p:txBody>
      </p:sp>
      <p:sp>
        <p:nvSpPr>
          <p:cNvPr id="86" name="Ellipse 85"/>
          <p:cNvSpPr/>
          <p:nvPr/>
        </p:nvSpPr>
        <p:spPr>
          <a:xfrm>
            <a:off x="8950663" y="1399235"/>
            <a:ext cx="308612" cy="294695"/>
          </a:xfrm>
          <a:prstGeom prst="ellipse">
            <a:avLst/>
          </a:prstGeom>
          <a:solidFill>
            <a:schemeClr val="bg1"/>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dirty="0">
              <a:solidFill>
                <a:schemeClr val="tx2">
                  <a:lumMod val="50000"/>
                </a:schemeClr>
              </a:solidFill>
            </a:endParaRPr>
          </a:p>
        </p:txBody>
      </p:sp>
      <p:sp>
        <p:nvSpPr>
          <p:cNvPr id="87" name="Rectangle 86"/>
          <p:cNvSpPr/>
          <p:nvPr/>
        </p:nvSpPr>
        <p:spPr>
          <a:xfrm>
            <a:off x="7639061" y="960104"/>
            <a:ext cx="3086122" cy="385765"/>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38880" rIns="38880" rtlCol="0" anchor="ctr"/>
          <a:lstStyle/>
          <a:p>
            <a:pPr algn="ctr"/>
            <a:r>
              <a:rPr lang="fr-FR" sz="1134" dirty="0">
                <a:solidFill>
                  <a:schemeClr val="tx1"/>
                </a:solidFill>
                <a:latin typeface="Agency FB" pitchFamily="34" charset="0"/>
              </a:rPr>
              <a:t>Les prestations d’assistance sont activées conformément à la formule d’assistance souscrite par </a:t>
            </a:r>
            <a:r>
              <a:rPr lang="fr-FR" sz="1134" dirty="0" smtClean="0">
                <a:solidFill>
                  <a:schemeClr val="tx1"/>
                </a:solidFill>
                <a:latin typeface="Agency FB" pitchFamily="34" charset="0"/>
              </a:rPr>
              <a:t>l’assuré</a:t>
            </a:r>
            <a:endParaRPr lang="fr-FR" sz="1134" dirty="0">
              <a:solidFill>
                <a:schemeClr val="tx1"/>
              </a:solidFill>
              <a:latin typeface="Agency FB" pitchFamily="34" charset="0"/>
            </a:endParaRPr>
          </a:p>
        </p:txBody>
      </p:sp>
      <p:sp>
        <p:nvSpPr>
          <p:cNvPr id="88" name="Ellipse 87"/>
          <p:cNvSpPr/>
          <p:nvPr/>
        </p:nvSpPr>
        <p:spPr>
          <a:xfrm>
            <a:off x="9182122" y="2766734"/>
            <a:ext cx="308612" cy="294695"/>
          </a:xfrm>
          <a:prstGeom prst="ellipse">
            <a:avLst/>
          </a:prstGeom>
          <a:solidFill>
            <a:schemeClr val="bg1"/>
          </a:solid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dirty="0">
              <a:solidFill>
                <a:schemeClr val="tx2">
                  <a:lumMod val="50000"/>
                </a:schemeClr>
              </a:solidFill>
            </a:endParaRPr>
          </a:p>
        </p:txBody>
      </p:sp>
      <p:sp>
        <p:nvSpPr>
          <p:cNvPr id="89" name="Rectangle 88"/>
          <p:cNvSpPr/>
          <p:nvPr/>
        </p:nvSpPr>
        <p:spPr>
          <a:xfrm>
            <a:off x="8333439" y="2170766"/>
            <a:ext cx="1928826" cy="540071"/>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38880" rIns="38880" rtlCol="0" anchor="ctr"/>
          <a:lstStyle/>
          <a:p>
            <a:pPr algn="ctr"/>
            <a:r>
              <a:rPr lang="fr-FR" sz="1134" dirty="0">
                <a:solidFill>
                  <a:schemeClr val="tx1"/>
                </a:solidFill>
                <a:latin typeface="Agency FB" pitchFamily="34" charset="0"/>
              </a:rPr>
              <a:t>Il déclare son sinistre sur </a:t>
            </a:r>
          </a:p>
          <a:p>
            <a:pPr algn="ctr"/>
            <a:r>
              <a:rPr lang="fr-FR" sz="1134" dirty="0">
                <a:solidFill>
                  <a:schemeClr val="tx1"/>
                </a:solidFill>
                <a:latin typeface="Agency FB" pitchFamily="34" charset="0"/>
              </a:rPr>
              <a:t>l’application </a:t>
            </a:r>
            <a:r>
              <a:rPr lang="fr-FR" sz="1134" b="1" dirty="0" err="1">
                <a:solidFill>
                  <a:schemeClr val="tx1"/>
                </a:solidFill>
                <a:latin typeface="Agency FB" pitchFamily="34" charset="0"/>
              </a:rPr>
              <a:t>MyWafa</a:t>
            </a:r>
            <a:endParaRPr lang="fr-FR" sz="1134" b="1" dirty="0">
              <a:solidFill>
                <a:schemeClr val="tx1"/>
              </a:solidFill>
              <a:latin typeface="Agency FB" pitchFamily="34" charset="0"/>
            </a:endParaRPr>
          </a:p>
          <a:p>
            <a:pPr algn="ctr"/>
            <a:r>
              <a:rPr lang="fr-FR" sz="1134" dirty="0">
                <a:solidFill>
                  <a:schemeClr val="tx1"/>
                </a:solidFill>
                <a:latin typeface="Agency FB" pitchFamily="34" charset="0"/>
              </a:rPr>
              <a:t> ou </a:t>
            </a:r>
            <a:r>
              <a:rPr lang="fr-FR" sz="1134" b="1" dirty="0">
                <a:solidFill>
                  <a:schemeClr val="tx1"/>
                </a:solidFill>
                <a:latin typeface="Agency FB" pitchFamily="34" charset="0"/>
              </a:rPr>
              <a:t>par téléphone ou chez son intermédiaire</a:t>
            </a:r>
          </a:p>
        </p:txBody>
      </p:sp>
      <p:sp>
        <p:nvSpPr>
          <p:cNvPr id="91" name="Rectangle 90"/>
          <p:cNvSpPr/>
          <p:nvPr/>
        </p:nvSpPr>
        <p:spPr>
          <a:xfrm>
            <a:off x="1543972" y="2117399"/>
            <a:ext cx="3317581" cy="617225"/>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38880" rIns="38880" rtlCol="0" anchor="ctr"/>
          <a:lstStyle/>
          <a:p>
            <a:pPr algn="ctr"/>
            <a:r>
              <a:rPr lang="fr-FR" sz="1134" dirty="0">
                <a:solidFill>
                  <a:schemeClr val="tx1"/>
                </a:solidFill>
                <a:latin typeface="Agency FB" pitchFamily="34" charset="0"/>
              </a:rPr>
              <a:t>Etant un choc léger, le chargé d’assistance propose </a:t>
            </a:r>
            <a:r>
              <a:rPr lang="fr-FR" sz="1134" dirty="0" smtClean="0">
                <a:solidFill>
                  <a:schemeClr val="tx1"/>
                </a:solidFill>
                <a:latin typeface="Agency FB" pitchFamily="34" charset="0"/>
              </a:rPr>
              <a:t>au client de </a:t>
            </a:r>
            <a:r>
              <a:rPr lang="fr-FR" sz="1134" dirty="0">
                <a:solidFill>
                  <a:schemeClr val="tx1"/>
                </a:solidFill>
                <a:latin typeface="Agency FB" pitchFamily="34" charset="0"/>
              </a:rPr>
              <a:t>réparer son véhicule chez un garage agrée LSR</a:t>
            </a:r>
          </a:p>
        </p:txBody>
      </p:sp>
      <p:sp>
        <p:nvSpPr>
          <p:cNvPr id="93" name="Rectangle 92"/>
          <p:cNvSpPr/>
          <p:nvPr/>
        </p:nvSpPr>
        <p:spPr>
          <a:xfrm>
            <a:off x="2701267" y="3814767"/>
            <a:ext cx="3703346" cy="563858"/>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38880" rIns="38880" rtlCol="0" anchor="ctr"/>
          <a:lstStyle/>
          <a:p>
            <a:pPr algn="ctr"/>
            <a:r>
              <a:rPr lang="fr-FR" sz="1134" b="1" dirty="0">
                <a:solidFill>
                  <a:schemeClr val="tx1"/>
                </a:solidFill>
                <a:latin typeface="Agency FB" pitchFamily="34" charset="0"/>
              </a:rPr>
              <a:t>Le réparateur communique la </a:t>
            </a:r>
            <a:r>
              <a:rPr lang="fr-FR" sz="1134" b="1" dirty="0">
                <a:solidFill>
                  <a:schemeClr val="tx1"/>
                </a:solidFill>
                <a:effectLst>
                  <a:outerShdw blurRad="38100" dist="38100" dir="2700000" algn="tl">
                    <a:srgbClr val="000000">
                      <a:alpha val="43137"/>
                    </a:srgbClr>
                  </a:outerShdw>
                </a:effectLst>
                <a:latin typeface="Agency FB" pitchFamily="34" charset="0"/>
              </a:rPr>
              <a:t>date</a:t>
            </a:r>
            <a:r>
              <a:rPr lang="fr-FR" sz="1134" b="1" dirty="0">
                <a:solidFill>
                  <a:schemeClr val="tx1"/>
                </a:solidFill>
                <a:latin typeface="Agency FB" pitchFamily="34" charset="0"/>
              </a:rPr>
              <a:t> prévisionnelle  de la fin des travaux</a:t>
            </a:r>
          </a:p>
        </p:txBody>
      </p:sp>
      <p:sp>
        <p:nvSpPr>
          <p:cNvPr id="94" name="Rectangle 93"/>
          <p:cNvSpPr/>
          <p:nvPr/>
        </p:nvSpPr>
        <p:spPr>
          <a:xfrm>
            <a:off x="7478521" y="3729782"/>
            <a:ext cx="3328602" cy="697138"/>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38880" rIns="38880" rtlCol="0" anchor="ctr"/>
          <a:lstStyle/>
          <a:p>
            <a:pPr algn="ctr"/>
            <a:r>
              <a:rPr lang="fr-FR" sz="1134" dirty="0">
                <a:solidFill>
                  <a:schemeClr val="tx1"/>
                </a:solidFill>
                <a:latin typeface="Agency FB" pitchFamily="34" charset="0"/>
              </a:rPr>
              <a:t>Le garagiste certifié LSR, livre le véhicule après son réparation </a:t>
            </a:r>
            <a:r>
              <a:rPr lang="fr-FR" sz="1134" dirty="0" smtClean="0">
                <a:solidFill>
                  <a:schemeClr val="tx1"/>
                </a:solidFill>
                <a:latin typeface="Agency FB" pitchFamily="34" charset="0"/>
              </a:rPr>
              <a:t>au client qui  procède </a:t>
            </a:r>
            <a:r>
              <a:rPr lang="fr-FR" sz="1134" dirty="0">
                <a:solidFill>
                  <a:schemeClr val="tx1"/>
                </a:solidFill>
                <a:latin typeface="Agency FB" pitchFamily="34" charset="0"/>
              </a:rPr>
              <a:t>au paiement         de tout éventuel ticket modérateur</a:t>
            </a:r>
          </a:p>
        </p:txBody>
      </p:sp>
      <p:sp>
        <p:nvSpPr>
          <p:cNvPr id="95" name="Ellipse 94"/>
          <p:cNvSpPr/>
          <p:nvPr/>
        </p:nvSpPr>
        <p:spPr>
          <a:xfrm>
            <a:off x="7176144" y="2766734"/>
            <a:ext cx="308612" cy="294695"/>
          </a:xfrm>
          <a:prstGeom prst="ellipse">
            <a:avLst/>
          </a:prstGeom>
          <a:solidFill>
            <a:schemeClr val="bg1"/>
          </a:solid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dirty="0">
              <a:solidFill>
                <a:schemeClr val="tx2">
                  <a:lumMod val="50000"/>
                </a:schemeClr>
              </a:solidFill>
            </a:endParaRPr>
          </a:p>
        </p:txBody>
      </p:sp>
      <p:sp>
        <p:nvSpPr>
          <p:cNvPr id="96" name="Rectangle 95"/>
          <p:cNvSpPr/>
          <p:nvPr/>
        </p:nvSpPr>
        <p:spPr>
          <a:xfrm>
            <a:off x="6440263" y="2025063"/>
            <a:ext cx="1928826" cy="540071"/>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38880" rIns="38880" rtlCol="0" anchor="ctr"/>
          <a:lstStyle/>
          <a:p>
            <a:pPr algn="ctr"/>
            <a:r>
              <a:rPr lang="fr-FR" sz="1134" dirty="0">
                <a:solidFill>
                  <a:schemeClr val="tx1"/>
                </a:solidFill>
                <a:latin typeface="Agency FB" pitchFamily="34" charset="0"/>
              </a:rPr>
              <a:t>Il transmet les documents de base via la plateforme, mywafa ou à l’intermédiaire </a:t>
            </a:r>
          </a:p>
        </p:txBody>
      </p:sp>
      <p:pic>
        <p:nvPicPr>
          <p:cNvPr id="97" name="Image 96" descr="po.png"/>
          <p:cNvPicPr>
            <a:picLocks noChangeAspect="1"/>
          </p:cNvPicPr>
          <p:nvPr/>
        </p:nvPicPr>
        <p:blipFill>
          <a:blip r:embed="rId11" cstate="print"/>
          <a:stretch>
            <a:fillRect/>
          </a:stretch>
        </p:blipFill>
        <p:spPr>
          <a:xfrm>
            <a:off x="7883226" y="2556531"/>
            <a:ext cx="141601" cy="143214"/>
          </a:xfrm>
          <a:prstGeom prst="rect">
            <a:avLst/>
          </a:prstGeom>
        </p:spPr>
      </p:pic>
      <p:pic>
        <p:nvPicPr>
          <p:cNvPr id="112" name="Image 111" descr="money-icon.png"/>
          <p:cNvPicPr>
            <a:picLocks noChangeAspect="1"/>
          </p:cNvPicPr>
          <p:nvPr/>
        </p:nvPicPr>
        <p:blipFill>
          <a:blip r:embed="rId12" cstate="print">
            <a:duotone>
              <a:prstClr val="black"/>
              <a:schemeClr val="accent6">
                <a:tint val="45000"/>
                <a:satMod val="400000"/>
              </a:schemeClr>
            </a:duotone>
          </a:blip>
          <a:stretch>
            <a:fillRect/>
          </a:stretch>
        </p:blipFill>
        <p:spPr>
          <a:xfrm rot="10800000">
            <a:off x="9247668" y="4005026"/>
            <a:ext cx="177520" cy="183340"/>
          </a:xfrm>
          <a:prstGeom prst="rect">
            <a:avLst/>
          </a:prstGeom>
        </p:spPr>
      </p:pic>
      <p:sp>
        <p:nvSpPr>
          <p:cNvPr id="90" name="Ellipse 89"/>
          <p:cNvSpPr/>
          <p:nvPr/>
        </p:nvSpPr>
        <p:spPr>
          <a:xfrm>
            <a:off x="3087032" y="2766734"/>
            <a:ext cx="308612" cy="294695"/>
          </a:xfrm>
          <a:prstGeom prst="ellipse">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dirty="0">
              <a:solidFill>
                <a:schemeClr val="tx2">
                  <a:lumMod val="50000"/>
                </a:schemeClr>
              </a:solidFill>
            </a:endParaRPr>
          </a:p>
        </p:txBody>
      </p:sp>
      <p:sp>
        <p:nvSpPr>
          <p:cNvPr id="122" name="Ellipse 121"/>
          <p:cNvSpPr/>
          <p:nvPr/>
        </p:nvSpPr>
        <p:spPr>
          <a:xfrm>
            <a:off x="8796357" y="5666440"/>
            <a:ext cx="308612" cy="294695"/>
          </a:xfrm>
          <a:prstGeom prst="ellipse">
            <a:avLst/>
          </a:prstGeom>
          <a:solidFill>
            <a:schemeClr val="bg1"/>
          </a:solidFill>
          <a:ln w="285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dirty="0">
              <a:solidFill>
                <a:schemeClr val="tx2">
                  <a:lumMod val="50000"/>
                </a:schemeClr>
              </a:solidFill>
            </a:endParaRPr>
          </a:p>
        </p:txBody>
      </p:sp>
      <p:grpSp>
        <p:nvGrpSpPr>
          <p:cNvPr id="15" name="Groupe 124"/>
          <p:cNvGrpSpPr/>
          <p:nvPr/>
        </p:nvGrpSpPr>
        <p:grpSpPr>
          <a:xfrm>
            <a:off x="5015857" y="2325071"/>
            <a:ext cx="1002955" cy="1080143"/>
            <a:chOff x="3643306" y="1643054"/>
            <a:chExt cx="1000100" cy="1000132"/>
          </a:xfrm>
        </p:grpSpPr>
        <p:sp>
          <p:nvSpPr>
            <p:cNvPr id="119" name="Organigramme : Connecteur 118"/>
            <p:cNvSpPr/>
            <p:nvPr/>
          </p:nvSpPr>
          <p:spPr>
            <a:xfrm>
              <a:off x="3643306" y="1643054"/>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p>
          </p:txBody>
        </p:sp>
        <p:pic>
          <p:nvPicPr>
            <p:cNvPr id="2056" name="Picture 8"/>
            <p:cNvPicPr>
              <a:picLocks noChangeAspect="1" noChangeArrowheads="1"/>
            </p:cNvPicPr>
            <p:nvPr/>
          </p:nvPicPr>
          <p:blipFill>
            <a:blip r:embed="rId13" cstate="print">
              <a:clrChange>
                <a:clrFrom>
                  <a:srgbClr val="FFFFFF"/>
                </a:clrFrom>
                <a:clrTo>
                  <a:srgbClr val="FFFFFF">
                    <a:alpha val="0"/>
                  </a:srgbClr>
                </a:clrTo>
              </a:clrChange>
            </a:blip>
            <a:srcRect/>
            <a:stretch>
              <a:fillRect/>
            </a:stretch>
          </p:blipFill>
          <p:spPr bwMode="auto">
            <a:xfrm>
              <a:off x="3714744" y="1714492"/>
              <a:ext cx="874324" cy="785818"/>
            </a:xfrm>
            <a:prstGeom prst="rect">
              <a:avLst/>
            </a:prstGeom>
            <a:noFill/>
            <a:ln w="9525">
              <a:noFill/>
              <a:miter lim="800000"/>
              <a:headEnd/>
              <a:tailEnd/>
            </a:ln>
            <a:effectLst/>
          </p:spPr>
        </p:pic>
      </p:grpSp>
      <p:pic>
        <p:nvPicPr>
          <p:cNvPr id="126" name="Image 125" descr="digital-icon-png-3.png"/>
          <p:cNvPicPr>
            <a:picLocks noChangeAspect="1"/>
          </p:cNvPicPr>
          <p:nvPr/>
        </p:nvPicPr>
        <p:blipFill>
          <a:blip r:embed="rId14" cstate="print"/>
          <a:stretch>
            <a:fillRect/>
          </a:stretch>
        </p:blipFill>
        <p:spPr>
          <a:xfrm>
            <a:off x="2238348" y="3891918"/>
            <a:ext cx="462919" cy="462919"/>
          </a:xfrm>
          <a:prstGeom prst="rect">
            <a:avLst/>
          </a:prstGeom>
        </p:spPr>
      </p:pic>
      <p:sp>
        <p:nvSpPr>
          <p:cNvPr id="127" name="Rectangle 126"/>
          <p:cNvSpPr/>
          <p:nvPr/>
        </p:nvSpPr>
        <p:spPr>
          <a:xfrm>
            <a:off x="1853225" y="4509142"/>
            <a:ext cx="4860000" cy="66096"/>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solidFill>
                <a:schemeClr val="tx1"/>
              </a:solidFill>
            </a:endParaRPr>
          </a:p>
        </p:txBody>
      </p:sp>
      <p:grpSp>
        <p:nvGrpSpPr>
          <p:cNvPr id="83" name="Groupe 82"/>
          <p:cNvGrpSpPr/>
          <p:nvPr/>
        </p:nvGrpSpPr>
        <p:grpSpPr>
          <a:xfrm>
            <a:off x="6291484" y="5150155"/>
            <a:ext cx="1116119" cy="1080143"/>
            <a:chOff x="1643042" y="4143384"/>
            <a:chExt cx="1033443" cy="1000132"/>
          </a:xfrm>
        </p:grpSpPr>
        <p:grpSp>
          <p:nvGrpSpPr>
            <p:cNvPr id="17" name="Groupe 103"/>
            <p:cNvGrpSpPr/>
            <p:nvPr/>
          </p:nvGrpSpPr>
          <p:grpSpPr>
            <a:xfrm>
              <a:off x="1643042" y="4143384"/>
              <a:ext cx="1033443" cy="1000132"/>
              <a:chOff x="4395781" y="4214822"/>
              <a:chExt cx="1033443" cy="1000132"/>
            </a:xfrm>
          </p:grpSpPr>
          <p:sp>
            <p:nvSpPr>
              <p:cNvPr id="80" name="Organigramme : Connecteur 79"/>
              <p:cNvSpPr/>
              <p:nvPr/>
            </p:nvSpPr>
            <p:spPr>
              <a:xfrm>
                <a:off x="4429124" y="4214822"/>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p>
            </p:txBody>
          </p:sp>
          <p:pic>
            <p:nvPicPr>
              <p:cNvPr id="2055" name="Picture 7"/>
              <p:cNvPicPr>
                <a:picLocks noChangeAspect="1" noChangeArrowheads="1"/>
              </p:cNvPicPr>
              <p:nvPr/>
            </p:nvPicPr>
            <p:blipFill>
              <a:blip r:embed="rId15">
                <a:clrChange>
                  <a:clrFrom>
                    <a:srgbClr val="FFFFFF"/>
                  </a:clrFrom>
                  <a:clrTo>
                    <a:srgbClr val="FFFFFF">
                      <a:alpha val="0"/>
                    </a:srgbClr>
                  </a:clrTo>
                </a:clrChange>
              </a:blip>
              <a:srcRect/>
              <a:stretch>
                <a:fillRect/>
              </a:stretch>
            </p:blipFill>
            <p:spPr bwMode="auto">
              <a:xfrm>
                <a:off x="4395781" y="4214822"/>
                <a:ext cx="982658" cy="603278"/>
              </a:xfrm>
              <a:prstGeom prst="rect">
                <a:avLst/>
              </a:prstGeom>
              <a:noFill/>
              <a:ln w="9525">
                <a:noFill/>
                <a:miter lim="800000"/>
                <a:headEnd/>
                <a:tailEnd/>
              </a:ln>
              <a:effectLst/>
            </p:spPr>
          </p:pic>
        </p:grpSp>
        <p:pic>
          <p:nvPicPr>
            <p:cNvPr id="2057" name="Picture 9"/>
            <p:cNvPicPr>
              <a:picLocks noChangeAspect="1" noChangeArrowheads="1"/>
            </p:cNvPicPr>
            <p:nvPr/>
          </p:nvPicPr>
          <p:blipFill>
            <a:blip r:embed="rId16" cstate="print">
              <a:clrChange>
                <a:clrFrom>
                  <a:srgbClr val="F8F8F8"/>
                </a:clrFrom>
                <a:clrTo>
                  <a:srgbClr val="F8F8F8">
                    <a:alpha val="0"/>
                  </a:srgbClr>
                </a:clrTo>
              </a:clrChange>
            </a:blip>
            <a:srcRect/>
            <a:stretch>
              <a:fillRect/>
            </a:stretch>
          </p:blipFill>
          <p:spPr bwMode="auto">
            <a:xfrm>
              <a:off x="1857356" y="4643450"/>
              <a:ext cx="631835" cy="481831"/>
            </a:xfrm>
            <a:prstGeom prst="rect">
              <a:avLst/>
            </a:prstGeom>
            <a:noFill/>
            <a:ln w="9525">
              <a:noFill/>
              <a:miter lim="800000"/>
              <a:headEnd/>
              <a:tailEnd/>
            </a:ln>
            <a:effectLst/>
          </p:spPr>
        </p:pic>
      </p:grpSp>
      <p:sp>
        <p:nvSpPr>
          <p:cNvPr id="129" name="Chevron 128"/>
          <p:cNvSpPr/>
          <p:nvPr/>
        </p:nvSpPr>
        <p:spPr>
          <a:xfrm flipH="1">
            <a:off x="6173154" y="2787989"/>
            <a:ext cx="154306" cy="231460"/>
          </a:xfrm>
          <a:prstGeom prst="chevron">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solidFill>
                <a:schemeClr val="tx1"/>
              </a:solidFill>
            </a:endParaRPr>
          </a:p>
        </p:txBody>
      </p:sp>
      <p:sp>
        <p:nvSpPr>
          <p:cNvPr id="130" name="Chevron 129"/>
          <p:cNvSpPr/>
          <p:nvPr/>
        </p:nvSpPr>
        <p:spPr>
          <a:xfrm>
            <a:off x="5401623" y="4431989"/>
            <a:ext cx="154306" cy="231460"/>
          </a:xfrm>
          <a:prstGeom prst="chevr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solidFill>
                <a:schemeClr val="tx1"/>
              </a:solidFill>
            </a:endParaRPr>
          </a:p>
        </p:txBody>
      </p:sp>
      <p:sp>
        <p:nvSpPr>
          <p:cNvPr id="131" name="Ellipse 130"/>
          <p:cNvSpPr/>
          <p:nvPr/>
        </p:nvSpPr>
        <p:spPr>
          <a:xfrm>
            <a:off x="8796357" y="4368753"/>
            <a:ext cx="308612" cy="294695"/>
          </a:xfrm>
          <a:prstGeom prst="ellipse">
            <a:avLst/>
          </a:prstGeom>
          <a:solidFill>
            <a:schemeClr val="bg1"/>
          </a:solidFill>
          <a:ln w="285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dirty="0">
              <a:solidFill>
                <a:schemeClr val="tx2">
                  <a:lumMod val="50000"/>
                </a:schemeClr>
              </a:solidFill>
            </a:endParaRPr>
          </a:p>
        </p:txBody>
      </p:sp>
      <p:sp>
        <p:nvSpPr>
          <p:cNvPr id="132" name="Rectangle 131"/>
          <p:cNvSpPr/>
          <p:nvPr/>
        </p:nvSpPr>
        <p:spPr>
          <a:xfrm>
            <a:off x="8024827" y="5126368"/>
            <a:ext cx="1774520" cy="540071"/>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38880" rIns="38880" rtlCol="0" anchor="ctr"/>
          <a:lstStyle/>
          <a:p>
            <a:pPr algn="ctr"/>
            <a:r>
              <a:rPr lang="fr-FR" sz="1134" dirty="0">
                <a:solidFill>
                  <a:schemeClr val="tx1"/>
                </a:solidFill>
                <a:latin typeface="Agency FB" pitchFamily="34" charset="0"/>
              </a:rPr>
              <a:t>Une fois la fiche fin de travaux déposée, Meryem reçoit un appel pour évaluer le service</a:t>
            </a:r>
          </a:p>
        </p:txBody>
      </p:sp>
      <p:grpSp>
        <p:nvGrpSpPr>
          <p:cNvPr id="12" name="Groupe 102"/>
          <p:cNvGrpSpPr/>
          <p:nvPr/>
        </p:nvGrpSpPr>
        <p:grpSpPr>
          <a:xfrm>
            <a:off x="6481801" y="4046224"/>
            <a:ext cx="1234414" cy="1080143"/>
            <a:chOff x="3786182" y="3000376"/>
            <a:chExt cx="1142976" cy="1000132"/>
          </a:xfrm>
        </p:grpSpPr>
        <p:sp>
          <p:nvSpPr>
            <p:cNvPr id="55" name="Organigramme : Connecteur 54"/>
            <p:cNvSpPr/>
            <p:nvPr/>
          </p:nvSpPr>
          <p:spPr>
            <a:xfrm>
              <a:off x="3929058" y="3000376"/>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p>
          </p:txBody>
        </p:sp>
        <p:pic>
          <p:nvPicPr>
            <p:cNvPr id="2054" name="Picture 6"/>
            <p:cNvPicPr>
              <a:picLocks noChangeAspect="1" noChangeArrowheads="1"/>
            </p:cNvPicPr>
            <p:nvPr/>
          </p:nvPicPr>
          <p:blipFill>
            <a:blip r:embed="rId17">
              <a:clrChange>
                <a:clrFrom>
                  <a:srgbClr val="FFFFFF"/>
                </a:clrFrom>
                <a:clrTo>
                  <a:srgbClr val="FFFFFF">
                    <a:alpha val="0"/>
                  </a:srgbClr>
                </a:clrTo>
              </a:clrChange>
            </a:blip>
            <a:srcRect/>
            <a:stretch>
              <a:fillRect/>
            </a:stretch>
          </p:blipFill>
          <p:spPr bwMode="auto">
            <a:xfrm>
              <a:off x="3786182" y="3143252"/>
              <a:ext cx="1122172" cy="656881"/>
            </a:xfrm>
            <a:prstGeom prst="rect">
              <a:avLst/>
            </a:prstGeom>
            <a:noFill/>
            <a:ln w="9525">
              <a:noFill/>
              <a:miter lim="800000"/>
              <a:headEnd/>
              <a:tailEnd/>
            </a:ln>
            <a:effectLst/>
          </p:spPr>
        </p:pic>
      </p:grpSp>
      <p:sp>
        <p:nvSpPr>
          <p:cNvPr id="123" name="Ellipse 122"/>
          <p:cNvSpPr/>
          <p:nvPr/>
        </p:nvSpPr>
        <p:spPr>
          <a:xfrm>
            <a:off x="3241339" y="4368753"/>
            <a:ext cx="308612" cy="29469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dirty="0">
              <a:solidFill>
                <a:schemeClr val="tx2">
                  <a:lumMod val="50000"/>
                </a:schemeClr>
              </a:solidFill>
            </a:endParaRPr>
          </a:p>
        </p:txBody>
      </p:sp>
      <p:sp>
        <p:nvSpPr>
          <p:cNvPr id="102" name="ZoneTexte 101"/>
          <p:cNvSpPr txBox="1"/>
          <p:nvPr/>
        </p:nvSpPr>
        <p:spPr>
          <a:xfrm rot="1946789">
            <a:off x="5143706" y="2580008"/>
            <a:ext cx="793807" cy="258532"/>
          </a:xfrm>
          <a:prstGeom prst="rect">
            <a:avLst/>
          </a:prstGeom>
          <a:noFill/>
        </p:spPr>
        <p:txBody>
          <a:bodyPr wrap="none" rtlCol="0">
            <a:spAutoFit/>
          </a:bodyPr>
          <a:lstStyle/>
          <a:p>
            <a:r>
              <a:rPr lang="fr-FR" sz="1080" b="1" dirty="0" smtClean="0">
                <a:solidFill>
                  <a:schemeClr val="bg1"/>
                </a:solidFill>
                <a:latin typeface="Agency FB" pitchFamily="34" charset="0"/>
              </a:rPr>
              <a:t>REPARATEUR</a:t>
            </a:r>
            <a:endParaRPr lang="fr-FR" sz="1080" b="1" dirty="0">
              <a:solidFill>
                <a:schemeClr val="bg1"/>
              </a:solidFill>
              <a:latin typeface="Agency FB" pitchFamily="34" charset="0"/>
            </a:endParaRPr>
          </a:p>
        </p:txBody>
      </p:sp>
      <p:pic>
        <p:nvPicPr>
          <p:cNvPr id="104" name="Picture 8"/>
          <p:cNvPicPr>
            <a:picLocks noChangeAspect="1" noChangeArrowheads="1"/>
          </p:cNvPicPr>
          <p:nvPr/>
        </p:nvPicPr>
        <p:blipFill>
          <a:blip r:embed="rId18" cstate="print">
            <a:clrChange>
              <a:clrFrom>
                <a:srgbClr val="F8FAFB"/>
              </a:clrFrom>
              <a:clrTo>
                <a:srgbClr val="F8FAFB">
                  <a:alpha val="0"/>
                </a:srgbClr>
              </a:clrTo>
            </a:clrChange>
          </a:blip>
          <a:srcRect/>
          <a:stretch>
            <a:fillRect/>
          </a:stretch>
        </p:blipFill>
        <p:spPr bwMode="auto">
          <a:xfrm>
            <a:off x="8122568" y="2474953"/>
            <a:ext cx="288024" cy="259670"/>
          </a:xfrm>
          <a:prstGeom prst="rect">
            <a:avLst/>
          </a:prstGeom>
          <a:noFill/>
          <a:ln w="9525">
            <a:noFill/>
            <a:miter lim="800000"/>
            <a:headEnd/>
            <a:tailEnd/>
          </a:ln>
          <a:effectLst/>
        </p:spPr>
      </p:pic>
      <p:pic>
        <p:nvPicPr>
          <p:cNvPr id="105" name="Picture 7"/>
          <p:cNvPicPr>
            <a:picLocks noChangeAspect="1" noChangeArrowheads="1"/>
          </p:cNvPicPr>
          <p:nvPr/>
        </p:nvPicPr>
        <p:blipFill>
          <a:blip r:embed="rId19" cstate="print">
            <a:clrChange>
              <a:clrFrom>
                <a:srgbClr val="F8F8F8"/>
              </a:clrFrom>
              <a:clrTo>
                <a:srgbClr val="F8F8F8">
                  <a:alpha val="0"/>
                </a:srgbClr>
              </a:clrTo>
            </a:clrChange>
          </a:blip>
          <a:srcRect/>
          <a:stretch>
            <a:fillRect/>
          </a:stretch>
        </p:blipFill>
        <p:spPr bwMode="auto">
          <a:xfrm>
            <a:off x="5795226" y="4172064"/>
            <a:ext cx="308612" cy="259801"/>
          </a:xfrm>
          <a:prstGeom prst="rect">
            <a:avLst/>
          </a:prstGeom>
          <a:noFill/>
          <a:ln w="9525">
            <a:noFill/>
            <a:miter lim="800000"/>
            <a:headEnd/>
            <a:tailEnd/>
          </a:ln>
          <a:effectLst/>
        </p:spPr>
      </p:pic>
      <p:pic>
        <p:nvPicPr>
          <p:cNvPr id="106" name="Picture 7"/>
          <p:cNvPicPr>
            <a:picLocks noChangeAspect="1" noChangeArrowheads="1"/>
          </p:cNvPicPr>
          <p:nvPr/>
        </p:nvPicPr>
        <p:blipFill>
          <a:blip r:embed="rId19" cstate="print">
            <a:clrChange>
              <a:clrFrom>
                <a:srgbClr val="F8F8F8"/>
              </a:clrFrom>
              <a:clrTo>
                <a:srgbClr val="F8F8F8">
                  <a:alpha val="0"/>
                </a:srgbClr>
              </a:clrTo>
            </a:clrChange>
          </a:blip>
          <a:srcRect/>
          <a:stretch>
            <a:fillRect/>
          </a:stretch>
        </p:blipFill>
        <p:spPr bwMode="auto">
          <a:xfrm>
            <a:off x="7716214" y="5150155"/>
            <a:ext cx="308612" cy="259801"/>
          </a:xfrm>
          <a:prstGeom prst="rect">
            <a:avLst/>
          </a:prstGeom>
          <a:noFill/>
          <a:ln w="9525">
            <a:noFill/>
            <a:miter lim="800000"/>
            <a:headEnd/>
            <a:tailEnd/>
          </a:ln>
          <a:effectLst/>
        </p:spPr>
      </p:pic>
      <p:sp>
        <p:nvSpPr>
          <p:cNvPr id="82" name="ZoneTexte 81"/>
          <p:cNvSpPr txBox="1"/>
          <p:nvPr/>
        </p:nvSpPr>
        <p:spPr>
          <a:xfrm>
            <a:off x="463830" y="802499"/>
            <a:ext cx="1888024" cy="624145"/>
          </a:xfrm>
          <a:prstGeom prst="rect">
            <a:avLst/>
          </a:prstGeom>
          <a:solidFill>
            <a:schemeClr val="bg1"/>
          </a:solidFill>
          <a:ln>
            <a:solidFill>
              <a:schemeClr val="bg2">
                <a:lumMod val="75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fr-FR" sz="1728" b="1" dirty="0">
                <a:latin typeface="Agency FB" pitchFamily="34" charset="0"/>
              </a:rPr>
              <a:t>Light Schock Repair</a:t>
            </a:r>
          </a:p>
          <a:p>
            <a:pPr algn="ctr"/>
            <a:r>
              <a:rPr lang="fr-FR" sz="1728" b="1" dirty="0" smtClean="0">
                <a:solidFill>
                  <a:srgbClr val="92D050"/>
                </a:solidFill>
                <a:latin typeface="Agency FB" pitchFamily="34" charset="0"/>
              </a:rPr>
              <a:t> </a:t>
            </a:r>
            <a:r>
              <a:rPr lang="fr-FR" sz="1728" b="1" dirty="0">
                <a:solidFill>
                  <a:srgbClr val="92D050"/>
                </a:solidFill>
                <a:latin typeface="Agency FB" pitchFamily="34" charset="0"/>
              </a:rPr>
              <a:t>ISLAH OTO SARII </a:t>
            </a:r>
          </a:p>
        </p:txBody>
      </p:sp>
      <p:sp>
        <p:nvSpPr>
          <p:cNvPr id="84" name="Espace réservé du contenu 8"/>
          <p:cNvSpPr>
            <a:spLocks noGrp="1"/>
          </p:cNvSpPr>
          <p:nvPr>
            <p:ph sz="quarter" idx="12"/>
          </p:nvPr>
        </p:nvSpPr>
        <p:spPr bwMode="auto">
          <a:xfrm>
            <a:off x="5401623" y="6228779"/>
            <a:ext cx="5515552" cy="297715"/>
          </a:xfrm>
          <a:noFill/>
          <a:ln>
            <a:miter lim="800000"/>
            <a:headEnd/>
            <a:tailEnd/>
          </a:ln>
        </p:spPr>
        <p:txBody>
          <a:bodyPr wrap="square" numCol="1" anchorCtr="0" compatLnSpc="1">
            <a:prstTxWarp prst="textNoShape">
              <a:avLst/>
            </a:prstTxWarp>
          </a:bodyPr>
          <a:lstStyle/>
          <a:p>
            <a:pPr defTabSz="819499" fontAlgn="base">
              <a:spcBef>
                <a:spcPct val="0"/>
              </a:spcBef>
              <a:spcAft>
                <a:spcPct val="0"/>
              </a:spcAft>
            </a:pPr>
            <a:r>
              <a:rPr lang="fr-FR" b="1" dirty="0">
                <a:solidFill>
                  <a:schemeClr val="bg1"/>
                </a:solidFill>
                <a:latin typeface="Arial" charset="0"/>
                <a:cs typeface="Arial" charset="0"/>
              </a:rPr>
              <a:t>Direction </a:t>
            </a:r>
            <a:r>
              <a:rPr lang="fr-FR" b="1" dirty="0" smtClean="0">
                <a:solidFill>
                  <a:schemeClr val="bg1"/>
                </a:solidFill>
                <a:latin typeface="Arial" charset="0"/>
                <a:cs typeface="Arial" charset="0"/>
              </a:rPr>
              <a:t>Sinistres </a:t>
            </a:r>
            <a:r>
              <a:rPr lang="fr-FR" b="1" dirty="0">
                <a:solidFill>
                  <a:schemeClr val="bg1"/>
                </a:solidFill>
                <a:latin typeface="Arial" charset="0"/>
                <a:cs typeface="Arial" charset="0"/>
              </a:rPr>
              <a:t>Auto Matériels</a:t>
            </a:r>
          </a:p>
        </p:txBody>
      </p:sp>
    </p:spTree>
    <p:extLst>
      <p:ext uri="{BB962C8B-B14F-4D97-AF65-F5344CB8AC3E}">
        <p14:creationId xmlns:p14="http://schemas.microsoft.com/office/powerpoint/2010/main" val="257611795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Rectangle à coins arrondis 77"/>
          <p:cNvSpPr/>
          <p:nvPr/>
        </p:nvSpPr>
        <p:spPr>
          <a:xfrm>
            <a:off x="4069206" y="3866879"/>
            <a:ext cx="3023696" cy="441472"/>
          </a:xfrm>
          <a:prstGeom prst="roundRect">
            <a:avLst>
              <a:gd name="adj" fmla="val 50000"/>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sp>
        <p:nvSpPr>
          <p:cNvPr id="14" name="Virage 13"/>
          <p:cNvSpPr/>
          <p:nvPr/>
        </p:nvSpPr>
        <p:spPr>
          <a:xfrm rot="10800000">
            <a:off x="1344565" y="2709241"/>
            <a:ext cx="9849600" cy="182228"/>
          </a:xfrm>
          <a:prstGeom prst="bentArrow">
            <a:avLst>
              <a:gd name="adj1" fmla="val 41310"/>
              <a:gd name="adj2" fmla="val 25000"/>
              <a:gd name="adj3" fmla="val 25000"/>
              <a:gd name="adj4" fmla="val 95655"/>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20" name="Rectangle 119"/>
          <p:cNvSpPr/>
          <p:nvPr/>
        </p:nvSpPr>
        <p:spPr>
          <a:xfrm>
            <a:off x="1381092" y="2802491"/>
            <a:ext cx="3715200" cy="73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pic>
        <p:nvPicPr>
          <p:cNvPr id="2050" name="Picture 2"/>
          <p:cNvPicPr>
            <a:picLocks noChangeAspect="1" noChangeArrowheads="1"/>
          </p:cNvPicPr>
          <p:nvPr/>
        </p:nvPicPr>
        <p:blipFill>
          <a:blip r:embed="rId3" cstate="print"/>
          <a:srcRect/>
          <a:stretch>
            <a:fillRect/>
          </a:stretch>
        </p:blipFill>
        <p:spPr bwMode="auto">
          <a:xfrm>
            <a:off x="609600" y="3"/>
            <a:ext cx="10972800" cy="491072"/>
          </a:xfrm>
          <a:prstGeom prst="rect">
            <a:avLst/>
          </a:prstGeom>
          <a:noFill/>
          <a:ln w="9525">
            <a:noFill/>
            <a:miter lim="800000"/>
            <a:headEnd/>
            <a:tailEnd/>
          </a:ln>
        </p:spPr>
      </p:pic>
      <p:pic>
        <p:nvPicPr>
          <p:cNvPr id="5122" name="Image 4"/>
          <p:cNvPicPr>
            <a:picLocks noChangeAspect="1"/>
          </p:cNvPicPr>
          <p:nvPr/>
        </p:nvPicPr>
        <p:blipFill>
          <a:blip r:embed="rId4" cstate="print"/>
          <a:srcRect/>
          <a:stretch>
            <a:fillRect/>
          </a:stretch>
        </p:blipFill>
        <p:spPr bwMode="auto">
          <a:xfrm>
            <a:off x="835243" y="59764"/>
            <a:ext cx="1372325" cy="431311"/>
          </a:xfrm>
          <a:prstGeom prst="rect">
            <a:avLst/>
          </a:prstGeom>
          <a:noFill/>
          <a:ln w="9525">
            <a:noFill/>
            <a:miter lim="800000"/>
            <a:headEnd/>
            <a:tailEnd/>
          </a:ln>
        </p:spPr>
      </p:pic>
      <p:sp>
        <p:nvSpPr>
          <p:cNvPr id="9" name="Rectangle 8"/>
          <p:cNvSpPr/>
          <p:nvPr/>
        </p:nvSpPr>
        <p:spPr>
          <a:xfrm>
            <a:off x="3738775" y="34228"/>
            <a:ext cx="7801030" cy="370437"/>
          </a:xfrm>
          <a:prstGeom prst="rect">
            <a:avLst/>
          </a:prstGeom>
        </p:spPr>
        <p:txBody>
          <a:bodyPr wrap="square" lIns="110826" tIns="55411" rIns="110826" bIns="55411">
            <a:spAutoFit/>
          </a:bodyPr>
          <a:lstStyle/>
          <a:p>
            <a:pPr algn="r"/>
            <a:r>
              <a:rPr lang="fr-FR" altLang="fr-FR" sz="1680" b="1" dirty="0">
                <a:solidFill>
                  <a:srgbClr val="C00000"/>
                </a:solidFill>
                <a:ea typeface="Tahoma" pitchFamily="34" charset="0"/>
                <a:cs typeface="Tahoma" pitchFamily="34" charset="0"/>
              </a:rPr>
              <a:t>Parcours Bris De Glace (BDG)</a:t>
            </a:r>
            <a:endParaRPr lang="fr-FR" sz="1680" dirty="0">
              <a:ea typeface="Tahoma" pitchFamily="34" charset="0"/>
              <a:cs typeface="Tahoma" pitchFamily="34" charset="0"/>
            </a:endParaRPr>
          </a:p>
        </p:txBody>
      </p:sp>
      <p:sp>
        <p:nvSpPr>
          <p:cNvPr id="73" name="Espace réservé du numéro de diapositive 72"/>
          <p:cNvSpPr>
            <a:spLocks noGrp="1"/>
          </p:cNvSpPr>
          <p:nvPr>
            <p:ph type="sldNum" sz="quarter" idx="12"/>
          </p:nvPr>
        </p:nvSpPr>
        <p:spPr>
          <a:xfrm>
            <a:off x="9071941" y="6520918"/>
            <a:ext cx="2467865" cy="364468"/>
          </a:xfrm>
        </p:spPr>
        <p:txBody>
          <a:bodyPr/>
          <a:lstStyle/>
          <a:p>
            <a:pPr>
              <a:defRPr/>
            </a:pPr>
            <a:fld id="{E11703BC-316E-4658-AE8F-B5827D54B665}" type="slidenum">
              <a:rPr lang="fr-FR" smtClean="0"/>
              <a:pPr>
                <a:defRPr/>
              </a:pPr>
              <a:t>7</a:t>
            </a:fld>
            <a:endParaRPr lang="fr-FR" dirty="0"/>
          </a:p>
        </p:txBody>
      </p:sp>
      <p:sp>
        <p:nvSpPr>
          <p:cNvPr id="56" name="Rectangle 55"/>
          <p:cNvSpPr/>
          <p:nvPr/>
        </p:nvSpPr>
        <p:spPr>
          <a:xfrm>
            <a:off x="652195" y="6567131"/>
            <a:ext cx="10843795" cy="231845"/>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70"/>
          </a:p>
        </p:txBody>
      </p:sp>
      <p:sp>
        <p:nvSpPr>
          <p:cNvPr id="57" name="Espace réservé du contenu 8"/>
          <p:cNvSpPr>
            <a:spLocks noGrp="1"/>
          </p:cNvSpPr>
          <p:nvPr>
            <p:ph sz="quarter" idx="11"/>
          </p:nvPr>
        </p:nvSpPr>
        <p:spPr bwMode="auto">
          <a:xfrm>
            <a:off x="565786" y="6572280"/>
            <a:ext cx="3328034" cy="226694"/>
          </a:xfrm>
          <a:noFill/>
          <a:ln>
            <a:miter lim="800000"/>
            <a:headEnd/>
            <a:tailEnd/>
          </a:ln>
        </p:spPr>
        <p:txBody>
          <a:bodyPr wrap="square" numCol="1" anchorCtr="0" compatLnSpc="1">
            <a:prstTxWarp prst="textNoShape">
              <a:avLst/>
            </a:prstTxWarp>
          </a:bodyPr>
          <a:lstStyle/>
          <a:p>
            <a:pPr defTabSz="910554" fontAlgn="base">
              <a:spcBef>
                <a:spcPct val="0"/>
              </a:spcBef>
              <a:spcAft>
                <a:spcPct val="0"/>
              </a:spcAft>
            </a:pPr>
            <a:r>
              <a:rPr lang="fr-FR" i="1" dirty="0">
                <a:solidFill>
                  <a:schemeClr val="bg1"/>
                </a:solidFill>
                <a:latin typeface="Arial" charset="0"/>
                <a:cs typeface="Arial" charset="0"/>
              </a:rPr>
              <a:t>À usage strictement interne ou confidentiel</a:t>
            </a:r>
          </a:p>
        </p:txBody>
      </p:sp>
      <p:sp>
        <p:nvSpPr>
          <p:cNvPr id="3" name="Virage 2"/>
          <p:cNvSpPr/>
          <p:nvPr/>
        </p:nvSpPr>
        <p:spPr>
          <a:xfrm rot="10800000" flipV="1">
            <a:off x="2251766" y="1306900"/>
            <a:ext cx="8942400" cy="182204"/>
          </a:xfrm>
          <a:prstGeom prst="bentArrow">
            <a:avLst>
              <a:gd name="adj1" fmla="val 41310"/>
              <a:gd name="adj2" fmla="val 25000"/>
              <a:gd name="adj3" fmla="val 25000"/>
              <a:gd name="adj4" fmla="val 95655"/>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4" name="Rectangle 3"/>
          <p:cNvSpPr/>
          <p:nvPr/>
        </p:nvSpPr>
        <p:spPr>
          <a:xfrm>
            <a:off x="11116404" y="1484378"/>
            <a:ext cx="77760" cy="1271338"/>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5" name="Arc plein 4"/>
          <p:cNvSpPr/>
          <p:nvPr/>
        </p:nvSpPr>
        <p:spPr>
          <a:xfrm rot="16200000">
            <a:off x="450472" y="3573255"/>
            <a:ext cx="1900800" cy="382459"/>
          </a:xfrm>
          <a:prstGeom prst="blockArc">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6" name="Virage 15"/>
          <p:cNvSpPr/>
          <p:nvPr/>
        </p:nvSpPr>
        <p:spPr>
          <a:xfrm rot="10800000" flipV="1">
            <a:off x="1387762" y="4626007"/>
            <a:ext cx="9806400" cy="181440"/>
          </a:xfrm>
          <a:prstGeom prst="bentArrow">
            <a:avLst>
              <a:gd name="adj1" fmla="val 41310"/>
              <a:gd name="adj2" fmla="val 25000"/>
              <a:gd name="adj3" fmla="val 25000"/>
              <a:gd name="adj4" fmla="val 95655"/>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8" name="ZoneTexte 7"/>
          <p:cNvSpPr txBox="1"/>
          <p:nvPr/>
        </p:nvSpPr>
        <p:spPr>
          <a:xfrm>
            <a:off x="3952861" y="1516607"/>
            <a:ext cx="5549917" cy="350865"/>
          </a:xfrm>
          <a:prstGeom prst="rect">
            <a:avLst/>
          </a:prstGeom>
          <a:noFill/>
        </p:spPr>
        <p:txBody>
          <a:bodyPr wrap="none" rtlCol="0">
            <a:spAutoFit/>
          </a:bodyPr>
          <a:lstStyle/>
          <a:p>
            <a:r>
              <a:rPr lang="fr-FR" sz="1680" b="1" dirty="0">
                <a:solidFill>
                  <a:schemeClr val="tx2">
                    <a:lumMod val="75000"/>
                  </a:schemeClr>
                </a:solidFill>
                <a:latin typeface="Agency FB" pitchFamily="34" charset="0"/>
              </a:rPr>
              <a:t>Survenance du sinistre            		</a:t>
            </a:r>
            <a:r>
              <a:rPr lang="fr-FR" sz="1680" b="1" dirty="0">
                <a:solidFill>
                  <a:schemeClr val="accent6">
                    <a:lumMod val="75000"/>
                  </a:schemeClr>
                </a:solidFill>
                <a:latin typeface="Agency FB" pitchFamily="34" charset="0"/>
              </a:rPr>
              <a:t>Déclaration de sinistre</a:t>
            </a:r>
          </a:p>
        </p:txBody>
      </p:sp>
      <p:sp>
        <p:nvSpPr>
          <p:cNvPr id="32" name="ZoneTexte 31"/>
          <p:cNvSpPr txBox="1"/>
          <p:nvPr/>
        </p:nvSpPr>
        <p:spPr>
          <a:xfrm>
            <a:off x="924970" y="2973943"/>
            <a:ext cx="4570951" cy="350865"/>
          </a:xfrm>
          <a:prstGeom prst="rect">
            <a:avLst/>
          </a:prstGeom>
          <a:noFill/>
        </p:spPr>
        <p:txBody>
          <a:bodyPr wrap="square" rtlCol="0">
            <a:spAutoFit/>
          </a:bodyPr>
          <a:lstStyle/>
          <a:p>
            <a:pPr algn="ctr"/>
            <a:r>
              <a:rPr lang="fr-FR" sz="1680" b="1" dirty="0">
                <a:solidFill>
                  <a:schemeClr val="accent1"/>
                </a:solidFill>
                <a:latin typeface="Agency FB" pitchFamily="34" charset="0"/>
              </a:rPr>
              <a:t>Dépôt pour réparation du véhicule</a:t>
            </a:r>
          </a:p>
        </p:txBody>
      </p:sp>
      <p:sp>
        <p:nvSpPr>
          <p:cNvPr id="34" name="ZoneTexte 33"/>
          <p:cNvSpPr txBox="1"/>
          <p:nvPr/>
        </p:nvSpPr>
        <p:spPr>
          <a:xfrm>
            <a:off x="359435" y="4068153"/>
            <a:ext cx="3931636" cy="350865"/>
          </a:xfrm>
          <a:prstGeom prst="rect">
            <a:avLst/>
          </a:prstGeom>
          <a:noFill/>
        </p:spPr>
        <p:txBody>
          <a:bodyPr wrap="square" rtlCol="0">
            <a:spAutoFit/>
          </a:bodyPr>
          <a:lstStyle/>
          <a:p>
            <a:pPr algn="ctr"/>
            <a:r>
              <a:rPr lang="fr-FR" sz="1680" b="1" dirty="0">
                <a:latin typeface="Agency FB" pitchFamily="34" charset="0"/>
              </a:rPr>
              <a:t>Réparation du véhicule</a:t>
            </a:r>
          </a:p>
        </p:txBody>
      </p:sp>
      <p:sp>
        <p:nvSpPr>
          <p:cNvPr id="35" name="ZoneTexte 34"/>
          <p:cNvSpPr txBox="1"/>
          <p:nvPr/>
        </p:nvSpPr>
        <p:spPr>
          <a:xfrm>
            <a:off x="3806147" y="4908871"/>
            <a:ext cx="3931636" cy="350865"/>
          </a:xfrm>
          <a:prstGeom prst="rect">
            <a:avLst/>
          </a:prstGeom>
          <a:noFill/>
        </p:spPr>
        <p:txBody>
          <a:bodyPr wrap="square" rtlCol="0">
            <a:spAutoFit/>
          </a:bodyPr>
          <a:lstStyle/>
          <a:p>
            <a:pPr algn="ctr"/>
            <a:r>
              <a:rPr lang="fr-FR" sz="1680" b="1" dirty="0">
                <a:solidFill>
                  <a:schemeClr val="accent4">
                    <a:lumMod val="75000"/>
                  </a:schemeClr>
                </a:solidFill>
                <a:latin typeface="Agency FB" pitchFamily="34" charset="0"/>
              </a:rPr>
              <a:t>Récupération du véhicule réparé</a:t>
            </a:r>
          </a:p>
        </p:txBody>
      </p:sp>
      <p:sp>
        <p:nvSpPr>
          <p:cNvPr id="36" name="ZoneTexte 35"/>
          <p:cNvSpPr txBox="1"/>
          <p:nvPr/>
        </p:nvSpPr>
        <p:spPr>
          <a:xfrm>
            <a:off x="7290968" y="4863290"/>
            <a:ext cx="3257573" cy="609398"/>
          </a:xfrm>
          <a:prstGeom prst="rect">
            <a:avLst/>
          </a:prstGeom>
          <a:noFill/>
        </p:spPr>
        <p:txBody>
          <a:bodyPr wrap="square" rtlCol="0">
            <a:spAutoFit/>
          </a:bodyPr>
          <a:lstStyle/>
          <a:p>
            <a:pPr algn="ctr"/>
            <a:r>
              <a:rPr lang="fr-FR" sz="1680" b="1" dirty="0">
                <a:solidFill>
                  <a:schemeClr val="accent4">
                    <a:lumMod val="75000"/>
                  </a:schemeClr>
                </a:solidFill>
                <a:latin typeface="Agency FB" pitchFamily="34" charset="0"/>
              </a:rPr>
              <a:t>Evaluation de la qualité de service à travers la First Line</a:t>
            </a:r>
          </a:p>
        </p:txBody>
      </p:sp>
      <p:sp>
        <p:nvSpPr>
          <p:cNvPr id="43" name="Ellipse 42"/>
          <p:cNvSpPr/>
          <p:nvPr/>
        </p:nvSpPr>
        <p:spPr>
          <a:xfrm>
            <a:off x="4724391" y="1173705"/>
            <a:ext cx="342902" cy="327439"/>
          </a:xfrm>
          <a:prstGeom prst="ellipse">
            <a:avLst/>
          </a:prstGeom>
          <a:solidFill>
            <a:schemeClr val="bg1"/>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sp>
        <p:nvSpPr>
          <p:cNvPr id="60" name="Chevron 59"/>
          <p:cNvSpPr/>
          <p:nvPr/>
        </p:nvSpPr>
        <p:spPr>
          <a:xfrm>
            <a:off x="10296555" y="1224347"/>
            <a:ext cx="171451" cy="257177"/>
          </a:xfrm>
          <a:prstGeom prst="chevr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grpSp>
        <p:nvGrpSpPr>
          <p:cNvPr id="2" name="Groupe 99"/>
          <p:cNvGrpSpPr/>
          <p:nvPr/>
        </p:nvGrpSpPr>
        <p:grpSpPr>
          <a:xfrm>
            <a:off x="6781805" y="745077"/>
            <a:ext cx="1200120" cy="1200158"/>
            <a:chOff x="5143504" y="428608"/>
            <a:chExt cx="1000100" cy="1000132"/>
          </a:xfrm>
        </p:grpSpPr>
        <p:sp>
          <p:nvSpPr>
            <p:cNvPr id="52" name="Organigramme : Connecteur 51"/>
            <p:cNvSpPr/>
            <p:nvPr/>
          </p:nvSpPr>
          <p:spPr>
            <a:xfrm>
              <a:off x="5143504" y="428608"/>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1029" name="Picture 5"/>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5357818" y="571484"/>
              <a:ext cx="642942" cy="655931"/>
            </a:xfrm>
            <a:prstGeom prst="rect">
              <a:avLst/>
            </a:prstGeom>
            <a:noFill/>
            <a:ln w="9525">
              <a:noFill/>
              <a:miter lim="800000"/>
              <a:headEnd/>
              <a:tailEnd/>
            </a:ln>
            <a:effectLst/>
          </p:spPr>
        </p:pic>
      </p:grpSp>
      <p:sp>
        <p:nvSpPr>
          <p:cNvPr id="61" name="Rectangle 60"/>
          <p:cNvSpPr/>
          <p:nvPr/>
        </p:nvSpPr>
        <p:spPr>
          <a:xfrm>
            <a:off x="3438507" y="685781"/>
            <a:ext cx="2743219" cy="428628"/>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dirty="0">
                <a:solidFill>
                  <a:schemeClr val="tx1"/>
                </a:solidFill>
                <a:latin typeface="Agency FB" pitchFamily="34" charset="0"/>
              </a:rPr>
              <a:t>Le client a un sinistre Bris de glace</a:t>
            </a:r>
          </a:p>
        </p:txBody>
      </p:sp>
      <p:grpSp>
        <p:nvGrpSpPr>
          <p:cNvPr id="7" name="Groupe 100"/>
          <p:cNvGrpSpPr/>
          <p:nvPr/>
        </p:nvGrpSpPr>
        <p:grpSpPr>
          <a:xfrm>
            <a:off x="10599438" y="1437234"/>
            <a:ext cx="1001971" cy="1017940"/>
            <a:chOff x="8143900" y="1071550"/>
            <a:chExt cx="1000100" cy="1000132"/>
          </a:xfrm>
        </p:grpSpPr>
        <p:sp>
          <p:nvSpPr>
            <p:cNvPr id="53" name="Organigramme : Connecteur 52"/>
            <p:cNvSpPr/>
            <p:nvPr/>
          </p:nvSpPr>
          <p:spPr>
            <a:xfrm>
              <a:off x="8143900" y="1071550"/>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72" name="Picture 4" descr="C:\Users\f.tabouti\Desktop\Icones\sm.png"/>
            <p:cNvPicPr>
              <a:picLocks noChangeAspect="1" noChangeArrowheads="1"/>
            </p:cNvPicPr>
            <p:nvPr/>
          </p:nvPicPr>
          <p:blipFill>
            <a:blip r:embed="rId6" cstate="print"/>
            <a:srcRect/>
            <a:stretch>
              <a:fillRect/>
            </a:stretch>
          </p:blipFill>
          <p:spPr bwMode="auto">
            <a:xfrm>
              <a:off x="8215338" y="1357302"/>
              <a:ext cx="500066" cy="500066"/>
            </a:xfrm>
            <a:prstGeom prst="rect">
              <a:avLst/>
            </a:prstGeom>
            <a:noFill/>
          </p:spPr>
        </p:pic>
        <p:pic>
          <p:nvPicPr>
            <p:cNvPr id="74" name="Image 73" descr="tel.png"/>
            <p:cNvPicPr>
              <a:picLocks noChangeAspect="1"/>
            </p:cNvPicPr>
            <p:nvPr/>
          </p:nvPicPr>
          <p:blipFill>
            <a:blip r:embed="rId7" cstate="print"/>
            <a:stretch>
              <a:fillRect/>
            </a:stretch>
          </p:blipFill>
          <p:spPr>
            <a:xfrm>
              <a:off x="8715404" y="1428740"/>
              <a:ext cx="357190" cy="357190"/>
            </a:xfrm>
            <a:prstGeom prst="rect">
              <a:avLst/>
            </a:prstGeom>
          </p:spPr>
        </p:pic>
      </p:grpSp>
      <p:pic>
        <p:nvPicPr>
          <p:cNvPr id="76" name="Image 75" descr="photo.png"/>
          <p:cNvPicPr>
            <a:picLocks noChangeAspect="1"/>
          </p:cNvPicPr>
          <p:nvPr/>
        </p:nvPicPr>
        <p:blipFill>
          <a:blip r:embed="rId8" cstate="print"/>
          <a:stretch>
            <a:fillRect/>
          </a:stretch>
        </p:blipFill>
        <p:spPr>
          <a:xfrm>
            <a:off x="7824629" y="2459589"/>
            <a:ext cx="171451" cy="171451"/>
          </a:xfrm>
          <a:prstGeom prst="rect">
            <a:avLst/>
          </a:prstGeom>
        </p:spPr>
      </p:pic>
      <p:sp>
        <p:nvSpPr>
          <p:cNvPr id="85" name="ZoneTexte 84"/>
          <p:cNvSpPr txBox="1"/>
          <p:nvPr/>
        </p:nvSpPr>
        <p:spPr>
          <a:xfrm>
            <a:off x="7538394" y="2973943"/>
            <a:ext cx="1858201" cy="350865"/>
          </a:xfrm>
          <a:prstGeom prst="rect">
            <a:avLst/>
          </a:prstGeom>
          <a:noFill/>
        </p:spPr>
        <p:txBody>
          <a:bodyPr wrap="none" rtlCol="0">
            <a:spAutoFit/>
          </a:bodyPr>
          <a:lstStyle/>
          <a:p>
            <a:r>
              <a:rPr lang="fr-FR" sz="1680" b="1" dirty="0">
                <a:solidFill>
                  <a:schemeClr val="accent6">
                    <a:lumMod val="75000"/>
                  </a:schemeClr>
                </a:solidFill>
                <a:latin typeface="Agency FB" pitchFamily="34" charset="0"/>
              </a:rPr>
              <a:t>Déclaration du sinistre</a:t>
            </a:r>
          </a:p>
        </p:txBody>
      </p:sp>
      <p:sp>
        <p:nvSpPr>
          <p:cNvPr id="86" name="Ellipse 85"/>
          <p:cNvSpPr/>
          <p:nvPr/>
        </p:nvSpPr>
        <p:spPr>
          <a:xfrm>
            <a:off x="9267847" y="1173705"/>
            <a:ext cx="342902" cy="327439"/>
          </a:xfrm>
          <a:prstGeom prst="ellipse">
            <a:avLst/>
          </a:prstGeom>
          <a:solidFill>
            <a:schemeClr val="bg1"/>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sp>
        <p:nvSpPr>
          <p:cNvPr id="87" name="Rectangle 86"/>
          <p:cNvSpPr/>
          <p:nvPr/>
        </p:nvSpPr>
        <p:spPr>
          <a:xfrm>
            <a:off x="7810512" y="685781"/>
            <a:ext cx="3429024" cy="428628"/>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dirty="0">
                <a:solidFill>
                  <a:schemeClr val="tx1"/>
                </a:solidFill>
                <a:latin typeface="Agency FB" pitchFamily="34" charset="0"/>
              </a:rPr>
              <a:t>IL déclare son sinistre à son intermédiaire d’assurance, ou à la plateforme ou via Mywafa</a:t>
            </a:r>
          </a:p>
        </p:txBody>
      </p:sp>
      <p:sp>
        <p:nvSpPr>
          <p:cNvPr id="88" name="Ellipse 87"/>
          <p:cNvSpPr/>
          <p:nvPr/>
        </p:nvSpPr>
        <p:spPr>
          <a:xfrm>
            <a:off x="9525024" y="2693147"/>
            <a:ext cx="342902" cy="327439"/>
          </a:xfrm>
          <a:prstGeom prst="ellipse">
            <a:avLst/>
          </a:prstGeom>
          <a:solidFill>
            <a:schemeClr val="bg1"/>
          </a:solid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sp>
        <p:nvSpPr>
          <p:cNvPr id="89" name="Rectangle 88"/>
          <p:cNvSpPr/>
          <p:nvPr/>
        </p:nvSpPr>
        <p:spPr>
          <a:xfrm>
            <a:off x="8515469" y="1960037"/>
            <a:ext cx="2143140" cy="600079"/>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endParaRPr lang="fr-FR" sz="1260" b="1" dirty="0">
              <a:solidFill>
                <a:schemeClr val="tx1"/>
              </a:solidFill>
              <a:latin typeface="Agency FB" pitchFamily="34" charset="0"/>
            </a:endParaRPr>
          </a:p>
        </p:txBody>
      </p:sp>
      <p:sp>
        <p:nvSpPr>
          <p:cNvPr id="91" name="Rectangle 90"/>
          <p:cNvSpPr/>
          <p:nvPr/>
        </p:nvSpPr>
        <p:spPr>
          <a:xfrm>
            <a:off x="1711018" y="2249065"/>
            <a:ext cx="1981363" cy="362221"/>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a:solidFill>
                  <a:srgbClr val="00B050"/>
                </a:solidFill>
                <a:latin typeface="Agency FB" pitchFamily="34" charset="0"/>
              </a:rPr>
              <a:t>Le client dépose son véhicule  chez le garage agréé</a:t>
            </a:r>
          </a:p>
        </p:txBody>
      </p:sp>
      <p:sp>
        <p:nvSpPr>
          <p:cNvPr id="95" name="Ellipse 94"/>
          <p:cNvSpPr/>
          <p:nvPr/>
        </p:nvSpPr>
        <p:spPr>
          <a:xfrm>
            <a:off x="7296159" y="2693147"/>
            <a:ext cx="342902" cy="327439"/>
          </a:xfrm>
          <a:prstGeom prst="ellipse">
            <a:avLst/>
          </a:prstGeom>
          <a:solidFill>
            <a:schemeClr val="bg1"/>
          </a:solid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sp>
        <p:nvSpPr>
          <p:cNvPr id="96" name="Rectangle 95"/>
          <p:cNvSpPr/>
          <p:nvPr/>
        </p:nvSpPr>
        <p:spPr>
          <a:xfrm>
            <a:off x="8496210" y="1819413"/>
            <a:ext cx="1979900" cy="600079"/>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dirty="0">
                <a:solidFill>
                  <a:schemeClr val="tx1"/>
                </a:solidFill>
                <a:latin typeface="Agency FB" pitchFamily="34" charset="0"/>
              </a:rPr>
              <a:t>Elle transmet les documents de base via la plateforme, mywafa ou à l’intermédiaire. </a:t>
            </a:r>
          </a:p>
        </p:txBody>
      </p:sp>
      <p:pic>
        <p:nvPicPr>
          <p:cNvPr id="97" name="Image 96" descr="po.png"/>
          <p:cNvPicPr>
            <a:picLocks noChangeAspect="1"/>
          </p:cNvPicPr>
          <p:nvPr/>
        </p:nvPicPr>
        <p:blipFill>
          <a:blip r:embed="rId9" cstate="print"/>
          <a:stretch>
            <a:fillRect/>
          </a:stretch>
        </p:blipFill>
        <p:spPr>
          <a:xfrm>
            <a:off x="8081806" y="2459589"/>
            <a:ext cx="157334" cy="159127"/>
          </a:xfrm>
          <a:prstGeom prst="rect">
            <a:avLst/>
          </a:prstGeom>
        </p:spPr>
      </p:pic>
      <p:sp>
        <p:nvSpPr>
          <p:cNvPr id="90" name="Ellipse 89"/>
          <p:cNvSpPr/>
          <p:nvPr/>
        </p:nvSpPr>
        <p:spPr>
          <a:xfrm>
            <a:off x="2752702" y="2693147"/>
            <a:ext cx="342902" cy="327439"/>
          </a:xfrm>
          <a:prstGeom prst="ellipse">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grpSp>
        <p:nvGrpSpPr>
          <p:cNvPr id="15" name="Groupe 124"/>
          <p:cNvGrpSpPr/>
          <p:nvPr/>
        </p:nvGrpSpPr>
        <p:grpSpPr>
          <a:xfrm>
            <a:off x="4810116" y="2202412"/>
            <a:ext cx="1200120" cy="1200158"/>
            <a:chOff x="3643306" y="1643054"/>
            <a:chExt cx="1000100" cy="1000132"/>
          </a:xfrm>
        </p:grpSpPr>
        <p:sp>
          <p:nvSpPr>
            <p:cNvPr id="119" name="Organigramme : Connecteur 118"/>
            <p:cNvSpPr/>
            <p:nvPr/>
          </p:nvSpPr>
          <p:spPr>
            <a:xfrm>
              <a:off x="3643306" y="1643054"/>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2056" name="Picture 8"/>
            <p:cNvPicPr>
              <a:picLocks noChangeAspect="1" noChangeArrowheads="1"/>
            </p:cNvPicPr>
            <p:nvPr/>
          </p:nvPicPr>
          <p:blipFill>
            <a:blip r:embed="rId10" cstate="print">
              <a:clrChange>
                <a:clrFrom>
                  <a:srgbClr val="FFFFFF"/>
                </a:clrFrom>
                <a:clrTo>
                  <a:srgbClr val="FFFFFF">
                    <a:alpha val="0"/>
                  </a:srgbClr>
                </a:clrTo>
              </a:clrChange>
            </a:blip>
            <a:srcRect/>
            <a:stretch>
              <a:fillRect/>
            </a:stretch>
          </p:blipFill>
          <p:spPr bwMode="auto">
            <a:xfrm>
              <a:off x="3714744" y="1714492"/>
              <a:ext cx="874324" cy="785818"/>
            </a:xfrm>
            <a:prstGeom prst="rect">
              <a:avLst/>
            </a:prstGeom>
            <a:noFill/>
            <a:ln w="9525">
              <a:noFill/>
              <a:miter lim="800000"/>
              <a:headEnd/>
              <a:tailEnd/>
            </a:ln>
            <a:effectLst/>
          </p:spPr>
        </p:pic>
      </p:grpSp>
      <p:sp>
        <p:nvSpPr>
          <p:cNvPr id="127" name="Rectangle 126"/>
          <p:cNvSpPr/>
          <p:nvPr/>
        </p:nvSpPr>
        <p:spPr>
          <a:xfrm>
            <a:off x="1381805" y="4629157"/>
            <a:ext cx="5400000" cy="7344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grpSp>
        <p:nvGrpSpPr>
          <p:cNvPr id="83" name="Groupe 82"/>
          <p:cNvGrpSpPr/>
          <p:nvPr/>
        </p:nvGrpSpPr>
        <p:grpSpPr>
          <a:xfrm>
            <a:off x="10197518" y="4093301"/>
            <a:ext cx="1240132" cy="1200158"/>
            <a:chOff x="1643042" y="4143384"/>
            <a:chExt cx="1033443" cy="1000132"/>
          </a:xfrm>
        </p:grpSpPr>
        <p:grpSp>
          <p:nvGrpSpPr>
            <p:cNvPr id="17" name="Groupe 103"/>
            <p:cNvGrpSpPr/>
            <p:nvPr/>
          </p:nvGrpSpPr>
          <p:grpSpPr>
            <a:xfrm>
              <a:off x="1643042" y="4143384"/>
              <a:ext cx="1033443" cy="1000132"/>
              <a:chOff x="4395781" y="4214822"/>
              <a:chExt cx="1033443" cy="1000132"/>
            </a:xfrm>
          </p:grpSpPr>
          <p:sp>
            <p:nvSpPr>
              <p:cNvPr id="80" name="Organigramme : Connecteur 79"/>
              <p:cNvSpPr/>
              <p:nvPr/>
            </p:nvSpPr>
            <p:spPr>
              <a:xfrm>
                <a:off x="4429124" y="4214822"/>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2055" name="Picture 7"/>
              <p:cNvPicPr>
                <a:picLocks noChangeAspect="1" noChangeArrowheads="1"/>
              </p:cNvPicPr>
              <p:nvPr/>
            </p:nvPicPr>
            <p:blipFill>
              <a:blip r:embed="rId11">
                <a:clrChange>
                  <a:clrFrom>
                    <a:srgbClr val="FFFFFF"/>
                  </a:clrFrom>
                  <a:clrTo>
                    <a:srgbClr val="FFFFFF">
                      <a:alpha val="0"/>
                    </a:srgbClr>
                  </a:clrTo>
                </a:clrChange>
              </a:blip>
              <a:srcRect/>
              <a:stretch>
                <a:fillRect/>
              </a:stretch>
            </p:blipFill>
            <p:spPr bwMode="auto">
              <a:xfrm>
                <a:off x="4395781" y="4214822"/>
                <a:ext cx="982658" cy="603278"/>
              </a:xfrm>
              <a:prstGeom prst="rect">
                <a:avLst/>
              </a:prstGeom>
              <a:noFill/>
              <a:ln w="9525">
                <a:noFill/>
                <a:miter lim="800000"/>
                <a:headEnd/>
                <a:tailEnd/>
              </a:ln>
              <a:effectLst/>
            </p:spPr>
          </p:pic>
        </p:grpSp>
        <p:pic>
          <p:nvPicPr>
            <p:cNvPr id="2057" name="Picture 9"/>
            <p:cNvPicPr>
              <a:picLocks noChangeAspect="1" noChangeArrowheads="1"/>
            </p:cNvPicPr>
            <p:nvPr/>
          </p:nvPicPr>
          <p:blipFill>
            <a:blip r:embed="rId12" cstate="print">
              <a:clrChange>
                <a:clrFrom>
                  <a:srgbClr val="F8F8F8"/>
                </a:clrFrom>
                <a:clrTo>
                  <a:srgbClr val="F8F8F8">
                    <a:alpha val="0"/>
                  </a:srgbClr>
                </a:clrTo>
              </a:clrChange>
            </a:blip>
            <a:srcRect/>
            <a:stretch>
              <a:fillRect/>
            </a:stretch>
          </p:blipFill>
          <p:spPr bwMode="auto">
            <a:xfrm>
              <a:off x="1857356" y="4643450"/>
              <a:ext cx="631835" cy="481831"/>
            </a:xfrm>
            <a:prstGeom prst="rect">
              <a:avLst/>
            </a:prstGeom>
            <a:noFill/>
            <a:ln w="9525">
              <a:noFill/>
              <a:miter lim="800000"/>
              <a:headEnd/>
              <a:tailEnd/>
            </a:ln>
            <a:effectLst/>
          </p:spPr>
        </p:pic>
      </p:grpSp>
      <p:sp>
        <p:nvSpPr>
          <p:cNvPr id="129" name="Chevron 128"/>
          <p:cNvSpPr/>
          <p:nvPr/>
        </p:nvSpPr>
        <p:spPr>
          <a:xfrm flipH="1">
            <a:off x="6181726" y="2716765"/>
            <a:ext cx="171451" cy="257177"/>
          </a:xfrm>
          <a:prstGeom prst="chevron">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30" name="Chevron 129"/>
          <p:cNvSpPr/>
          <p:nvPr/>
        </p:nvSpPr>
        <p:spPr>
          <a:xfrm>
            <a:off x="5324470" y="4543432"/>
            <a:ext cx="171451" cy="257177"/>
          </a:xfrm>
          <a:prstGeom prst="chevron">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31" name="Ellipse 130"/>
          <p:cNvSpPr/>
          <p:nvPr/>
        </p:nvSpPr>
        <p:spPr>
          <a:xfrm>
            <a:off x="9096396" y="4473169"/>
            <a:ext cx="342902" cy="327439"/>
          </a:xfrm>
          <a:prstGeom prst="ellipse">
            <a:avLst/>
          </a:prstGeom>
          <a:solidFill>
            <a:schemeClr val="bg1"/>
          </a:solidFill>
          <a:ln w="285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grpSp>
        <p:nvGrpSpPr>
          <p:cNvPr id="12" name="Groupe 102"/>
          <p:cNvGrpSpPr/>
          <p:nvPr/>
        </p:nvGrpSpPr>
        <p:grpSpPr>
          <a:xfrm>
            <a:off x="2996237" y="4087615"/>
            <a:ext cx="1371571" cy="1200158"/>
            <a:chOff x="3786182" y="3000376"/>
            <a:chExt cx="1142976" cy="1000132"/>
          </a:xfrm>
        </p:grpSpPr>
        <p:sp>
          <p:nvSpPr>
            <p:cNvPr id="55" name="Organigramme : Connecteur 54"/>
            <p:cNvSpPr/>
            <p:nvPr/>
          </p:nvSpPr>
          <p:spPr>
            <a:xfrm>
              <a:off x="3929058" y="3000376"/>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2054" name="Picture 6"/>
            <p:cNvPicPr>
              <a:picLocks noChangeAspect="1" noChangeArrowheads="1"/>
            </p:cNvPicPr>
            <p:nvPr/>
          </p:nvPicPr>
          <p:blipFill>
            <a:blip r:embed="rId13">
              <a:clrChange>
                <a:clrFrom>
                  <a:srgbClr val="FFFFFF"/>
                </a:clrFrom>
                <a:clrTo>
                  <a:srgbClr val="FFFFFF">
                    <a:alpha val="0"/>
                  </a:srgbClr>
                </a:clrTo>
              </a:clrChange>
            </a:blip>
            <a:srcRect/>
            <a:stretch>
              <a:fillRect/>
            </a:stretch>
          </p:blipFill>
          <p:spPr bwMode="auto">
            <a:xfrm>
              <a:off x="3786182" y="3143252"/>
              <a:ext cx="1122172" cy="656881"/>
            </a:xfrm>
            <a:prstGeom prst="rect">
              <a:avLst/>
            </a:prstGeom>
            <a:noFill/>
            <a:ln w="9525">
              <a:noFill/>
              <a:miter lim="800000"/>
              <a:headEnd/>
              <a:tailEnd/>
            </a:ln>
            <a:effectLst/>
          </p:spPr>
        </p:pic>
      </p:grpSp>
      <p:sp>
        <p:nvSpPr>
          <p:cNvPr id="102" name="ZoneTexte 101"/>
          <p:cNvSpPr txBox="1"/>
          <p:nvPr/>
        </p:nvSpPr>
        <p:spPr>
          <a:xfrm rot="1946789">
            <a:off x="5021798" y="2491475"/>
            <a:ext cx="873957" cy="276999"/>
          </a:xfrm>
          <a:prstGeom prst="rect">
            <a:avLst/>
          </a:prstGeom>
          <a:noFill/>
        </p:spPr>
        <p:txBody>
          <a:bodyPr wrap="none" rtlCol="0">
            <a:spAutoFit/>
          </a:bodyPr>
          <a:lstStyle/>
          <a:p>
            <a:r>
              <a:rPr lang="fr-FR" sz="1200" b="1" dirty="0">
                <a:solidFill>
                  <a:schemeClr val="bg1"/>
                </a:solidFill>
                <a:latin typeface="Agency FB" pitchFamily="34" charset="0"/>
              </a:rPr>
              <a:t>G. partenaire</a:t>
            </a:r>
          </a:p>
        </p:txBody>
      </p:sp>
      <p:pic>
        <p:nvPicPr>
          <p:cNvPr id="104" name="Picture 8"/>
          <p:cNvPicPr>
            <a:picLocks noChangeAspect="1" noChangeArrowheads="1"/>
          </p:cNvPicPr>
          <p:nvPr/>
        </p:nvPicPr>
        <p:blipFill>
          <a:blip r:embed="rId14" cstate="print">
            <a:clrChange>
              <a:clrFrom>
                <a:srgbClr val="F8FAFB"/>
              </a:clrFrom>
              <a:clrTo>
                <a:srgbClr val="F8FAFB">
                  <a:alpha val="0"/>
                </a:srgbClr>
              </a:clrTo>
            </a:clrChange>
          </a:blip>
          <a:srcRect/>
          <a:stretch>
            <a:fillRect/>
          </a:stretch>
        </p:blipFill>
        <p:spPr bwMode="auto">
          <a:xfrm>
            <a:off x="8347742" y="2368948"/>
            <a:ext cx="320027" cy="288522"/>
          </a:xfrm>
          <a:prstGeom prst="rect">
            <a:avLst/>
          </a:prstGeom>
          <a:noFill/>
          <a:ln w="9525">
            <a:noFill/>
            <a:miter lim="800000"/>
            <a:headEnd/>
            <a:tailEnd/>
          </a:ln>
          <a:effectLst/>
        </p:spPr>
      </p:pic>
      <p:sp>
        <p:nvSpPr>
          <p:cNvPr id="82" name="ZoneTexte 81"/>
          <p:cNvSpPr txBox="1"/>
          <p:nvPr/>
        </p:nvSpPr>
        <p:spPr>
          <a:xfrm>
            <a:off x="749145" y="600055"/>
            <a:ext cx="979755" cy="387798"/>
          </a:xfrm>
          <a:prstGeom prst="rect">
            <a:avLst/>
          </a:prstGeom>
          <a:solidFill>
            <a:schemeClr val="bg1"/>
          </a:solidFill>
          <a:ln>
            <a:solidFill>
              <a:schemeClr val="bg2">
                <a:lumMod val="75000"/>
              </a:schemeClr>
            </a:solidFill>
          </a:ln>
        </p:spPr>
        <p:style>
          <a:lnRef idx="2">
            <a:schemeClr val="dk1"/>
          </a:lnRef>
          <a:fillRef idx="1">
            <a:schemeClr val="lt1"/>
          </a:fillRef>
          <a:effectRef idx="0">
            <a:schemeClr val="dk1"/>
          </a:effectRef>
          <a:fontRef idx="minor">
            <a:schemeClr val="dk1"/>
          </a:fontRef>
        </p:style>
        <p:txBody>
          <a:bodyPr wrap="none" rtlCol="0">
            <a:spAutoFit/>
          </a:bodyPr>
          <a:lstStyle/>
          <a:p>
            <a:pPr algn="ctr"/>
            <a:r>
              <a:rPr lang="fr-FR" sz="1920" b="1" dirty="0">
                <a:latin typeface="Agency FB" pitchFamily="34" charset="0"/>
              </a:rPr>
              <a:t>PEC-BDG </a:t>
            </a:r>
          </a:p>
        </p:txBody>
      </p:sp>
      <p:pic>
        <p:nvPicPr>
          <p:cNvPr id="84" name="Image 83"/>
          <p:cNvPicPr>
            <a:picLocks noChangeAspect="1"/>
          </p:cNvPicPr>
          <p:nvPr/>
        </p:nvPicPr>
        <p:blipFill rotWithShape="1">
          <a:blip r:embed="rId15"/>
          <a:srcRect l="60076" t="29484" r="8846" b="21502"/>
          <a:stretch/>
        </p:blipFill>
        <p:spPr>
          <a:xfrm>
            <a:off x="2103264" y="778850"/>
            <a:ext cx="1249556" cy="1116898"/>
          </a:xfrm>
          <a:prstGeom prst="rect">
            <a:avLst/>
          </a:prstGeom>
        </p:spPr>
      </p:pic>
      <p:pic>
        <p:nvPicPr>
          <p:cNvPr id="92" name="Image 91"/>
          <p:cNvPicPr>
            <a:picLocks noChangeAspect="1"/>
          </p:cNvPicPr>
          <p:nvPr/>
        </p:nvPicPr>
        <p:blipFill rotWithShape="1">
          <a:blip r:embed="rId16"/>
          <a:srcRect l="59049" t="26852" r="8944" b="22640"/>
          <a:stretch/>
        </p:blipFill>
        <p:spPr>
          <a:xfrm>
            <a:off x="650585" y="3083362"/>
            <a:ext cx="1211345" cy="1031442"/>
          </a:xfrm>
          <a:prstGeom prst="rect">
            <a:avLst/>
          </a:prstGeom>
        </p:spPr>
      </p:pic>
      <p:sp>
        <p:nvSpPr>
          <p:cNvPr id="98" name="Chevron 97"/>
          <p:cNvSpPr/>
          <p:nvPr/>
        </p:nvSpPr>
        <p:spPr>
          <a:xfrm>
            <a:off x="9867927" y="4473170"/>
            <a:ext cx="374366" cy="433775"/>
          </a:xfrm>
          <a:prstGeom prst="chevron">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00" name="Espace réservé du contenu 8"/>
          <p:cNvSpPr>
            <a:spLocks noGrp="1"/>
          </p:cNvSpPr>
          <p:nvPr>
            <p:ph sz="quarter" idx="12"/>
          </p:nvPr>
        </p:nvSpPr>
        <p:spPr bwMode="auto">
          <a:xfrm>
            <a:off x="5924549" y="6539866"/>
            <a:ext cx="5528311" cy="215855"/>
          </a:xfrm>
          <a:noFill/>
          <a:ln>
            <a:miter lim="800000"/>
            <a:headEnd/>
            <a:tailEnd/>
          </a:ln>
        </p:spPr>
        <p:txBody>
          <a:bodyPr wrap="square" numCol="1" anchorCtr="0" compatLnSpc="1">
            <a:prstTxWarp prst="textNoShape">
              <a:avLst/>
            </a:prstTxWarp>
          </a:bodyPr>
          <a:lstStyle/>
          <a:p>
            <a:pPr defTabSz="910554" fontAlgn="base">
              <a:spcBef>
                <a:spcPct val="0"/>
              </a:spcBef>
              <a:spcAft>
                <a:spcPct val="0"/>
              </a:spcAft>
            </a:pPr>
            <a:r>
              <a:rPr lang="fr-FR" b="1" dirty="0">
                <a:solidFill>
                  <a:schemeClr val="bg1"/>
                </a:solidFill>
                <a:latin typeface="Arial" charset="0"/>
                <a:cs typeface="Arial" charset="0"/>
              </a:rPr>
              <a:t>Direction </a:t>
            </a:r>
            <a:r>
              <a:rPr lang="fr-FR" b="1" dirty="0" smtClean="0">
                <a:solidFill>
                  <a:schemeClr val="bg1"/>
                </a:solidFill>
                <a:latin typeface="Arial" charset="0"/>
                <a:cs typeface="Arial" charset="0"/>
              </a:rPr>
              <a:t>Sinistres </a:t>
            </a:r>
            <a:r>
              <a:rPr lang="fr-FR" b="1" dirty="0">
                <a:solidFill>
                  <a:schemeClr val="bg1"/>
                </a:solidFill>
                <a:latin typeface="Arial" charset="0"/>
                <a:cs typeface="Arial" charset="0"/>
              </a:rPr>
              <a:t>Auto Matériels</a:t>
            </a:r>
          </a:p>
        </p:txBody>
      </p:sp>
      <p:sp>
        <p:nvSpPr>
          <p:cNvPr id="66" name="Rectangle 65"/>
          <p:cNvSpPr/>
          <p:nvPr/>
        </p:nvSpPr>
        <p:spPr>
          <a:xfrm>
            <a:off x="5851815" y="2125543"/>
            <a:ext cx="3461701" cy="321864"/>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a:solidFill>
                  <a:srgbClr val="00B050"/>
                </a:solidFill>
                <a:latin typeface="Agency FB" pitchFamily="34" charset="0"/>
              </a:rPr>
              <a:t>Le client choisit le parcours BDG- PEC</a:t>
            </a:r>
          </a:p>
        </p:txBody>
      </p:sp>
      <p:sp>
        <p:nvSpPr>
          <p:cNvPr id="67" name="Rectangle 66"/>
          <p:cNvSpPr/>
          <p:nvPr/>
        </p:nvSpPr>
        <p:spPr>
          <a:xfrm>
            <a:off x="4205397" y="3810391"/>
            <a:ext cx="2637193" cy="528979"/>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38880" rIns="38880" rtlCol="0" anchor="ctr"/>
          <a:lstStyle/>
          <a:p>
            <a:pPr algn="ctr"/>
            <a:r>
              <a:rPr lang="fr-FR" sz="1134" b="1" dirty="0">
                <a:solidFill>
                  <a:srgbClr val="00B050"/>
                </a:solidFill>
                <a:latin typeface="Agency FB" pitchFamily="34" charset="0"/>
              </a:rPr>
              <a:t>Le client ,récupère son véhicule avec la glace remplacée </a:t>
            </a:r>
            <a:r>
              <a:rPr lang="fr-FR" sz="1134" b="1" dirty="0" smtClean="0">
                <a:solidFill>
                  <a:srgbClr val="00B050"/>
                </a:solidFill>
                <a:latin typeface="Agency FB" pitchFamily="34" charset="0"/>
              </a:rPr>
              <a:t>en payant tout éventuel Ticket Modérateur</a:t>
            </a:r>
            <a:endParaRPr lang="fr-FR" sz="1134" b="1" dirty="0">
              <a:solidFill>
                <a:srgbClr val="00B050"/>
              </a:solidFill>
              <a:latin typeface="Agency FB" pitchFamily="34" charset="0"/>
            </a:endParaRPr>
          </a:p>
        </p:txBody>
      </p:sp>
    </p:spTree>
    <p:extLst>
      <p:ext uri="{BB962C8B-B14F-4D97-AF65-F5344CB8AC3E}">
        <p14:creationId xmlns:p14="http://schemas.microsoft.com/office/powerpoint/2010/main" val="17385028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Virage 13"/>
          <p:cNvSpPr/>
          <p:nvPr/>
        </p:nvSpPr>
        <p:spPr>
          <a:xfrm rot="10800000">
            <a:off x="1819709" y="2781218"/>
            <a:ext cx="8864640" cy="164005"/>
          </a:xfrm>
          <a:prstGeom prst="bentArrow">
            <a:avLst>
              <a:gd name="adj1" fmla="val 41310"/>
              <a:gd name="adj2" fmla="val 25000"/>
              <a:gd name="adj3" fmla="val 25000"/>
              <a:gd name="adj4" fmla="val 9565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solidFill>
                <a:schemeClr val="tx1"/>
              </a:solidFill>
            </a:endParaRPr>
          </a:p>
        </p:txBody>
      </p:sp>
      <p:sp>
        <p:nvSpPr>
          <p:cNvPr id="120" name="Rectangle 119"/>
          <p:cNvSpPr/>
          <p:nvPr/>
        </p:nvSpPr>
        <p:spPr>
          <a:xfrm>
            <a:off x="1852583" y="2865142"/>
            <a:ext cx="3343680" cy="6609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solidFill>
                <a:schemeClr val="tx1"/>
              </a:solidFill>
            </a:endParaRPr>
          </a:p>
        </p:txBody>
      </p:sp>
      <p:pic>
        <p:nvPicPr>
          <p:cNvPr id="2050" name="Picture 2"/>
          <p:cNvPicPr>
            <a:picLocks noChangeAspect="1" noChangeArrowheads="1"/>
          </p:cNvPicPr>
          <p:nvPr/>
        </p:nvPicPr>
        <p:blipFill>
          <a:blip r:embed="rId3" cstate="print"/>
          <a:srcRect/>
          <a:stretch>
            <a:fillRect/>
          </a:stretch>
        </p:blipFill>
        <p:spPr bwMode="auto">
          <a:xfrm>
            <a:off x="1070170" y="350964"/>
            <a:ext cx="9875520" cy="441965"/>
          </a:xfrm>
          <a:prstGeom prst="rect">
            <a:avLst/>
          </a:prstGeom>
          <a:noFill/>
          <a:ln w="9525">
            <a:noFill/>
            <a:miter lim="800000"/>
            <a:headEnd/>
            <a:tailEnd/>
          </a:ln>
        </p:spPr>
      </p:pic>
      <p:pic>
        <p:nvPicPr>
          <p:cNvPr id="5122" name="Image 4"/>
          <p:cNvPicPr>
            <a:picLocks noChangeAspect="1"/>
          </p:cNvPicPr>
          <p:nvPr/>
        </p:nvPicPr>
        <p:blipFill>
          <a:blip r:embed="rId4" cstate="print"/>
          <a:srcRect/>
          <a:stretch>
            <a:fillRect/>
          </a:stretch>
        </p:blipFill>
        <p:spPr bwMode="auto">
          <a:xfrm>
            <a:off x="1361320" y="396689"/>
            <a:ext cx="1235093" cy="388180"/>
          </a:xfrm>
          <a:prstGeom prst="rect">
            <a:avLst/>
          </a:prstGeom>
          <a:noFill/>
          <a:ln w="9525">
            <a:noFill/>
            <a:miter lim="800000"/>
            <a:headEnd/>
            <a:tailEnd/>
          </a:ln>
        </p:spPr>
      </p:pic>
      <p:sp>
        <p:nvSpPr>
          <p:cNvPr id="9" name="Rectangle 8"/>
          <p:cNvSpPr/>
          <p:nvPr/>
        </p:nvSpPr>
        <p:spPr>
          <a:xfrm>
            <a:off x="3974498" y="373706"/>
            <a:ext cx="7020928" cy="370437"/>
          </a:xfrm>
          <a:prstGeom prst="rect">
            <a:avLst/>
          </a:prstGeom>
        </p:spPr>
        <p:txBody>
          <a:bodyPr wrap="square" lIns="110826" tIns="55411" rIns="110826" bIns="55411">
            <a:spAutoFit/>
          </a:bodyPr>
          <a:lstStyle/>
          <a:p>
            <a:pPr algn="r"/>
            <a:r>
              <a:rPr lang="fr-FR" altLang="fr-FR" sz="1680" b="1" dirty="0">
                <a:solidFill>
                  <a:schemeClr val="accent1">
                    <a:lumMod val="50000"/>
                  </a:schemeClr>
                </a:solidFill>
                <a:ea typeface="Tahoma" pitchFamily="34" charset="0"/>
                <a:cs typeface="Tahoma" pitchFamily="34" charset="0"/>
              </a:rPr>
              <a:t>BDG –Unité Mobile</a:t>
            </a:r>
            <a:endParaRPr lang="fr-FR" sz="1680" b="1" dirty="0">
              <a:solidFill>
                <a:schemeClr val="accent1">
                  <a:lumMod val="50000"/>
                </a:schemeClr>
              </a:solidFill>
              <a:ea typeface="Tahoma" pitchFamily="34" charset="0"/>
              <a:cs typeface="Tahoma" pitchFamily="34" charset="0"/>
            </a:endParaRPr>
          </a:p>
        </p:txBody>
      </p:sp>
      <p:sp>
        <p:nvSpPr>
          <p:cNvPr id="73" name="Espace réservé du numéro de diapositive 72"/>
          <p:cNvSpPr>
            <a:spLocks noGrp="1"/>
          </p:cNvSpPr>
          <p:nvPr>
            <p:ph type="sldNum" sz="quarter" idx="12"/>
          </p:nvPr>
        </p:nvSpPr>
        <p:spPr>
          <a:xfrm>
            <a:off x="8774348" y="6211728"/>
            <a:ext cx="2221079" cy="328021"/>
          </a:xfrm>
        </p:spPr>
        <p:txBody>
          <a:bodyPr/>
          <a:lstStyle/>
          <a:p>
            <a:pPr>
              <a:defRPr/>
            </a:pPr>
            <a:fld id="{E11703BC-316E-4658-AE8F-B5827D54B665}" type="slidenum">
              <a:rPr lang="fr-FR" smtClean="0"/>
              <a:pPr>
                <a:defRPr/>
              </a:pPr>
              <a:t>8</a:t>
            </a:fld>
            <a:endParaRPr lang="fr-FR" dirty="0"/>
          </a:p>
        </p:txBody>
      </p:sp>
      <p:sp>
        <p:nvSpPr>
          <p:cNvPr id="56" name="Rectangle 55"/>
          <p:cNvSpPr/>
          <p:nvPr/>
        </p:nvSpPr>
        <p:spPr>
          <a:xfrm>
            <a:off x="1196577" y="6253319"/>
            <a:ext cx="9759415" cy="208661"/>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94"/>
          </a:p>
        </p:txBody>
      </p:sp>
      <p:sp>
        <p:nvSpPr>
          <p:cNvPr id="57" name="Espace réservé du contenu 8"/>
          <p:cNvSpPr>
            <a:spLocks noGrp="1"/>
          </p:cNvSpPr>
          <p:nvPr>
            <p:ph sz="quarter" idx="11"/>
          </p:nvPr>
        </p:nvSpPr>
        <p:spPr bwMode="auto">
          <a:xfrm>
            <a:off x="252266" y="6278112"/>
            <a:ext cx="5495651" cy="165097"/>
          </a:xfrm>
          <a:noFill/>
          <a:ln>
            <a:miter lim="800000"/>
            <a:headEnd/>
            <a:tailEnd/>
          </a:ln>
        </p:spPr>
        <p:txBody>
          <a:bodyPr wrap="square" numCol="1" anchorCtr="0" compatLnSpc="1">
            <a:prstTxWarp prst="textNoShape">
              <a:avLst/>
            </a:prstTxWarp>
          </a:bodyPr>
          <a:lstStyle/>
          <a:p>
            <a:pPr defTabSz="819499" fontAlgn="base">
              <a:spcBef>
                <a:spcPct val="0"/>
              </a:spcBef>
              <a:spcAft>
                <a:spcPct val="0"/>
              </a:spcAft>
            </a:pPr>
            <a:r>
              <a:rPr lang="fr-FR" i="1" dirty="0">
                <a:solidFill>
                  <a:schemeClr val="bg1"/>
                </a:solidFill>
                <a:latin typeface="Arial" charset="0"/>
                <a:cs typeface="Arial" charset="0"/>
              </a:rPr>
              <a:t>À usage strictement interne ou confidentiel</a:t>
            </a:r>
          </a:p>
        </p:txBody>
      </p:sp>
      <p:sp>
        <p:nvSpPr>
          <p:cNvPr id="3" name="Virage 2"/>
          <p:cNvSpPr/>
          <p:nvPr/>
        </p:nvSpPr>
        <p:spPr>
          <a:xfrm rot="10800000" flipV="1">
            <a:off x="2636190" y="1519110"/>
            <a:ext cx="8048160" cy="163984"/>
          </a:xfrm>
          <a:prstGeom prst="bentArrow">
            <a:avLst>
              <a:gd name="adj1" fmla="val 41310"/>
              <a:gd name="adj2" fmla="val 25000"/>
              <a:gd name="adj3" fmla="val 25000"/>
              <a:gd name="adj4" fmla="val 95655"/>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solidFill>
                <a:schemeClr val="accent1"/>
              </a:solidFill>
            </a:endParaRPr>
          </a:p>
        </p:txBody>
      </p:sp>
      <p:sp>
        <p:nvSpPr>
          <p:cNvPr id="4" name="Rectangle 3"/>
          <p:cNvSpPr/>
          <p:nvPr/>
        </p:nvSpPr>
        <p:spPr>
          <a:xfrm>
            <a:off x="10614364" y="1678840"/>
            <a:ext cx="69984" cy="1144205"/>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solidFill>
                <a:schemeClr val="tx1"/>
              </a:solidFill>
            </a:endParaRPr>
          </a:p>
        </p:txBody>
      </p:sp>
      <p:sp>
        <p:nvSpPr>
          <p:cNvPr id="5" name="Arc plein 4"/>
          <p:cNvSpPr/>
          <p:nvPr/>
        </p:nvSpPr>
        <p:spPr>
          <a:xfrm rot="16200000">
            <a:off x="1015025" y="3558830"/>
            <a:ext cx="1710720" cy="344213"/>
          </a:xfrm>
          <a:prstGeom prst="blockArc">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solidFill>
                <a:schemeClr val="tx1"/>
              </a:solidFill>
            </a:endParaRPr>
          </a:p>
        </p:txBody>
      </p:sp>
      <p:sp>
        <p:nvSpPr>
          <p:cNvPr id="16" name="Virage 15"/>
          <p:cNvSpPr/>
          <p:nvPr/>
        </p:nvSpPr>
        <p:spPr>
          <a:xfrm rot="10800000" flipV="1">
            <a:off x="1858586" y="4506306"/>
            <a:ext cx="8825760" cy="163296"/>
          </a:xfrm>
          <a:prstGeom prst="bentArrow">
            <a:avLst>
              <a:gd name="adj1" fmla="val 41310"/>
              <a:gd name="adj2" fmla="val 25000"/>
              <a:gd name="adj3" fmla="val 25000"/>
              <a:gd name="adj4" fmla="val 95655"/>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solidFill>
                <a:schemeClr val="tx1"/>
              </a:solidFill>
            </a:endParaRPr>
          </a:p>
        </p:txBody>
      </p:sp>
      <p:sp>
        <p:nvSpPr>
          <p:cNvPr id="8" name="ZoneTexte 7"/>
          <p:cNvSpPr txBox="1"/>
          <p:nvPr/>
        </p:nvSpPr>
        <p:spPr>
          <a:xfrm>
            <a:off x="4540629" y="1714708"/>
            <a:ext cx="5379999" cy="325025"/>
          </a:xfrm>
          <a:prstGeom prst="rect">
            <a:avLst/>
          </a:prstGeom>
          <a:noFill/>
        </p:spPr>
        <p:txBody>
          <a:bodyPr wrap="none" rtlCol="0">
            <a:spAutoFit/>
          </a:bodyPr>
          <a:lstStyle/>
          <a:p>
            <a:r>
              <a:rPr lang="fr-FR" sz="1512" b="1" dirty="0">
                <a:solidFill>
                  <a:schemeClr val="tx2">
                    <a:lumMod val="75000"/>
                  </a:schemeClr>
                </a:solidFill>
                <a:latin typeface="Agency FB" pitchFamily="34" charset="0"/>
              </a:rPr>
              <a:t>Survenance du sinistre            		</a:t>
            </a:r>
            <a:r>
              <a:rPr lang="fr-FR" sz="1512" b="1" dirty="0">
                <a:solidFill>
                  <a:schemeClr val="accent6">
                    <a:lumMod val="75000"/>
                  </a:schemeClr>
                </a:solidFill>
                <a:latin typeface="Agency FB" pitchFamily="34" charset="0"/>
              </a:rPr>
              <a:t>Déclaration de sinistre</a:t>
            </a:r>
          </a:p>
        </p:txBody>
      </p:sp>
      <p:sp>
        <p:nvSpPr>
          <p:cNvPr id="32" name="ZoneTexte 31"/>
          <p:cNvSpPr txBox="1"/>
          <p:nvPr/>
        </p:nvSpPr>
        <p:spPr>
          <a:xfrm>
            <a:off x="963014" y="3271753"/>
            <a:ext cx="4978680" cy="469832"/>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38880" rIns="38880" rtlCol="0" anchor="ctr"/>
          <a:lstStyle>
            <a:defPPr>
              <a:defRPr lang="fr-FR"/>
            </a:defPPr>
            <a:lvl1pPr algn="ctr">
              <a:defRPr sz="1260">
                <a:latin typeface="Agency FB"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1134" dirty="0">
                <a:solidFill>
                  <a:schemeClr val="tx1"/>
                </a:solidFill>
              </a:rPr>
              <a:t>L’unité mobile se déplace au lieu indiqué par </a:t>
            </a:r>
          </a:p>
          <a:p>
            <a:r>
              <a:rPr lang="fr-FR" sz="1134" dirty="0">
                <a:solidFill>
                  <a:schemeClr val="tx1"/>
                </a:solidFill>
              </a:rPr>
              <a:t>le client pour remplacement de la Glace Brisée</a:t>
            </a:r>
          </a:p>
        </p:txBody>
      </p:sp>
      <p:sp>
        <p:nvSpPr>
          <p:cNvPr id="34" name="ZoneTexte 33"/>
          <p:cNvSpPr txBox="1"/>
          <p:nvPr/>
        </p:nvSpPr>
        <p:spPr>
          <a:xfrm>
            <a:off x="1590211" y="3722295"/>
            <a:ext cx="3538472" cy="325025"/>
          </a:xfrm>
          <a:prstGeom prst="rect">
            <a:avLst/>
          </a:prstGeom>
          <a:noFill/>
        </p:spPr>
        <p:txBody>
          <a:bodyPr wrap="square" rtlCol="0">
            <a:spAutoFit/>
          </a:bodyPr>
          <a:lstStyle/>
          <a:p>
            <a:pPr algn="ctr"/>
            <a:r>
              <a:rPr lang="fr-FR" sz="1512" b="1" dirty="0">
                <a:latin typeface="Agency FB" pitchFamily="34" charset="0"/>
              </a:rPr>
              <a:t>Remplacement de la Glace</a:t>
            </a:r>
          </a:p>
        </p:txBody>
      </p:sp>
      <p:sp>
        <p:nvSpPr>
          <p:cNvPr id="35" name="ZoneTexte 34"/>
          <p:cNvSpPr txBox="1"/>
          <p:nvPr/>
        </p:nvSpPr>
        <p:spPr>
          <a:xfrm>
            <a:off x="4035133" y="4760884"/>
            <a:ext cx="3538472" cy="325025"/>
          </a:xfrm>
          <a:prstGeom prst="rect">
            <a:avLst/>
          </a:prstGeom>
          <a:noFill/>
        </p:spPr>
        <p:txBody>
          <a:bodyPr wrap="square" rtlCol="0">
            <a:spAutoFit/>
          </a:bodyPr>
          <a:lstStyle/>
          <a:p>
            <a:pPr algn="ctr"/>
            <a:r>
              <a:rPr lang="fr-FR" sz="1512" b="1" dirty="0">
                <a:solidFill>
                  <a:schemeClr val="accent4"/>
                </a:solidFill>
                <a:latin typeface="Agency FB" pitchFamily="34" charset="0"/>
              </a:rPr>
              <a:t>Récupération du véhicule réparé</a:t>
            </a:r>
          </a:p>
        </p:txBody>
      </p:sp>
      <p:sp>
        <p:nvSpPr>
          <p:cNvPr id="36" name="ZoneTexte 35"/>
          <p:cNvSpPr txBox="1"/>
          <p:nvPr/>
        </p:nvSpPr>
        <p:spPr>
          <a:xfrm>
            <a:off x="7171471" y="4719862"/>
            <a:ext cx="2931816" cy="557717"/>
          </a:xfrm>
          <a:prstGeom prst="rect">
            <a:avLst/>
          </a:prstGeom>
          <a:noFill/>
        </p:spPr>
        <p:txBody>
          <a:bodyPr wrap="square" rtlCol="0">
            <a:spAutoFit/>
          </a:bodyPr>
          <a:lstStyle/>
          <a:p>
            <a:pPr algn="ctr"/>
            <a:r>
              <a:rPr lang="fr-FR" sz="1512" b="1" dirty="0">
                <a:solidFill>
                  <a:schemeClr val="accent2">
                    <a:lumMod val="75000"/>
                  </a:schemeClr>
                </a:solidFill>
                <a:latin typeface="Agency FB" pitchFamily="34" charset="0"/>
              </a:rPr>
              <a:t>Evaluation de la qualité de service à travers la First Line</a:t>
            </a:r>
          </a:p>
        </p:txBody>
      </p:sp>
      <p:sp>
        <p:nvSpPr>
          <p:cNvPr id="43" name="Ellipse 42"/>
          <p:cNvSpPr/>
          <p:nvPr/>
        </p:nvSpPr>
        <p:spPr>
          <a:xfrm>
            <a:off x="4861552" y="1399235"/>
            <a:ext cx="308612" cy="294695"/>
          </a:xfrm>
          <a:prstGeom prst="ellipse">
            <a:avLst/>
          </a:prstGeom>
          <a:solidFill>
            <a:schemeClr val="bg1"/>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dirty="0">
              <a:solidFill>
                <a:schemeClr val="tx2">
                  <a:lumMod val="50000"/>
                </a:schemeClr>
              </a:solidFill>
            </a:endParaRPr>
          </a:p>
        </p:txBody>
      </p:sp>
      <p:sp>
        <p:nvSpPr>
          <p:cNvPr id="60" name="Chevron 59"/>
          <p:cNvSpPr/>
          <p:nvPr/>
        </p:nvSpPr>
        <p:spPr>
          <a:xfrm>
            <a:off x="9876500" y="1444814"/>
            <a:ext cx="154306" cy="231460"/>
          </a:xfrm>
          <a:prstGeom prst="chevr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solidFill>
                <a:schemeClr val="tx1"/>
              </a:solidFill>
            </a:endParaRPr>
          </a:p>
        </p:txBody>
      </p:sp>
      <p:grpSp>
        <p:nvGrpSpPr>
          <p:cNvPr id="2" name="Groupe 99"/>
          <p:cNvGrpSpPr/>
          <p:nvPr/>
        </p:nvGrpSpPr>
        <p:grpSpPr>
          <a:xfrm>
            <a:off x="6713225" y="1013470"/>
            <a:ext cx="1080108" cy="1080143"/>
            <a:chOff x="5143504" y="428608"/>
            <a:chExt cx="1000100" cy="1000132"/>
          </a:xfrm>
        </p:grpSpPr>
        <p:sp>
          <p:nvSpPr>
            <p:cNvPr id="52" name="Organigramme : Connecteur 51"/>
            <p:cNvSpPr/>
            <p:nvPr/>
          </p:nvSpPr>
          <p:spPr>
            <a:xfrm>
              <a:off x="5143504" y="428608"/>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p>
          </p:txBody>
        </p:sp>
        <p:pic>
          <p:nvPicPr>
            <p:cNvPr id="1029" name="Picture 5"/>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5357818" y="571484"/>
              <a:ext cx="642942" cy="655931"/>
            </a:xfrm>
            <a:prstGeom prst="rect">
              <a:avLst/>
            </a:prstGeom>
            <a:noFill/>
            <a:ln w="9525">
              <a:noFill/>
              <a:miter lim="800000"/>
              <a:headEnd/>
              <a:tailEnd/>
            </a:ln>
            <a:effectLst/>
          </p:spPr>
        </p:pic>
      </p:grpSp>
      <p:sp>
        <p:nvSpPr>
          <p:cNvPr id="61" name="Rectangle 60"/>
          <p:cNvSpPr/>
          <p:nvPr/>
        </p:nvSpPr>
        <p:spPr>
          <a:xfrm>
            <a:off x="3704257" y="960104"/>
            <a:ext cx="2468897" cy="385765"/>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38880" rIns="38880" rtlCol="0" anchor="ctr"/>
          <a:lstStyle/>
          <a:p>
            <a:pPr algn="ctr"/>
            <a:r>
              <a:rPr lang="fr-FR" sz="1134" dirty="0">
                <a:solidFill>
                  <a:schemeClr val="tx1"/>
                </a:solidFill>
                <a:latin typeface="Agency FB" pitchFamily="34" charset="0"/>
              </a:rPr>
              <a:t>Le client a eu un Bris de glace</a:t>
            </a:r>
          </a:p>
        </p:txBody>
      </p:sp>
      <p:grpSp>
        <p:nvGrpSpPr>
          <p:cNvPr id="7" name="Groupe 100"/>
          <p:cNvGrpSpPr/>
          <p:nvPr/>
        </p:nvGrpSpPr>
        <p:grpSpPr>
          <a:xfrm>
            <a:off x="9953652" y="1630694"/>
            <a:ext cx="1080108" cy="1080143"/>
            <a:chOff x="8143900" y="1071550"/>
            <a:chExt cx="1000100" cy="1000132"/>
          </a:xfrm>
        </p:grpSpPr>
        <p:sp>
          <p:nvSpPr>
            <p:cNvPr id="53" name="Organigramme : Connecteur 52"/>
            <p:cNvSpPr/>
            <p:nvPr/>
          </p:nvSpPr>
          <p:spPr>
            <a:xfrm>
              <a:off x="8143900" y="1071550"/>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p>
          </p:txBody>
        </p:sp>
        <p:pic>
          <p:nvPicPr>
            <p:cNvPr id="72" name="Picture 4" descr="C:\Users\f.tabouti\Desktop\Icones\sm.png"/>
            <p:cNvPicPr>
              <a:picLocks noChangeAspect="1" noChangeArrowheads="1"/>
            </p:cNvPicPr>
            <p:nvPr/>
          </p:nvPicPr>
          <p:blipFill>
            <a:blip r:embed="rId6" cstate="print"/>
            <a:srcRect/>
            <a:stretch>
              <a:fillRect/>
            </a:stretch>
          </p:blipFill>
          <p:spPr bwMode="auto">
            <a:xfrm>
              <a:off x="8215338" y="1357302"/>
              <a:ext cx="500066" cy="500066"/>
            </a:xfrm>
            <a:prstGeom prst="rect">
              <a:avLst/>
            </a:prstGeom>
            <a:noFill/>
          </p:spPr>
        </p:pic>
        <p:pic>
          <p:nvPicPr>
            <p:cNvPr id="74" name="Image 73" descr="tel.png"/>
            <p:cNvPicPr>
              <a:picLocks noChangeAspect="1"/>
            </p:cNvPicPr>
            <p:nvPr/>
          </p:nvPicPr>
          <p:blipFill>
            <a:blip r:embed="rId7" cstate="print"/>
            <a:stretch>
              <a:fillRect/>
            </a:stretch>
          </p:blipFill>
          <p:spPr>
            <a:xfrm>
              <a:off x="8715404" y="1428740"/>
              <a:ext cx="357190" cy="357190"/>
            </a:xfrm>
            <a:prstGeom prst="rect">
              <a:avLst/>
            </a:prstGeom>
          </p:spPr>
        </p:pic>
      </p:grpSp>
      <p:pic>
        <p:nvPicPr>
          <p:cNvPr id="76" name="Image 75" descr="photo.png"/>
          <p:cNvPicPr>
            <a:picLocks noChangeAspect="1"/>
          </p:cNvPicPr>
          <p:nvPr/>
        </p:nvPicPr>
        <p:blipFill>
          <a:blip r:embed="rId8" cstate="print"/>
          <a:stretch>
            <a:fillRect/>
          </a:stretch>
        </p:blipFill>
        <p:spPr>
          <a:xfrm>
            <a:off x="7651766" y="2556530"/>
            <a:ext cx="154306" cy="154306"/>
          </a:xfrm>
          <a:prstGeom prst="rect">
            <a:avLst/>
          </a:prstGeom>
        </p:spPr>
      </p:pic>
      <p:sp>
        <p:nvSpPr>
          <p:cNvPr id="85" name="ZoneTexte 84"/>
          <p:cNvSpPr txBox="1"/>
          <p:nvPr/>
        </p:nvSpPr>
        <p:spPr>
          <a:xfrm>
            <a:off x="6382271" y="3084404"/>
            <a:ext cx="2340705" cy="325025"/>
          </a:xfrm>
          <a:prstGeom prst="rect">
            <a:avLst/>
          </a:prstGeom>
          <a:noFill/>
        </p:spPr>
        <p:txBody>
          <a:bodyPr wrap="none" rtlCol="0">
            <a:spAutoFit/>
          </a:bodyPr>
          <a:lstStyle/>
          <a:p>
            <a:r>
              <a:rPr lang="fr-FR" sz="1512" b="1" dirty="0">
                <a:solidFill>
                  <a:srgbClr val="BCB800"/>
                </a:solidFill>
                <a:latin typeface="Agency FB" pitchFamily="34" charset="0"/>
              </a:rPr>
              <a:t>PRESTATION MOBILE A EXECUTER</a:t>
            </a:r>
          </a:p>
        </p:txBody>
      </p:sp>
      <p:sp>
        <p:nvSpPr>
          <p:cNvPr id="86" name="Ellipse 85"/>
          <p:cNvSpPr/>
          <p:nvPr/>
        </p:nvSpPr>
        <p:spPr>
          <a:xfrm>
            <a:off x="8950663" y="1399235"/>
            <a:ext cx="308612" cy="294695"/>
          </a:xfrm>
          <a:prstGeom prst="ellipse">
            <a:avLst/>
          </a:prstGeom>
          <a:solidFill>
            <a:schemeClr val="bg1"/>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dirty="0">
              <a:solidFill>
                <a:schemeClr val="tx2">
                  <a:lumMod val="50000"/>
                </a:schemeClr>
              </a:solidFill>
            </a:endParaRPr>
          </a:p>
        </p:txBody>
      </p:sp>
      <p:sp>
        <p:nvSpPr>
          <p:cNvPr id="87" name="Rectangle 86"/>
          <p:cNvSpPr/>
          <p:nvPr/>
        </p:nvSpPr>
        <p:spPr>
          <a:xfrm>
            <a:off x="7639061" y="960104"/>
            <a:ext cx="3086122" cy="385765"/>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38880" rIns="38880" rtlCol="0" anchor="ctr"/>
          <a:lstStyle/>
          <a:p>
            <a:pPr algn="ctr"/>
            <a:r>
              <a:rPr lang="fr-FR" sz="1134" dirty="0">
                <a:solidFill>
                  <a:schemeClr val="tx1"/>
                </a:solidFill>
                <a:latin typeface="Agency FB" pitchFamily="34" charset="0"/>
              </a:rPr>
              <a:t>Le client déclare son sinistre à son intermédiaire d’assurance, ou à la plateforme ou via Mywafa</a:t>
            </a:r>
          </a:p>
        </p:txBody>
      </p:sp>
      <p:sp>
        <p:nvSpPr>
          <p:cNvPr id="88" name="Ellipse 87"/>
          <p:cNvSpPr/>
          <p:nvPr/>
        </p:nvSpPr>
        <p:spPr>
          <a:xfrm>
            <a:off x="9182122" y="2766734"/>
            <a:ext cx="308612" cy="294695"/>
          </a:xfrm>
          <a:prstGeom prst="ellipse">
            <a:avLst/>
          </a:prstGeom>
          <a:solidFill>
            <a:schemeClr val="bg1"/>
          </a:solid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dirty="0">
              <a:solidFill>
                <a:schemeClr val="tx2">
                  <a:lumMod val="50000"/>
                </a:schemeClr>
              </a:solidFill>
            </a:endParaRPr>
          </a:p>
        </p:txBody>
      </p:sp>
      <p:sp>
        <p:nvSpPr>
          <p:cNvPr id="89" name="Rectangle 88"/>
          <p:cNvSpPr/>
          <p:nvPr/>
        </p:nvSpPr>
        <p:spPr>
          <a:xfrm>
            <a:off x="8273523" y="2106934"/>
            <a:ext cx="1928826" cy="540071"/>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38880" rIns="38880" rtlCol="0" anchor="ctr"/>
          <a:lstStyle/>
          <a:p>
            <a:pPr algn="ctr"/>
            <a:endParaRPr lang="fr-FR" sz="1134" b="1" dirty="0">
              <a:solidFill>
                <a:schemeClr val="tx1"/>
              </a:solidFill>
              <a:latin typeface="Agency FB" pitchFamily="34" charset="0"/>
            </a:endParaRPr>
          </a:p>
        </p:txBody>
      </p:sp>
      <p:sp>
        <p:nvSpPr>
          <p:cNvPr id="91" name="Rectangle 90"/>
          <p:cNvSpPr/>
          <p:nvPr/>
        </p:nvSpPr>
        <p:spPr>
          <a:xfrm>
            <a:off x="2108868" y="2005513"/>
            <a:ext cx="3317581" cy="617225"/>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38880" rIns="38880" rtlCol="0" anchor="ctr"/>
          <a:lstStyle/>
          <a:p>
            <a:pPr algn="ctr"/>
            <a:r>
              <a:rPr lang="fr-FR" sz="1134" dirty="0">
                <a:solidFill>
                  <a:schemeClr val="tx1"/>
                </a:solidFill>
                <a:latin typeface="Agency FB" pitchFamily="34" charset="0"/>
              </a:rPr>
              <a:t>La plateforme vérifie la disponibilité de la glace auprès de Glaciers Disposant de l’unité Mobile et rappelle l’assuré pour confirmation du RDV pour prestation BDG MOBILE</a:t>
            </a:r>
          </a:p>
        </p:txBody>
      </p:sp>
      <p:sp>
        <p:nvSpPr>
          <p:cNvPr id="95" name="Ellipse 94"/>
          <p:cNvSpPr/>
          <p:nvPr/>
        </p:nvSpPr>
        <p:spPr>
          <a:xfrm>
            <a:off x="7176144" y="2766734"/>
            <a:ext cx="308612" cy="294695"/>
          </a:xfrm>
          <a:prstGeom prst="ellipse">
            <a:avLst/>
          </a:prstGeom>
          <a:solidFill>
            <a:schemeClr val="bg1"/>
          </a:solid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dirty="0">
              <a:solidFill>
                <a:schemeClr val="tx2">
                  <a:lumMod val="50000"/>
                </a:schemeClr>
              </a:solidFill>
            </a:endParaRPr>
          </a:p>
        </p:txBody>
      </p:sp>
      <p:sp>
        <p:nvSpPr>
          <p:cNvPr id="96" name="Rectangle 95"/>
          <p:cNvSpPr/>
          <p:nvPr/>
        </p:nvSpPr>
        <p:spPr>
          <a:xfrm>
            <a:off x="5773755" y="1986601"/>
            <a:ext cx="4203199" cy="596515"/>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38880" rIns="38880" rtlCol="0" anchor="ctr"/>
          <a:lstStyle/>
          <a:p>
            <a:pPr algn="ctr"/>
            <a:r>
              <a:rPr lang="fr-FR" sz="1134" dirty="0">
                <a:solidFill>
                  <a:schemeClr val="tx1"/>
                </a:solidFill>
                <a:latin typeface="Agency FB" pitchFamily="34" charset="0"/>
              </a:rPr>
              <a:t>e client transmet les documents de base,la copie CG et photo de la glace brisée , Choisit l’unité mobile, via la plateforme, mywafa ou à l’intermédiaire. Il communique ses disponibilités </a:t>
            </a:r>
          </a:p>
        </p:txBody>
      </p:sp>
      <p:pic>
        <p:nvPicPr>
          <p:cNvPr id="97" name="Image 96" descr="po.png"/>
          <p:cNvPicPr>
            <a:picLocks noChangeAspect="1"/>
          </p:cNvPicPr>
          <p:nvPr/>
        </p:nvPicPr>
        <p:blipFill>
          <a:blip r:embed="rId9" cstate="print"/>
          <a:stretch>
            <a:fillRect/>
          </a:stretch>
        </p:blipFill>
        <p:spPr>
          <a:xfrm>
            <a:off x="7883226" y="2556531"/>
            <a:ext cx="141601" cy="143214"/>
          </a:xfrm>
          <a:prstGeom prst="rect">
            <a:avLst/>
          </a:prstGeom>
        </p:spPr>
      </p:pic>
      <p:pic>
        <p:nvPicPr>
          <p:cNvPr id="112" name="Image 111" descr="money-icon.png"/>
          <p:cNvPicPr>
            <a:picLocks noChangeAspect="1"/>
          </p:cNvPicPr>
          <p:nvPr/>
        </p:nvPicPr>
        <p:blipFill>
          <a:blip r:embed="rId10" cstate="print">
            <a:duotone>
              <a:prstClr val="black"/>
              <a:schemeClr val="accent6">
                <a:tint val="45000"/>
                <a:satMod val="400000"/>
              </a:schemeClr>
            </a:duotone>
          </a:blip>
          <a:stretch>
            <a:fillRect/>
          </a:stretch>
        </p:blipFill>
        <p:spPr>
          <a:xfrm rot="10800000">
            <a:off x="5659157" y="4185414"/>
            <a:ext cx="177520" cy="183340"/>
          </a:xfrm>
          <a:prstGeom prst="rect">
            <a:avLst/>
          </a:prstGeom>
        </p:spPr>
      </p:pic>
      <p:sp>
        <p:nvSpPr>
          <p:cNvPr id="90" name="Ellipse 89"/>
          <p:cNvSpPr/>
          <p:nvPr/>
        </p:nvSpPr>
        <p:spPr>
          <a:xfrm>
            <a:off x="3087032" y="2766734"/>
            <a:ext cx="308612" cy="294695"/>
          </a:xfrm>
          <a:prstGeom prst="ellipse">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dirty="0">
              <a:solidFill>
                <a:schemeClr val="tx2">
                  <a:lumMod val="50000"/>
                </a:schemeClr>
              </a:solidFill>
            </a:endParaRPr>
          </a:p>
        </p:txBody>
      </p:sp>
      <p:grpSp>
        <p:nvGrpSpPr>
          <p:cNvPr id="15" name="Groupe 124"/>
          <p:cNvGrpSpPr/>
          <p:nvPr/>
        </p:nvGrpSpPr>
        <p:grpSpPr>
          <a:xfrm>
            <a:off x="4913305" y="2493225"/>
            <a:ext cx="1080108" cy="1080143"/>
            <a:chOff x="3643306" y="1643054"/>
            <a:chExt cx="1000100" cy="1000132"/>
          </a:xfrm>
        </p:grpSpPr>
        <p:sp>
          <p:nvSpPr>
            <p:cNvPr id="119" name="Organigramme : Connecteur 118"/>
            <p:cNvSpPr/>
            <p:nvPr/>
          </p:nvSpPr>
          <p:spPr>
            <a:xfrm>
              <a:off x="3643306" y="1643054"/>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p>
          </p:txBody>
        </p:sp>
        <p:pic>
          <p:nvPicPr>
            <p:cNvPr id="2056" name="Picture 8"/>
            <p:cNvPicPr>
              <a:picLocks noChangeAspect="1" noChangeArrowheads="1"/>
            </p:cNvPicPr>
            <p:nvPr/>
          </p:nvPicPr>
          <p:blipFill>
            <a:blip r:embed="rId11" cstate="print">
              <a:clrChange>
                <a:clrFrom>
                  <a:srgbClr val="FFFFFF"/>
                </a:clrFrom>
                <a:clrTo>
                  <a:srgbClr val="FFFFFF">
                    <a:alpha val="0"/>
                  </a:srgbClr>
                </a:clrTo>
              </a:clrChange>
            </a:blip>
            <a:srcRect/>
            <a:stretch>
              <a:fillRect/>
            </a:stretch>
          </p:blipFill>
          <p:spPr bwMode="auto">
            <a:xfrm>
              <a:off x="3858519" y="2095837"/>
              <a:ext cx="569673" cy="512006"/>
            </a:xfrm>
            <a:prstGeom prst="rect">
              <a:avLst/>
            </a:prstGeom>
            <a:noFill/>
            <a:ln w="9525">
              <a:noFill/>
              <a:miter lim="800000"/>
              <a:headEnd/>
              <a:tailEnd/>
            </a:ln>
            <a:effectLst/>
          </p:spPr>
        </p:pic>
      </p:grpSp>
      <p:sp>
        <p:nvSpPr>
          <p:cNvPr id="127" name="Rectangle 126"/>
          <p:cNvSpPr/>
          <p:nvPr/>
        </p:nvSpPr>
        <p:spPr>
          <a:xfrm>
            <a:off x="1853225" y="4509142"/>
            <a:ext cx="4860000" cy="6609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solidFill>
                <a:schemeClr val="tx1"/>
              </a:solidFill>
            </a:endParaRPr>
          </a:p>
        </p:txBody>
      </p:sp>
      <p:grpSp>
        <p:nvGrpSpPr>
          <p:cNvPr id="83" name="Groupe 82"/>
          <p:cNvGrpSpPr/>
          <p:nvPr/>
        </p:nvGrpSpPr>
        <p:grpSpPr>
          <a:xfrm>
            <a:off x="9787367" y="4026872"/>
            <a:ext cx="1116119" cy="1080143"/>
            <a:chOff x="1643042" y="4143384"/>
            <a:chExt cx="1033443" cy="1000132"/>
          </a:xfrm>
        </p:grpSpPr>
        <p:grpSp>
          <p:nvGrpSpPr>
            <p:cNvPr id="17" name="Groupe 103"/>
            <p:cNvGrpSpPr/>
            <p:nvPr/>
          </p:nvGrpSpPr>
          <p:grpSpPr>
            <a:xfrm>
              <a:off x="1643042" y="4143384"/>
              <a:ext cx="1033443" cy="1000132"/>
              <a:chOff x="4395781" y="4214822"/>
              <a:chExt cx="1033443" cy="1000132"/>
            </a:xfrm>
          </p:grpSpPr>
          <p:sp>
            <p:nvSpPr>
              <p:cNvPr id="80" name="Organigramme : Connecteur 79"/>
              <p:cNvSpPr/>
              <p:nvPr/>
            </p:nvSpPr>
            <p:spPr>
              <a:xfrm>
                <a:off x="4429124" y="4214822"/>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p>
            </p:txBody>
          </p:sp>
          <p:pic>
            <p:nvPicPr>
              <p:cNvPr id="2055" name="Picture 7"/>
              <p:cNvPicPr>
                <a:picLocks noChangeAspect="1" noChangeArrowheads="1"/>
              </p:cNvPicPr>
              <p:nvPr/>
            </p:nvPicPr>
            <p:blipFill>
              <a:blip r:embed="rId12">
                <a:clrChange>
                  <a:clrFrom>
                    <a:srgbClr val="FFFFFF"/>
                  </a:clrFrom>
                  <a:clrTo>
                    <a:srgbClr val="FFFFFF">
                      <a:alpha val="0"/>
                    </a:srgbClr>
                  </a:clrTo>
                </a:clrChange>
              </a:blip>
              <a:srcRect/>
              <a:stretch>
                <a:fillRect/>
              </a:stretch>
            </p:blipFill>
            <p:spPr bwMode="auto">
              <a:xfrm>
                <a:off x="4395781" y="4214822"/>
                <a:ext cx="982658" cy="603278"/>
              </a:xfrm>
              <a:prstGeom prst="rect">
                <a:avLst/>
              </a:prstGeom>
              <a:noFill/>
              <a:ln w="9525">
                <a:noFill/>
                <a:miter lim="800000"/>
                <a:headEnd/>
                <a:tailEnd/>
              </a:ln>
              <a:effectLst/>
            </p:spPr>
          </p:pic>
        </p:grpSp>
        <p:pic>
          <p:nvPicPr>
            <p:cNvPr id="2057" name="Picture 9"/>
            <p:cNvPicPr>
              <a:picLocks noChangeAspect="1" noChangeArrowheads="1"/>
            </p:cNvPicPr>
            <p:nvPr/>
          </p:nvPicPr>
          <p:blipFill>
            <a:blip r:embed="rId13" cstate="print">
              <a:clrChange>
                <a:clrFrom>
                  <a:srgbClr val="F8F8F8"/>
                </a:clrFrom>
                <a:clrTo>
                  <a:srgbClr val="F8F8F8">
                    <a:alpha val="0"/>
                  </a:srgbClr>
                </a:clrTo>
              </a:clrChange>
            </a:blip>
            <a:srcRect/>
            <a:stretch>
              <a:fillRect/>
            </a:stretch>
          </p:blipFill>
          <p:spPr bwMode="auto">
            <a:xfrm>
              <a:off x="1857356" y="4643450"/>
              <a:ext cx="631835" cy="481831"/>
            </a:xfrm>
            <a:prstGeom prst="rect">
              <a:avLst/>
            </a:prstGeom>
            <a:noFill/>
            <a:ln w="9525">
              <a:noFill/>
              <a:miter lim="800000"/>
              <a:headEnd/>
              <a:tailEnd/>
            </a:ln>
            <a:effectLst/>
          </p:spPr>
        </p:pic>
      </p:grpSp>
      <p:sp>
        <p:nvSpPr>
          <p:cNvPr id="129" name="Chevron 128"/>
          <p:cNvSpPr/>
          <p:nvPr/>
        </p:nvSpPr>
        <p:spPr>
          <a:xfrm flipH="1">
            <a:off x="6173154" y="2787989"/>
            <a:ext cx="154306" cy="231460"/>
          </a:xfrm>
          <a:prstGeom prst="chevron">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solidFill>
                <a:schemeClr val="tx1"/>
              </a:solidFill>
            </a:endParaRPr>
          </a:p>
        </p:txBody>
      </p:sp>
      <p:sp>
        <p:nvSpPr>
          <p:cNvPr id="130" name="Chevron 129"/>
          <p:cNvSpPr/>
          <p:nvPr/>
        </p:nvSpPr>
        <p:spPr>
          <a:xfrm>
            <a:off x="5401623" y="4431989"/>
            <a:ext cx="154306" cy="231460"/>
          </a:xfrm>
          <a:prstGeom prst="chevron">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solidFill>
                <a:schemeClr val="tx1"/>
              </a:solidFill>
            </a:endParaRPr>
          </a:p>
        </p:txBody>
      </p:sp>
      <p:sp>
        <p:nvSpPr>
          <p:cNvPr id="131" name="Ellipse 130"/>
          <p:cNvSpPr/>
          <p:nvPr/>
        </p:nvSpPr>
        <p:spPr>
          <a:xfrm>
            <a:off x="8796357" y="4368753"/>
            <a:ext cx="308612" cy="294695"/>
          </a:xfrm>
          <a:prstGeom prst="ellipse">
            <a:avLst/>
          </a:prstGeom>
          <a:solidFill>
            <a:schemeClr val="bg1"/>
          </a:solidFill>
          <a:ln w="285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dirty="0">
              <a:solidFill>
                <a:schemeClr val="tx2">
                  <a:lumMod val="50000"/>
                </a:schemeClr>
              </a:solidFill>
            </a:endParaRPr>
          </a:p>
        </p:txBody>
      </p:sp>
      <p:grpSp>
        <p:nvGrpSpPr>
          <p:cNvPr id="12" name="Groupe 102"/>
          <p:cNvGrpSpPr/>
          <p:nvPr/>
        </p:nvGrpSpPr>
        <p:grpSpPr>
          <a:xfrm>
            <a:off x="3306213" y="4021754"/>
            <a:ext cx="1234414" cy="1080143"/>
            <a:chOff x="3786182" y="3000376"/>
            <a:chExt cx="1142976" cy="1000132"/>
          </a:xfrm>
        </p:grpSpPr>
        <p:sp>
          <p:nvSpPr>
            <p:cNvPr id="55" name="Organigramme : Connecteur 54"/>
            <p:cNvSpPr/>
            <p:nvPr/>
          </p:nvSpPr>
          <p:spPr>
            <a:xfrm>
              <a:off x="3929058" y="3000376"/>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p>
          </p:txBody>
        </p:sp>
        <p:pic>
          <p:nvPicPr>
            <p:cNvPr id="2054" name="Picture 6"/>
            <p:cNvPicPr>
              <a:picLocks noChangeAspect="1" noChangeArrowheads="1"/>
            </p:cNvPicPr>
            <p:nvPr/>
          </p:nvPicPr>
          <p:blipFill>
            <a:blip r:embed="rId14">
              <a:clrChange>
                <a:clrFrom>
                  <a:srgbClr val="FFFFFF"/>
                </a:clrFrom>
                <a:clrTo>
                  <a:srgbClr val="FFFFFF">
                    <a:alpha val="0"/>
                  </a:srgbClr>
                </a:clrTo>
              </a:clrChange>
            </a:blip>
            <a:srcRect/>
            <a:stretch>
              <a:fillRect/>
            </a:stretch>
          </p:blipFill>
          <p:spPr bwMode="auto">
            <a:xfrm>
              <a:off x="3786182" y="3143252"/>
              <a:ext cx="1122172" cy="656881"/>
            </a:xfrm>
            <a:prstGeom prst="rect">
              <a:avLst/>
            </a:prstGeom>
            <a:noFill/>
            <a:ln w="9525">
              <a:noFill/>
              <a:miter lim="800000"/>
              <a:headEnd/>
              <a:tailEnd/>
            </a:ln>
            <a:effectLst/>
          </p:spPr>
        </p:pic>
      </p:grpSp>
      <p:sp>
        <p:nvSpPr>
          <p:cNvPr id="102" name="ZoneTexte 101"/>
          <p:cNvSpPr txBox="1"/>
          <p:nvPr/>
        </p:nvSpPr>
        <p:spPr>
          <a:xfrm rot="1946789">
            <a:off x="5202518" y="3046405"/>
            <a:ext cx="540533" cy="237886"/>
          </a:xfrm>
          <a:prstGeom prst="rect">
            <a:avLst/>
          </a:prstGeom>
          <a:noFill/>
        </p:spPr>
        <p:txBody>
          <a:bodyPr wrap="none" rtlCol="0">
            <a:spAutoFit/>
          </a:bodyPr>
          <a:lstStyle/>
          <a:p>
            <a:r>
              <a:rPr lang="fr-FR" sz="946" b="1" dirty="0">
                <a:solidFill>
                  <a:schemeClr val="bg1"/>
                </a:solidFill>
                <a:latin typeface="Agency FB" pitchFamily="34" charset="0"/>
              </a:rPr>
              <a:t>G. </a:t>
            </a:r>
            <a:r>
              <a:rPr lang="fr-FR" sz="540" b="1" dirty="0">
                <a:solidFill>
                  <a:schemeClr val="bg1"/>
                </a:solidFill>
                <a:latin typeface="Agency FB" pitchFamily="34" charset="0"/>
              </a:rPr>
              <a:t>partenaire</a:t>
            </a:r>
            <a:endParaRPr lang="fr-FR" sz="946" b="1" dirty="0">
              <a:solidFill>
                <a:schemeClr val="bg1"/>
              </a:solidFill>
              <a:latin typeface="Agency FB" pitchFamily="34" charset="0"/>
            </a:endParaRPr>
          </a:p>
        </p:txBody>
      </p:sp>
      <p:pic>
        <p:nvPicPr>
          <p:cNvPr id="104" name="Picture 8"/>
          <p:cNvPicPr>
            <a:picLocks noChangeAspect="1" noChangeArrowheads="1"/>
          </p:cNvPicPr>
          <p:nvPr/>
        </p:nvPicPr>
        <p:blipFill>
          <a:blip r:embed="rId15" cstate="print">
            <a:clrChange>
              <a:clrFrom>
                <a:srgbClr val="F8FAFB"/>
              </a:clrFrom>
              <a:clrTo>
                <a:srgbClr val="F8FAFB">
                  <a:alpha val="0"/>
                </a:srgbClr>
              </a:clrTo>
            </a:clrChange>
          </a:blip>
          <a:srcRect/>
          <a:stretch>
            <a:fillRect/>
          </a:stretch>
        </p:blipFill>
        <p:spPr bwMode="auto">
          <a:xfrm>
            <a:off x="8122568" y="2474953"/>
            <a:ext cx="288024" cy="259670"/>
          </a:xfrm>
          <a:prstGeom prst="rect">
            <a:avLst/>
          </a:prstGeom>
          <a:noFill/>
          <a:ln w="9525">
            <a:noFill/>
            <a:miter lim="800000"/>
            <a:headEnd/>
            <a:tailEnd/>
          </a:ln>
          <a:effectLst/>
        </p:spPr>
      </p:pic>
      <p:sp>
        <p:nvSpPr>
          <p:cNvPr id="82" name="ZoneTexte 81"/>
          <p:cNvSpPr txBox="1"/>
          <p:nvPr/>
        </p:nvSpPr>
        <p:spPr>
          <a:xfrm>
            <a:off x="1212013" y="816795"/>
            <a:ext cx="1413931" cy="624145"/>
          </a:xfrm>
          <a:prstGeom prst="rect">
            <a:avLst/>
          </a:prstGeom>
          <a:solidFill>
            <a:schemeClr val="bg1"/>
          </a:solidFill>
          <a:ln>
            <a:solidFill>
              <a:schemeClr val="bg2">
                <a:lumMod val="75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fr-FR" sz="1728" b="1" dirty="0">
                <a:solidFill>
                  <a:srgbClr val="92D050"/>
                </a:solidFill>
                <a:latin typeface="Agency FB" pitchFamily="34" charset="0"/>
              </a:rPr>
              <a:t>PEC-BDG-UNITE</a:t>
            </a:r>
            <a:r>
              <a:rPr lang="fr-FR" sz="1728" b="1" dirty="0">
                <a:solidFill>
                  <a:srgbClr val="FF0000"/>
                </a:solidFill>
                <a:latin typeface="Agency FB" pitchFamily="34" charset="0"/>
              </a:rPr>
              <a:t> </a:t>
            </a:r>
            <a:r>
              <a:rPr lang="fr-FR" sz="1728" b="1" dirty="0">
                <a:solidFill>
                  <a:srgbClr val="92D050"/>
                </a:solidFill>
                <a:latin typeface="Agency FB" pitchFamily="34" charset="0"/>
              </a:rPr>
              <a:t>mobile </a:t>
            </a:r>
          </a:p>
        </p:txBody>
      </p:sp>
      <p:pic>
        <p:nvPicPr>
          <p:cNvPr id="92" name="Image 91"/>
          <p:cNvPicPr>
            <a:picLocks noChangeAspect="1"/>
          </p:cNvPicPr>
          <p:nvPr/>
        </p:nvPicPr>
        <p:blipFill rotWithShape="1">
          <a:blip r:embed="rId16"/>
          <a:srcRect l="59049" t="26852" r="8944" b="22640"/>
          <a:stretch/>
        </p:blipFill>
        <p:spPr>
          <a:xfrm>
            <a:off x="1195127" y="3117925"/>
            <a:ext cx="1090211" cy="928298"/>
          </a:xfrm>
          <a:prstGeom prst="rect">
            <a:avLst/>
          </a:prstGeom>
        </p:spPr>
      </p:pic>
      <p:sp>
        <p:nvSpPr>
          <p:cNvPr id="98" name="Chevron 97"/>
          <p:cNvSpPr/>
          <p:nvPr/>
        </p:nvSpPr>
        <p:spPr>
          <a:xfrm>
            <a:off x="9490735" y="4368754"/>
            <a:ext cx="336930" cy="390397"/>
          </a:xfrm>
          <a:prstGeom prst="chevron">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4">
              <a:solidFill>
                <a:schemeClr val="tx1"/>
              </a:solidFill>
            </a:endParaRPr>
          </a:p>
        </p:txBody>
      </p:sp>
      <p:sp>
        <p:nvSpPr>
          <p:cNvPr id="100" name="Espace réservé du contenu 8"/>
          <p:cNvSpPr>
            <a:spLocks noGrp="1"/>
          </p:cNvSpPr>
          <p:nvPr>
            <p:ph sz="quarter" idx="12"/>
          </p:nvPr>
        </p:nvSpPr>
        <p:spPr bwMode="auto">
          <a:xfrm>
            <a:off x="4691469" y="6272868"/>
            <a:ext cx="6203728" cy="171952"/>
          </a:xfrm>
          <a:noFill/>
          <a:ln>
            <a:miter lim="800000"/>
            <a:headEnd/>
            <a:tailEnd/>
          </a:ln>
        </p:spPr>
        <p:txBody>
          <a:bodyPr wrap="square" numCol="1" anchorCtr="0" compatLnSpc="1">
            <a:prstTxWarp prst="textNoShape">
              <a:avLst/>
            </a:prstTxWarp>
          </a:bodyPr>
          <a:lstStyle/>
          <a:p>
            <a:pPr defTabSz="819499" fontAlgn="base">
              <a:spcBef>
                <a:spcPct val="0"/>
              </a:spcBef>
              <a:spcAft>
                <a:spcPct val="0"/>
              </a:spcAft>
            </a:pPr>
            <a:r>
              <a:rPr lang="fr-FR" b="1" dirty="0">
                <a:solidFill>
                  <a:schemeClr val="bg1"/>
                </a:solidFill>
                <a:latin typeface="Arial" charset="0"/>
                <a:cs typeface="Arial" charset="0"/>
              </a:rPr>
              <a:t>Direction </a:t>
            </a:r>
            <a:r>
              <a:rPr lang="fr-FR" b="1" dirty="0" smtClean="0">
                <a:solidFill>
                  <a:schemeClr val="bg1"/>
                </a:solidFill>
                <a:latin typeface="Arial" charset="0"/>
                <a:cs typeface="Arial" charset="0"/>
              </a:rPr>
              <a:t>Sinistres </a:t>
            </a:r>
            <a:r>
              <a:rPr lang="fr-FR" b="1" dirty="0">
                <a:solidFill>
                  <a:schemeClr val="bg1"/>
                </a:solidFill>
                <a:latin typeface="Arial" charset="0"/>
                <a:cs typeface="Arial" charset="0"/>
              </a:rPr>
              <a:t>Auto Matériels</a:t>
            </a:r>
          </a:p>
        </p:txBody>
      </p:sp>
      <p:pic>
        <p:nvPicPr>
          <p:cNvPr id="6" name="Image 5"/>
          <p:cNvPicPr>
            <a:picLocks noChangeAspect="1"/>
          </p:cNvPicPr>
          <p:nvPr/>
        </p:nvPicPr>
        <p:blipFill>
          <a:blip r:embed="rId17"/>
          <a:stretch>
            <a:fillRect/>
          </a:stretch>
        </p:blipFill>
        <p:spPr>
          <a:xfrm>
            <a:off x="5162083" y="2552708"/>
            <a:ext cx="535234" cy="470562"/>
          </a:xfrm>
          <a:prstGeom prst="rect">
            <a:avLst/>
          </a:prstGeom>
        </p:spPr>
      </p:pic>
      <p:pic>
        <p:nvPicPr>
          <p:cNvPr id="10" name="Image 9"/>
          <p:cNvPicPr>
            <a:picLocks noChangeAspect="1"/>
          </p:cNvPicPr>
          <p:nvPr/>
        </p:nvPicPr>
        <p:blipFill>
          <a:blip r:embed="rId18"/>
          <a:stretch>
            <a:fillRect/>
          </a:stretch>
        </p:blipFill>
        <p:spPr>
          <a:xfrm>
            <a:off x="3015802" y="2608639"/>
            <a:ext cx="665401" cy="665401"/>
          </a:xfrm>
          <a:prstGeom prst="rect">
            <a:avLst/>
          </a:prstGeom>
        </p:spPr>
      </p:pic>
      <p:pic>
        <p:nvPicPr>
          <p:cNvPr id="11" name="Image 10"/>
          <p:cNvPicPr>
            <a:picLocks noChangeAspect="1"/>
          </p:cNvPicPr>
          <p:nvPr/>
        </p:nvPicPr>
        <p:blipFill>
          <a:blip r:embed="rId19"/>
          <a:stretch>
            <a:fillRect/>
          </a:stretch>
        </p:blipFill>
        <p:spPr>
          <a:xfrm>
            <a:off x="2622781" y="1080921"/>
            <a:ext cx="1084640" cy="933522"/>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66" name="Rectangle 65"/>
          <p:cNvSpPr/>
          <p:nvPr/>
        </p:nvSpPr>
        <p:spPr>
          <a:xfrm>
            <a:off x="4985267" y="3826559"/>
            <a:ext cx="2637193" cy="528979"/>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38880" rIns="38880" rtlCol="0" anchor="ctr"/>
          <a:lstStyle/>
          <a:p>
            <a:pPr algn="ctr"/>
            <a:r>
              <a:rPr lang="fr-FR" sz="1134" b="1" dirty="0">
                <a:solidFill>
                  <a:srgbClr val="00B050"/>
                </a:solidFill>
                <a:latin typeface="Agency FB" pitchFamily="34" charset="0"/>
              </a:rPr>
              <a:t>Le client ,récupère son véhicule avec la glace remplacée </a:t>
            </a:r>
            <a:r>
              <a:rPr lang="fr-FR" sz="1134" b="1" dirty="0" smtClean="0">
                <a:solidFill>
                  <a:srgbClr val="00B050"/>
                </a:solidFill>
                <a:latin typeface="Agency FB" pitchFamily="34" charset="0"/>
              </a:rPr>
              <a:t>en payant tout éventuel Ticket Modérateur</a:t>
            </a:r>
            <a:endParaRPr lang="fr-FR" sz="1134" b="1" dirty="0">
              <a:solidFill>
                <a:srgbClr val="00B050"/>
              </a:solidFill>
              <a:latin typeface="Agency FB" pitchFamily="34" charset="0"/>
            </a:endParaRPr>
          </a:p>
        </p:txBody>
      </p:sp>
    </p:spTree>
    <p:extLst>
      <p:ext uri="{BB962C8B-B14F-4D97-AF65-F5344CB8AC3E}">
        <p14:creationId xmlns:p14="http://schemas.microsoft.com/office/powerpoint/2010/main" val="16647139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Virage 13"/>
          <p:cNvSpPr/>
          <p:nvPr/>
        </p:nvSpPr>
        <p:spPr>
          <a:xfrm rot="10800000">
            <a:off x="1258165" y="2564220"/>
            <a:ext cx="9936000" cy="182228"/>
          </a:xfrm>
          <a:prstGeom prst="bentArrow">
            <a:avLst>
              <a:gd name="adj1" fmla="val 41310"/>
              <a:gd name="adj2" fmla="val 25000"/>
              <a:gd name="adj3" fmla="val 25000"/>
              <a:gd name="adj4" fmla="val 95655"/>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20" name="Rectangle 119"/>
          <p:cNvSpPr/>
          <p:nvPr/>
        </p:nvSpPr>
        <p:spPr>
          <a:xfrm>
            <a:off x="1295366" y="2657470"/>
            <a:ext cx="3715200" cy="73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pic>
        <p:nvPicPr>
          <p:cNvPr id="2050" name="Picture 2"/>
          <p:cNvPicPr>
            <a:picLocks noChangeAspect="1" noChangeArrowheads="1"/>
          </p:cNvPicPr>
          <p:nvPr/>
        </p:nvPicPr>
        <p:blipFill>
          <a:blip r:embed="rId3" cstate="print"/>
          <a:srcRect/>
          <a:stretch>
            <a:fillRect/>
          </a:stretch>
        </p:blipFill>
        <p:spPr bwMode="auto">
          <a:xfrm>
            <a:off x="609600" y="3"/>
            <a:ext cx="10972800" cy="491072"/>
          </a:xfrm>
          <a:prstGeom prst="rect">
            <a:avLst/>
          </a:prstGeom>
          <a:noFill/>
          <a:ln w="9525">
            <a:noFill/>
            <a:miter lim="800000"/>
            <a:headEnd/>
            <a:tailEnd/>
          </a:ln>
        </p:spPr>
      </p:pic>
      <p:pic>
        <p:nvPicPr>
          <p:cNvPr id="5122" name="Image 4"/>
          <p:cNvPicPr>
            <a:picLocks noChangeAspect="1"/>
          </p:cNvPicPr>
          <p:nvPr/>
        </p:nvPicPr>
        <p:blipFill>
          <a:blip r:embed="rId4" cstate="print"/>
          <a:srcRect/>
          <a:stretch>
            <a:fillRect/>
          </a:stretch>
        </p:blipFill>
        <p:spPr bwMode="auto">
          <a:xfrm>
            <a:off x="835243" y="59764"/>
            <a:ext cx="1372325" cy="431311"/>
          </a:xfrm>
          <a:prstGeom prst="rect">
            <a:avLst/>
          </a:prstGeom>
          <a:noFill/>
          <a:ln w="9525">
            <a:noFill/>
            <a:miter lim="800000"/>
            <a:headEnd/>
            <a:tailEnd/>
          </a:ln>
        </p:spPr>
      </p:pic>
      <p:sp>
        <p:nvSpPr>
          <p:cNvPr id="73" name="Espace réservé du numéro de diapositive 72"/>
          <p:cNvSpPr>
            <a:spLocks noGrp="1"/>
          </p:cNvSpPr>
          <p:nvPr>
            <p:ph type="sldNum" sz="quarter" idx="12"/>
          </p:nvPr>
        </p:nvSpPr>
        <p:spPr>
          <a:xfrm>
            <a:off x="9071941" y="6520918"/>
            <a:ext cx="2467865" cy="364468"/>
          </a:xfrm>
        </p:spPr>
        <p:txBody>
          <a:bodyPr/>
          <a:lstStyle/>
          <a:p>
            <a:pPr>
              <a:defRPr/>
            </a:pPr>
            <a:fld id="{E11703BC-316E-4658-AE8F-B5827D54B665}" type="slidenum">
              <a:rPr lang="fr-FR" smtClean="0"/>
              <a:pPr>
                <a:defRPr/>
              </a:pPr>
              <a:t>9</a:t>
            </a:fld>
            <a:endParaRPr lang="fr-FR" dirty="0"/>
          </a:p>
        </p:txBody>
      </p:sp>
      <p:sp>
        <p:nvSpPr>
          <p:cNvPr id="56" name="Rectangle 55"/>
          <p:cNvSpPr/>
          <p:nvPr/>
        </p:nvSpPr>
        <p:spPr>
          <a:xfrm>
            <a:off x="652195" y="6567131"/>
            <a:ext cx="10843795" cy="231845"/>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70"/>
          </a:p>
        </p:txBody>
      </p:sp>
      <p:sp>
        <p:nvSpPr>
          <p:cNvPr id="57" name="Espace réservé du contenu 8"/>
          <p:cNvSpPr>
            <a:spLocks noGrp="1"/>
          </p:cNvSpPr>
          <p:nvPr>
            <p:ph sz="quarter" idx="11"/>
          </p:nvPr>
        </p:nvSpPr>
        <p:spPr bwMode="auto">
          <a:xfrm>
            <a:off x="565786" y="6572280"/>
            <a:ext cx="3328034" cy="226694"/>
          </a:xfrm>
          <a:noFill/>
          <a:ln>
            <a:miter lim="800000"/>
            <a:headEnd/>
            <a:tailEnd/>
          </a:ln>
        </p:spPr>
        <p:txBody>
          <a:bodyPr wrap="square" numCol="1" anchorCtr="0" compatLnSpc="1">
            <a:prstTxWarp prst="textNoShape">
              <a:avLst/>
            </a:prstTxWarp>
          </a:bodyPr>
          <a:lstStyle/>
          <a:p>
            <a:pPr defTabSz="910554" fontAlgn="base">
              <a:spcBef>
                <a:spcPct val="0"/>
              </a:spcBef>
              <a:spcAft>
                <a:spcPct val="0"/>
              </a:spcAft>
            </a:pPr>
            <a:r>
              <a:rPr lang="fr-FR" i="1" dirty="0">
                <a:solidFill>
                  <a:schemeClr val="bg1"/>
                </a:solidFill>
                <a:latin typeface="Arial" charset="0"/>
                <a:cs typeface="Arial" charset="0"/>
              </a:rPr>
              <a:t>À usage strictement interne ou confidentiel</a:t>
            </a:r>
          </a:p>
        </p:txBody>
      </p:sp>
      <p:sp>
        <p:nvSpPr>
          <p:cNvPr id="3" name="Virage 2"/>
          <p:cNvSpPr/>
          <p:nvPr/>
        </p:nvSpPr>
        <p:spPr>
          <a:xfrm rot="10800000" flipV="1">
            <a:off x="2251766" y="1161879"/>
            <a:ext cx="8942400" cy="182204"/>
          </a:xfrm>
          <a:prstGeom prst="bentArrow">
            <a:avLst>
              <a:gd name="adj1" fmla="val 41310"/>
              <a:gd name="adj2" fmla="val 25000"/>
              <a:gd name="adj3" fmla="val 25000"/>
              <a:gd name="adj4" fmla="val 9565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4" name="Rectangle 3"/>
          <p:cNvSpPr/>
          <p:nvPr/>
        </p:nvSpPr>
        <p:spPr>
          <a:xfrm>
            <a:off x="11116404" y="1339357"/>
            <a:ext cx="77760" cy="1271338"/>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5" name="Arc plein 4"/>
          <p:cNvSpPr/>
          <p:nvPr/>
        </p:nvSpPr>
        <p:spPr>
          <a:xfrm rot="16200000">
            <a:off x="508455" y="3273835"/>
            <a:ext cx="1613383" cy="382459"/>
          </a:xfrm>
          <a:prstGeom prst="blockArc">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6" name="Virage 15"/>
          <p:cNvSpPr/>
          <p:nvPr/>
        </p:nvSpPr>
        <p:spPr>
          <a:xfrm rot="10800000" flipV="1">
            <a:off x="1258162" y="4197380"/>
            <a:ext cx="9936000" cy="181440"/>
          </a:xfrm>
          <a:prstGeom prst="bentArrow">
            <a:avLst>
              <a:gd name="adj1" fmla="val 41310"/>
              <a:gd name="adj2" fmla="val 25000"/>
              <a:gd name="adj3" fmla="val 25000"/>
              <a:gd name="adj4" fmla="val 95655"/>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8" name="Virage 17"/>
          <p:cNvSpPr/>
          <p:nvPr/>
        </p:nvSpPr>
        <p:spPr>
          <a:xfrm rot="10800000">
            <a:off x="826163" y="5572140"/>
            <a:ext cx="10368000" cy="197856"/>
          </a:xfrm>
          <a:prstGeom prst="bentArrow">
            <a:avLst>
              <a:gd name="adj1" fmla="val 41310"/>
              <a:gd name="adj2" fmla="val 25000"/>
              <a:gd name="adj3" fmla="val 25000"/>
              <a:gd name="adj4" fmla="val 95655"/>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9" name="Rectangle 18"/>
          <p:cNvSpPr/>
          <p:nvPr/>
        </p:nvSpPr>
        <p:spPr>
          <a:xfrm>
            <a:off x="11116405" y="4378821"/>
            <a:ext cx="77759" cy="122031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8" name="ZoneTexte 7"/>
          <p:cNvSpPr txBox="1"/>
          <p:nvPr/>
        </p:nvSpPr>
        <p:spPr>
          <a:xfrm>
            <a:off x="3933684" y="1336503"/>
            <a:ext cx="5500224" cy="350865"/>
          </a:xfrm>
          <a:prstGeom prst="rect">
            <a:avLst/>
          </a:prstGeom>
          <a:noFill/>
        </p:spPr>
        <p:txBody>
          <a:bodyPr wrap="none" rtlCol="0">
            <a:spAutoFit/>
          </a:bodyPr>
          <a:lstStyle/>
          <a:p>
            <a:r>
              <a:rPr lang="fr-FR" sz="1680" b="1" dirty="0">
                <a:solidFill>
                  <a:schemeClr val="tx2">
                    <a:lumMod val="75000"/>
                  </a:schemeClr>
                </a:solidFill>
                <a:latin typeface="Agency FB" pitchFamily="34" charset="0"/>
              </a:rPr>
              <a:t>Survenance de l’accident		                                       Assistance</a:t>
            </a:r>
          </a:p>
        </p:txBody>
      </p:sp>
      <p:sp>
        <p:nvSpPr>
          <p:cNvPr id="32" name="ZoneTexte 31"/>
          <p:cNvSpPr txBox="1"/>
          <p:nvPr/>
        </p:nvSpPr>
        <p:spPr>
          <a:xfrm>
            <a:off x="924970" y="2828921"/>
            <a:ext cx="4570951" cy="350865"/>
          </a:xfrm>
          <a:prstGeom prst="rect">
            <a:avLst/>
          </a:prstGeom>
          <a:noFill/>
        </p:spPr>
        <p:txBody>
          <a:bodyPr wrap="square" rtlCol="0">
            <a:spAutoFit/>
          </a:bodyPr>
          <a:lstStyle/>
          <a:p>
            <a:pPr algn="ctr"/>
            <a:r>
              <a:rPr lang="fr-FR" sz="1680" b="1" dirty="0">
                <a:solidFill>
                  <a:schemeClr val="accent1"/>
                </a:solidFill>
                <a:latin typeface="Agency FB" pitchFamily="34" charset="0"/>
              </a:rPr>
              <a:t>Validation du devis de réparation</a:t>
            </a:r>
          </a:p>
        </p:txBody>
      </p:sp>
      <p:sp>
        <p:nvSpPr>
          <p:cNvPr id="34" name="ZoneTexte 33"/>
          <p:cNvSpPr txBox="1"/>
          <p:nvPr/>
        </p:nvSpPr>
        <p:spPr>
          <a:xfrm>
            <a:off x="4114583" y="4319006"/>
            <a:ext cx="3931636" cy="350865"/>
          </a:xfrm>
          <a:prstGeom prst="rect">
            <a:avLst/>
          </a:prstGeom>
          <a:noFill/>
        </p:spPr>
        <p:txBody>
          <a:bodyPr wrap="square" rtlCol="0">
            <a:spAutoFit/>
          </a:bodyPr>
          <a:lstStyle/>
          <a:p>
            <a:pPr algn="ctr"/>
            <a:r>
              <a:rPr lang="fr-FR" sz="1680" b="1" dirty="0">
                <a:solidFill>
                  <a:schemeClr val="accent2">
                    <a:lumMod val="50000"/>
                  </a:schemeClr>
                </a:solidFill>
                <a:latin typeface="Agency FB" pitchFamily="34" charset="0"/>
              </a:rPr>
              <a:t>Expertise mécanique et réparation du véhicule</a:t>
            </a:r>
          </a:p>
        </p:txBody>
      </p:sp>
      <p:sp>
        <p:nvSpPr>
          <p:cNvPr id="35" name="ZoneTexte 34"/>
          <p:cNvSpPr txBox="1"/>
          <p:nvPr/>
        </p:nvSpPr>
        <p:spPr>
          <a:xfrm>
            <a:off x="4295762" y="5888612"/>
            <a:ext cx="7115225" cy="350865"/>
          </a:xfrm>
          <a:prstGeom prst="rect">
            <a:avLst/>
          </a:prstGeom>
          <a:noFill/>
        </p:spPr>
        <p:txBody>
          <a:bodyPr wrap="square" rtlCol="0">
            <a:spAutoFit/>
          </a:bodyPr>
          <a:lstStyle/>
          <a:p>
            <a:pPr algn="ctr"/>
            <a:r>
              <a:rPr lang="fr-FR" sz="1680" b="1" dirty="0">
                <a:solidFill>
                  <a:schemeClr val="accent4">
                    <a:lumMod val="75000"/>
                  </a:schemeClr>
                </a:solidFill>
                <a:latin typeface="Agency FB" pitchFamily="34" charset="0"/>
              </a:rPr>
              <a:t>            Remboursement                       	Récupération du véhicule réparé</a:t>
            </a:r>
          </a:p>
        </p:txBody>
      </p:sp>
      <p:sp>
        <p:nvSpPr>
          <p:cNvPr id="36" name="ZoneTexte 35"/>
          <p:cNvSpPr txBox="1"/>
          <p:nvPr/>
        </p:nvSpPr>
        <p:spPr>
          <a:xfrm>
            <a:off x="1279715" y="5774032"/>
            <a:ext cx="2228866" cy="757130"/>
          </a:xfrm>
          <a:prstGeom prst="rect">
            <a:avLst/>
          </a:prstGeom>
          <a:noFill/>
        </p:spPr>
        <p:txBody>
          <a:bodyPr wrap="square" rtlCol="0">
            <a:spAutoFit/>
          </a:bodyPr>
          <a:lstStyle/>
          <a:p>
            <a:pPr algn="ctr"/>
            <a:r>
              <a:rPr lang="fr-FR" sz="1440" b="1" dirty="0">
                <a:latin typeface="Agency FB" pitchFamily="34" charset="0"/>
              </a:rPr>
              <a:t>Evaluation de </a:t>
            </a:r>
          </a:p>
          <a:p>
            <a:pPr algn="ctr"/>
            <a:r>
              <a:rPr lang="fr-FR" sz="1440" b="1" dirty="0">
                <a:latin typeface="Agency FB" pitchFamily="34" charset="0"/>
              </a:rPr>
              <a:t>la qualité de service à travers la First Line</a:t>
            </a:r>
          </a:p>
        </p:txBody>
      </p:sp>
      <p:sp>
        <p:nvSpPr>
          <p:cNvPr id="43" name="Ellipse 42"/>
          <p:cNvSpPr/>
          <p:nvPr/>
        </p:nvSpPr>
        <p:spPr>
          <a:xfrm>
            <a:off x="4724391" y="1028683"/>
            <a:ext cx="342902" cy="327439"/>
          </a:xfrm>
          <a:prstGeom prst="ellipse">
            <a:avLst/>
          </a:prstGeom>
          <a:solidFill>
            <a:schemeClr val="bg1"/>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sp>
        <p:nvSpPr>
          <p:cNvPr id="51" name="Chevron 50"/>
          <p:cNvSpPr/>
          <p:nvPr/>
        </p:nvSpPr>
        <p:spPr>
          <a:xfrm rot="10800000">
            <a:off x="781013" y="5486414"/>
            <a:ext cx="257177" cy="428628"/>
          </a:xfrm>
          <a:prstGeom prst="chevron">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60" name="Chevron 59"/>
          <p:cNvSpPr/>
          <p:nvPr/>
        </p:nvSpPr>
        <p:spPr>
          <a:xfrm>
            <a:off x="10296555" y="1079326"/>
            <a:ext cx="171451" cy="257177"/>
          </a:xfrm>
          <a:prstGeom prst="chevr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grpSp>
        <p:nvGrpSpPr>
          <p:cNvPr id="2" name="Groupe 99"/>
          <p:cNvGrpSpPr/>
          <p:nvPr/>
        </p:nvGrpSpPr>
        <p:grpSpPr>
          <a:xfrm>
            <a:off x="6781805" y="600055"/>
            <a:ext cx="1200120" cy="1200158"/>
            <a:chOff x="5143504" y="428608"/>
            <a:chExt cx="1000100" cy="1000132"/>
          </a:xfrm>
        </p:grpSpPr>
        <p:sp>
          <p:nvSpPr>
            <p:cNvPr id="52" name="Organigramme : Connecteur 51"/>
            <p:cNvSpPr/>
            <p:nvPr/>
          </p:nvSpPr>
          <p:spPr>
            <a:xfrm>
              <a:off x="5143504" y="428608"/>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1029" name="Picture 5"/>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5357818" y="571484"/>
              <a:ext cx="642942" cy="655931"/>
            </a:xfrm>
            <a:prstGeom prst="rect">
              <a:avLst/>
            </a:prstGeom>
            <a:noFill/>
            <a:ln w="9525">
              <a:noFill/>
              <a:miter lim="800000"/>
              <a:headEnd/>
              <a:tailEnd/>
            </a:ln>
            <a:effectLst/>
          </p:spPr>
        </p:pic>
      </p:grpSp>
      <p:sp>
        <p:nvSpPr>
          <p:cNvPr id="61" name="Rectangle 60"/>
          <p:cNvSpPr/>
          <p:nvPr/>
        </p:nvSpPr>
        <p:spPr>
          <a:xfrm>
            <a:off x="3524232" y="514330"/>
            <a:ext cx="2743219" cy="428628"/>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dirty="0">
                <a:solidFill>
                  <a:schemeClr val="tx1"/>
                </a:solidFill>
                <a:latin typeface="Agency FB" pitchFamily="34" charset="0"/>
              </a:rPr>
              <a:t>Le client  a eu un accident, il appelle son assistance </a:t>
            </a:r>
          </a:p>
        </p:txBody>
      </p:sp>
      <p:grpSp>
        <p:nvGrpSpPr>
          <p:cNvPr id="7" name="Groupe 100"/>
          <p:cNvGrpSpPr/>
          <p:nvPr/>
        </p:nvGrpSpPr>
        <p:grpSpPr>
          <a:xfrm>
            <a:off x="10468025" y="1317779"/>
            <a:ext cx="1200120" cy="1200158"/>
            <a:chOff x="8143900" y="1071550"/>
            <a:chExt cx="1000100" cy="1000132"/>
          </a:xfrm>
        </p:grpSpPr>
        <p:sp>
          <p:nvSpPr>
            <p:cNvPr id="53" name="Organigramme : Connecteur 52"/>
            <p:cNvSpPr/>
            <p:nvPr/>
          </p:nvSpPr>
          <p:spPr>
            <a:xfrm>
              <a:off x="8143900" y="1071550"/>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72" name="Picture 4" descr="C:\Users\f.tabouti\Desktop\Icones\sm.png"/>
            <p:cNvPicPr>
              <a:picLocks noChangeAspect="1" noChangeArrowheads="1"/>
            </p:cNvPicPr>
            <p:nvPr/>
          </p:nvPicPr>
          <p:blipFill>
            <a:blip r:embed="rId6" cstate="print"/>
            <a:srcRect/>
            <a:stretch>
              <a:fillRect/>
            </a:stretch>
          </p:blipFill>
          <p:spPr bwMode="auto">
            <a:xfrm>
              <a:off x="8215338" y="1357302"/>
              <a:ext cx="500066" cy="500066"/>
            </a:xfrm>
            <a:prstGeom prst="rect">
              <a:avLst/>
            </a:prstGeom>
            <a:noFill/>
          </p:spPr>
        </p:pic>
        <p:pic>
          <p:nvPicPr>
            <p:cNvPr id="74" name="Image 73" descr="tel.png"/>
            <p:cNvPicPr>
              <a:picLocks noChangeAspect="1"/>
            </p:cNvPicPr>
            <p:nvPr/>
          </p:nvPicPr>
          <p:blipFill>
            <a:blip r:embed="rId7" cstate="print"/>
            <a:stretch>
              <a:fillRect/>
            </a:stretch>
          </p:blipFill>
          <p:spPr>
            <a:xfrm>
              <a:off x="8715404" y="1428740"/>
              <a:ext cx="357190" cy="357190"/>
            </a:xfrm>
            <a:prstGeom prst="rect">
              <a:avLst/>
            </a:prstGeom>
          </p:spPr>
        </p:pic>
      </p:grpSp>
      <p:pic>
        <p:nvPicPr>
          <p:cNvPr id="76" name="Image 75" descr="photo.png"/>
          <p:cNvPicPr>
            <a:picLocks noChangeAspect="1"/>
          </p:cNvPicPr>
          <p:nvPr/>
        </p:nvPicPr>
        <p:blipFill>
          <a:blip r:embed="rId8" cstate="print"/>
          <a:stretch>
            <a:fillRect/>
          </a:stretch>
        </p:blipFill>
        <p:spPr>
          <a:xfrm>
            <a:off x="7824629" y="2314567"/>
            <a:ext cx="171451" cy="171451"/>
          </a:xfrm>
          <a:prstGeom prst="rect">
            <a:avLst/>
          </a:prstGeom>
        </p:spPr>
      </p:pic>
      <p:grpSp>
        <p:nvGrpSpPr>
          <p:cNvPr id="10" name="Groupe 98"/>
          <p:cNvGrpSpPr/>
          <p:nvPr/>
        </p:nvGrpSpPr>
        <p:grpSpPr>
          <a:xfrm>
            <a:off x="2152622" y="600055"/>
            <a:ext cx="1285884" cy="1200158"/>
            <a:chOff x="1071538" y="428608"/>
            <a:chExt cx="1071570" cy="1000132"/>
          </a:xfrm>
        </p:grpSpPr>
        <p:sp>
          <p:nvSpPr>
            <p:cNvPr id="6" name="Organigramme : Connecteur 5"/>
            <p:cNvSpPr/>
            <p:nvPr/>
          </p:nvSpPr>
          <p:spPr>
            <a:xfrm>
              <a:off x="1143008" y="428608"/>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2051" name="Picture 3"/>
            <p:cNvPicPr>
              <a:picLocks noChangeAspect="1" noChangeArrowheads="1"/>
            </p:cNvPicPr>
            <p:nvPr/>
          </p:nvPicPr>
          <p:blipFill>
            <a:blip r:embed="rId9">
              <a:clrChange>
                <a:clrFrom>
                  <a:srgbClr val="FFFFFF"/>
                </a:clrFrom>
                <a:clrTo>
                  <a:srgbClr val="FFFFFF">
                    <a:alpha val="0"/>
                  </a:srgbClr>
                </a:clrTo>
              </a:clrChange>
            </a:blip>
            <a:srcRect/>
            <a:stretch>
              <a:fillRect/>
            </a:stretch>
          </p:blipFill>
          <p:spPr bwMode="auto">
            <a:xfrm>
              <a:off x="1071538" y="571484"/>
              <a:ext cx="1049990" cy="618399"/>
            </a:xfrm>
            <a:prstGeom prst="rect">
              <a:avLst/>
            </a:prstGeom>
            <a:noFill/>
            <a:ln w="9525">
              <a:noFill/>
              <a:miter lim="800000"/>
              <a:headEnd/>
              <a:tailEnd/>
            </a:ln>
            <a:effectLst/>
          </p:spPr>
        </p:pic>
      </p:grpSp>
      <p:grpSp>
        <p:nvGrpSpPr>
          <p:cNvPr id="11" name="Groupe 101"/>
          <p:cNvGrpSpPr/>
          <p:nvPr/>
        </p:nvGrpSpPr>
        <p:grpSpPr>
          <a:xfrm>
            <a:off x="2916421" y="3600157"/>
            <a:ext cx="1075100" cy="1048944"/>
            <a:chOff x="428596" y="1643054"/>
            <a:chExt cx="1000100" cy="1000132"/>
          </a:xfrm>
        </p:grpSpPr>
        <p:sp>
          <p:nvSpPr>
            <p:cNvPr id="79" name="Organigramme : Connecteur 78"/>
            <p:cNvSpPr/>
            <p:nvPr/>
          </p:nvSpPr>
          <p:spPr>
            <a:xfrm>
              <a:off x="428596" y="1643054"/>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2053" name="Picture 5"/>
            <p:cNvPicPr>
              <a:picLocks noChangeAspect="1" noChangeArrowheads="1"/>
            </p:cNvPicPr>
            <p:nvPr/>
          </p:nvPicPr>
          <p:blipFill>
            <a:blip r:embed="rId10">
              <a:clrChange>
                <a:clrFrom>
                  <a:srgbClr val="FFFFFF"/>
                </a:clrFrom>
                <a:clrTo>
                  <a:srgbClr val="FFFFFF">
                    <a:alpha val="0"/>
                  </a:srgbClr>
                </a:clrTo>
              </a:clrChange>
            </a:blip>
            <a:srcRect/>
            <a:stretch>
              <a:fillRect/>
            </a:stretch>
          </p:blipFill>
          <p:spPr bwMode="auto">
            <a:xfrm>
              <a:off x="428596" y="1714492"/>
              <a:ext cx="969993" cy="785818"/>
            </a:xfrm>
            <a:prstGeom prst="rect">
              <a:avLst/>
            </a:prstGeom>
            <a:noFill/>
            <a:ln w="9525">
              <a:noFill/>
              <a:miter lim="800000"/>
              <a:headEnd/>
              <a:tailEnd/>
            </a:ln>
            <a:effectLst/>
          </p:spPr>
        </p:pic>
      </p:grpSp>
      <p:grpSp>
        <p:nvGrpSpPr>
          <p:cNvPr id="12" name="Groupe 102"/>
          <p:cNvGrpSpPr/>
          <p:nvPr/>
        </p:nvGrpSpPr>
        <p:grpSpPr>
          <a:xfrm>
            <a:off x="8459111" y="3458601"/>
            <a:ext cx="1371571" cy="1200158"/>
            <a:chOff x="3786182" y="3000376"/>
            <a:chExt cx="1142976" cy="1000132"/>
          </a:xfrm>
        </p:grpSpPr>
        <p:sp>
          <p:nvSpPr>
            <p:cNvPr id="55" name="Organigramme : Connecteur 54"/>
            <p:cNvSpPr/>
            <p:nvPr/>
          </p:nvSpPr>
          <p:spPr>
            <a:xfrm>
              <a:off x="3929058" y="3000376"/>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2054" name="Picture 6"/>
            <p:cNvPicPr>
              <a:picLocks noChangeAspect="1" noChangeArrowheads="1"/>
            </p:cNvPicPr>
            <p:nvPr/>
          </p:nvPicPr>
          <p:blipFill>
            <a:blip r:embed="rId11">
              <a:clrChange>
                <a:clrFrom>
                  <a:srgbClr val="FFFFFF"/>
                </a:clrFrom>
                <a:clrTo>
                  <a:srgbClr val="FFFFFF">
                    <a:alpha val="0"/>
                  </a:srgbClr>
                </a:clrTo>
              </a:clrChange>
            </a:blip>
            <a:srcRect/>
            <a:stretch>
              <a:fillRect/>
            </a:stretch>
          </p:blipFill>
          <p:spPr bwMode="auto">
            <a:xfrm>
              <a:off x="3786182" y="3143252"/>
              <a:ext cx="1122172" cy="656881"/>
            </a:xfrm>
            <a:prstGeom prst="rect">
              <a:avLst/>
            </a:prstGeom>
            <a:noFill/>
            <a:ln w="9525">
              <a:noFill/>
              <a:miter lim="800000"/>
              <a:headEnd/>
              <a:tailEnd/>
            </a:ln>
            <a:effectLst/>
          </p:spPr>
        </p:pic>
      </p:grpSp>
      <p:sp>
        <p:nvSpPr>
          <p:cNvPr id="85" name="ZoneTexte 84"/>
          <p:cNvSpPr txBox="1"/>
          <p:nvPr/>
        </p:nvSpPr>
        <p:spPr>
          <a:xfrm>
            <a:off x="7538394" y="2828921"/>
            <a:ext cx="1858201" cy="350865"/>
          </a:xfrm>
          <a:prstGeom prst="rect">
            <a:avLst/>
          </a:prstGeom>
          <a:noFill/>
        </p:spPr>
        <p:txBody>
          <a:bodyPr wrap="none" rtlCol="0">
            <a:spAutoFit/>
          </a:bodyPr>
          <a:lstStyle/>
          <a:p>
            <a:r>
              <a:rPr lang="fr-FR" sz="1680" b="1" dirty="0">
                <a:solidFill>
                  <a:schemeClr val="accent6">
                    <a:lumMod val="75000"/>
                  </a:schemeClr>
                </a:solidFill>
                <a:latin typeface="Agency FB" pitchFamily="34" charset="0"/>
              </a:rPr>
              <a:t>Déclaration du sinistre</a:t>
            </a:r>
          </a:p>
        </p:txBody>
      </p:sp>
      <p:sp>
        <p:nvSpPr>
          <p:cNvPr id="86" name="Ellipse 85"/>
          <p:cNvSpPr/>
          <p:nvPr/>
        </p:nvSpPr>
        <p:spPr>
          <a:xfrm>
            <a:off x="9267847" y="1028683"/>
            <a:ext cx="342902" cy="327439"/>
          </a:xfrm>
          <a:prstGeom prst="ellipse">
            <a:avLst/>
          </a:prstGeom>
          <a:solidFill>
            <a:schemeClr val="bg1"/>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sp>
        <p:nvSpPr>
          <p:cNvPr id="88" name="Ellipse 87"/>
          <p:cNvSpPr/>
          <p:nvPr/>
        </p:nvSpPr>
        <p:spPr>
          <a:xfrm>
            <a:off x="9525024" y="2548126"/>
            <a:ext cx="342902" cy="327439"/>
          </a:xfrm>
          <a:prstGeom prst="ellipse">
            <a:avLst/>
          </a:prstGeom>
          <a:solidFill>
            <a:schemeClr val="bg1"/>
          </a:solid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sp>
        <p:nvSpPr>
          <p:cNvPr id="95" name="Ellipse 94"/>
          <p:cNvSpPr/>
          <p:nvPr/>
        </p:nvSpPr>
        <p:spPr>
          <a:xfrm>
            <a:off x="7296159" y="2548126"/>
            <a:ext cx="342902" cy="327439"/>
          </a:xfrm>
          <a:prstGeom prst="ellipse">
            <a:avLst/>
          </a:prstGeom>
          <a:solidFill>
            <a:schemeClr val="bg1"/>
          </a:solid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pic>
        <p:nvPicPr>
          <p:cNvPr id="97" name="Image 96" descr="po.png"/>
          <p:cNvPicPr>
            <a:picLocks noChangeAspect="1"/>
          </p:cNvPicPr>
          <p:nvPr/>
        </p:nvPicPr>
        <p:blipFill>
          <a:blip r:embed="rId12" cstate="print"/>
          <a:stretch>
            <a:fillRect/>
          </a:stretch>
        </p:blipFill>
        <p:spPr>
          <a:xfrm>
            <a:off x="8081806" y="2314567"/>
            <a:ext cx="157334" cy="159127"/>
          </a:xfrm>
          <a:prstGeom prst="rect">
            <a:avLst/>
          </a:prstGeom>
        </p:spPr>
      </p:pic>
      <p:sp>
        <p:nvSpPr>
          <p:cNvPr id="90" name="Ellipse 89"/>
          <p:cNvSpPr/>
          <p:nvPr/>
        </p:nvSpPr>
        <p:spPr>
          <a:xfrm>
            <a:off x="2752702" y="2548126"/>
            <a:ext cx="342902" cy="327439"/>
          </a:xfrm>
          <a:prstGeom prst="ellipse">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sp>
        <p:nvSpPr>
          <p:cNvPr id="122" name="Ellipse 121"/>
          <p:cNvSpPr/>
          <p:nvPr/>
        </p:nvSpPr>
        <p:spPr>
          <a:xfrm>
            <a:off x="9116715" y="5537015"/>
            <a:ext cx="342902" cy="327439"/>
          </a:xfrm>
          <a:prstGeom prst="ellipse">
            <a:avLst/>
          </a:prstGeom>
          <a:solidFill>
            <a:schemeClr val="bg1"/>
          </a:solidFill>
          <a:ln w="285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sp>
        <p:nvSpPr>
          <p:cNvPr id="124" name="Rectangle 123"/>
          <p:cNvSpPr/>
          <p:nvPr/>
        </p:nvSpPr>
        <p:spPr>
          <a:xfrm>
            <a:off x="8924945" y="4543433"/>
            <a:ext cx="1457335" cy="771530"/>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dirty="0">
                <a:solidFill>
                  <a:schemeClr val="tx1"/>
                </a:solidFill>
                <a:latin typeface="Agency FB" pitchFamily="34" charset="0"/>
              </a:rPr>
              <a:t>Le client paie le montant de réparation et récupère son véhicule</a:t>
            </a:r>
          </a:p>
        </p:txBody>
      </p:sp>
      <p:pic>
        <p:nvPicPr>
          <p:cNvPr id="126" name="Image 125" descr="digital-icon-png-3.png"/>
          <p:cNvPicPr>
            <a:picLocks noChangeAspect="1"/>
          </p:cNvPicPr>
          <p:nvPr/>
        </p:nvPicPr>
        <p:blipFill>
          <a:blip r:embed="rId13" cstate="print"/>
          <a:stretch>
            <a:fillRect/>
          </a:stretch>
        </p:blipFill>
        <p:spPr>
          <a:xfrm>
            <a:off x="2238348" y="3600451"/>
            <a:ext cx="514354" cy="514354"/>
          </a:xfrm>
          <a:prstGeom prst="rect">
            <a:avLst/>
          </a:prstGeom>
        </p:spPr>
      </p:pic>
      <p:sp>
        <p:nvSpPr>
          <p:cNvPr id="127" name="Rectangle 126"/>
          <p:cNvSpPr/>
          <p:nvPr/>
        </p:nvSpPr>
        <p:spPr>
          <a:xfrm>
            <a:off x="866738" y="5680126"/>
            <a:ext cx="2419200" cy="7344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grpSp>
        <p:nvGrpSpPr>
          <p:cNvPr id="17" name="Groupe 103"/>
          <p:cNvGrpSpPr/>
          <p:nvPr/>
        </p:nvGrpSpPr>
        <p:grpSpPr>
          <a:xfrm>
            <a:off x="2969906" y="5057787"/>
            <a:ext cx="1240132" cy="1200158"/>
            <a:chOff x="4395781" y="4214822"/>
            <a:chExt cx="1033443" cy="1000132"/>
          </a:xfrm>
        </p:grpSpPr>
        <p:sp>
          <p:nvSpPr>
            <p:cNvPr id="80" name="Organigramme : Connecteur 79"/>
            <p:cNvSpPr/>
            <p:nvPr/>
          </p:nvSpPr>
          <p:spPr>
            <a:xfrm>
              <a:off x="4429124" y="4214822"/>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2055" name="Picture 7"/>
            <p:cNvPicPr>
              <a:picLocks noChangeAspect="1" noChangeArrowheads="1"/>
            </p:cNvPicPr>
            <p:nvPr/>
          </p:nvPicPr>
          <p:blipFill>
            <a:blip r:embed="rId14">
              <a:clrChange>
                <a:clrFrom>
                  <a:srgbClr val="FFFFFF"/>
                </a:clrFrom>
                <a:clrTo>
                  <a:srgbClr val="FFFFFF">
                    <a:alpha val="0"/>
                  </a:srgbClr>
                </a:clrTo>
              </a:clrChange>
            </a:blip>
            <a:srcRect/>
            <a:stretch>
              <a:fillRect/>
            </a:stretch>
          </p:blipFill>
          <p:spPr bwMode="auto">
            <a:xfrm>
              <a:off x="4395781" y="4214822"/>
              <a:ext cx="982658" cy="603278"/>
            </a:xfrm>
            <a:prstGeom prst="rect">
              <a:avLst/>
            </a:prstGeom>
            <a:noFill/>
            <a:ln w="9525">
              <a:noFill/>
              <a:miter lim="800000"/>
              <a:headEnd/>
              <a:tailEnd/>
            </a:ln>
            <a:effectLst/>
          </p:spPr>
        </p:pic>
      </p:grpSp>
      <p:pic>
        <p:nvPicPr>
          <p:cNvPr id="2057" name="Picture 9"/>
          <p:cNvPicPr>
            <a:picLocks noChangeAspect="1" noChangeArrowheads="1"/>
          </p:cNvPicPr>
          <p:nvPr/>
        </p:nvPicPr>
        <p:blipFill>
          <a:blip r:embed="rId15" cstate="print">
            <a:clrChange>
              <a:clrFrom>
                <a:srgbClr val="F8F8F8"/>
              </a:clrFrom>
              <a:clrTo>
                <a:srgbClr val="F8F8F8">
                  <a:alpha val="0"/>
                </a:srgbClr>
              </a:clrTo>
            </a:clrChange>
          </a:blip>
          <a:srcRect/>
          <a:stretch>
            <a:fillRect/>
          </a:stretch>
        </p:blipFill>
        <p:spPr bwMode="auto">
          <a:xfrm>
            <a:off x="3194659" y="5657866"/>
            <a:ext cx="758202" cy="578197"/>
          </a:xfrm>
          <a:prstGeom prst="rect">
            <a:avLst/>
          </a:prstGeom>
          <a:noFill/>
          <a:ln w="9525">
            <a:noFill/>
            <a:miter lim="800000"/>
            <a:headEnd/>
            <a:tailEnd/>
          </a:ln>
          <a:effectLst/>
        </p:spPr>
      </p:pic>
      <p:sp>
        <p:nvSpPr>
          <p:cNvPr id="129" name="Chevron 128"/>
          <p:cNvSpPr/>
          <p:nvPr/>
        </p:nvSpPr>
        <p:spPr>
          <a:xfrm flipH="1">
            <a:off x="6181726" y="2571744"/>
            <a:ext cx="171451" cy="257177"/>
          </a:xfrm>
          <a:prstGeom prst="chevron">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30" name="Chevron 129"/>
          <p:cNvSpPr/>
          <p:nvPr/>
        </p:nvSpPr>
        <p:spPr>
          <a:xfrm>
            <a:off x="6096000" y="4114805"/>
            <a:ext cx="171451" cy="257177"/>
          </a:xfrm>
          <a:prstGeom prst="chevron">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31" name="Ellipse 130"/>
          <p:cNvSpPr/>
          <p:nvPr/>
        </p:nvSpPr>
        <p:spPr>
          <a:xfrm>
            <a:off x="1723995" y="5572140"/>
            <a:ext cx="342902" cy="327439"/>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sp>
        <p:nvSpPr>
          <p:cNvPr id="132" name="Rectangle 131"/>
          <p:cNvSpPr/>
          <p:nvPr/>
        </p:nvSpPr>
        <p:spPr>
          <a:xfrm>
            <a:off x="866738" y="4886335"/>
            <a:ext cx="2143140" cy="600079"/>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dirty="0">
                <a:solidFill>
                  <a:schemeClr val="tx1"/>
                </a:solidFill>
                <a:latin typeface="Agency FB" pitchFamily="34" charset="0"/>
              </a:rPr>
              <a:t>Le client reçoit un appel pour évaluer le service</a:t>
            </a:r>
          </a:p>
        </p:txBody>
      </p:sp>
      <p:grpSp>
        <p:nvGrpSpPr>
          <p:cNvPr id="110" name="Groupe 109"/>
          <p:cNvGrpSpPr/>
          <p:nvPr/>
        </p:nvGrpSpPr>
        <p:grpSpPr>
          <a:xfrm>
            <a:off x="4895842" y="2057391"/>
            <a:ext cx="1200120" cy="1200158"/>
            <a:chOff x="3500430" y="1714492"/>
            <a:chExt cx="1000100" cy="1000132"/>
          </a:xfrm>
        </p:grpSpPr>
        <p:grpSp>
          <p:nvGrpSpPr>
            <p:cNvPr id="15" name="Groupe 124"/>
            <p:cNvGrpSpPr/>
            <p:nvPr/>
          </p:nvGrpSpPr>
          <p:grpSpPr>
            <a:xfrm>
              <a:off x="3500430" y="1714492"/>
              <a:ext cx="1000100" cy="1000132"/>
              <a:chOff x="3643306" y="1643054"/>
              <a:chExt cx="1000100" cy="1000132"/>
            </a:xfrm>
          </p:grpSpPr>
          <p:sp>
            <p:nvSpPr>
              <p:cNvPr id="119" name="Organigramme : Connecteur 118"/>
              <p:cNvSpPr/>
              <p:nvPr/>
            </p:nvSpPr>
            <p:spPr>
              <a:xfrm>
                <a:off x="3643306" y="1643054"/>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2056" name="Picture 8"/>
              <p:cNvPicPr>
                <a:picLocks noChangeAspect="1" noChangeArrowheads="1"/>
              </p:cNvPicPr>
              <p:nvPr/>
            </p:nvPicPr>
            <p:blipFill>
              <a:blip r:embed="rId16" cstate="print">
                <a:clrChange>
                  <a:clrFrom>
                    <a:srgbClr val="FFFFFF"/>
                  </a:clrFrom>
                  <a:clrTo>
                    <a:srgbClr val="FFFFFF">
                      <a:alpha val="0"/>
                    </a:srgbClr>
                  </a:clrTo>
                </a:clrChange>
              </a:blip>
              <a:srcRect/>
              <a:stretch>
                <a:fillRect/>
              </a:stretch>
            </p:blipFill>
            <p:spPr bwMode="auto">
              <a:xfrm>
                <a:off x="3714744" y="1714492"/>
                <a:ext cx="874324" cy="785818"/>
              </a:xfrm>
              <a:prstGeom prst="rect">
                <a:avLst/>
              </a:prstGeom>
              <a:noFill/>
              <a:ln w="9525">
                <a:noFill/>
                <a:miter lim="800000"/>
                <a:headEnd/>
                <a:tailEnd/>
              </a:ln>
              <a:effectLst/>
            </p:spPr>
          </p:pic>
        </p:grpSp>
        <p:sp>
          <p:nvSpPr>
            <p:cNvPr id="84" name="ZoneTexte 83"/>
            <p:cNvSpPr txBox="1"/>
            <p:nvPr/>
          </p:nvSpPr>
          <p:spPr>
            <a:xfrm rot="1946789">
              <a:off x="3732033" y="1956837"/>
              <a:ext cx="622767" cy="261610"/>
            </a:xfrm>
            <a:prstGeom prst="rect">
              <a:avLst/>
            </a:prstGeom>
            <a:noFill/>
          </p:spPr>
          <p:txBody>
            <a:bodyPr wrap="none" rtlCol="0">
              <a:spAutoFit/>
            </a:bodyPr>
            <a:lstStyle/>
            <a:p>
              <a:r>
                <a:rPr lang="fr-FR" sz="1440" b="1" dirty="0">
                  <a:solidFill>
                    <a:schemeClr val="bg1"/>
                  </a:solidFill>
                  <a:latin typeface="Agency FB" pitchFamily="34" charset="0"/>
                </a:rPr>
                <a:t>Gr. Privé</a:t>
              </a:r>
            </a:p>
          </p:txBody>
        </p:sp>
      </p:grpSp>
      <p:sp>
        <p:nvSpPr>
          <p:cNvPr id="98" name="Rectangle 97"/>
          <p:cNvSpPr/>
          <p:nvPr/>
        </p:nvSpPr>
        <p:spPr>
          <a:xfrm>
            <a:off x="3573758" y="25864"/>
            <a:ext cx="7801030" cy="370437"/>
          </a:xfrm>
          <a:prstGeom prst="rect">
            <a:avLst/>
          </a:prstGeom>
        </p:spPr>
        <p:txBody>
          <a:bodyPr wrap="square" lIns="110826" tIns="55411" rIns="110826" bIns="55411">
            <a:spAutoFit/>
          </a:bodyPr>
          <a:lstStyle/>
          <a:p>
            <a:pPr algn="r"/>
            <a:r>
              <a:rPr lang="fr-FR" altLang="fr-FR" sz="1680" b="1" dirty="0">
                <a:solidFill>
                  <a:schemeClr val="accent1">
                    <a:lumMod val="50000"/>
                  </a:schemeClr>
                </a:solidFill>
                <a:ea typeface="Tahoma" pitchFamily="34" charset="0"/>
                <a:cs typeface="Tahoma" pitchFamily="34" charset="0"/>
              </a:rPr>
              <a:t>Procédure classique: Indemnisation après réparation dans un garage privé </a:t>
            </a:r>
            <a:endParaRPr lang="fr-FR" sz="1680" dirty="0">
              <a:solidFill>
                <a:schemeClr val="accent1">
                  <a:lumMod val="50000"/>
                </a:schemeClr>
              </a:solidFill>
              <a:ea typeface="Tahoma" pitchFamily="34" charset="0"/>
              <a:cs typeface="Tahoma" pitchFamily="34" charset="0"/>
            </a:endParaRPr>
          </a:p>
        </p:txBody>
      </p:sp>
      <p:sp>
        <p:nvSpPr>
          <p:cNvPr id="115" name="Rectangle 114"/>
          <p:cNvSpPr/>
          <p:nvPr/>
        </p:nvSpPr>
        <p:spPr>
          <a:xfrm>
            <a:off x="1288289" y="1879180"/>
            <a:ext cx="3429024" cy="685805"/>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a:solidFill>
                  <a:schemeClr val="tx1"/>
                </a:solidFill>
                <a:latin typeface="Agency FB" pitchFamily="34" charset="0"/>
              </a:rPr>
              <a:t>L’expert valide le devis établit par le garage choisit par l’assuré</a:t>
            </a:r>
          </a:p>
        </p:txBody>
      </p:sp>
      <p:sp>
        <p:nvSpPr>
          <p:cNvPr id="121" name="Rectangle 120"/>
          <p:cNvSpPr/>
          <p:nvPr/>
        </p:nvSpPr>
        <p:spPr>
          <a:xfrm>
            <a:off x="4967191" y="3554124"/>
            <a:ext cx="2228866" cy="415000"/>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a:solidFill>
                  <a:schemeClr val="tx1"/>
                </a:solidFill>
                <a:latin typeface="Agency FB" pitchFamily="34" charset="0"/>
              </a:rPr>
              <a:t>Expert valide le rapport d’expertise après réparation du VH</a:t>
            </a:r>
          </a:p>
        </p:txBody>
      </p:sp>
      <p:sp>
        <p:nvSpPr>
          <p:cNvPr id="125" name="Rectangle à coins arrondis 124"/>
          <p:cNvSpPr/>
          <p:nvPr/>
        </p:nvSpPr>
        <p:spPr>
          <a:xfrm>
            <a:off x="1705323" y="3178663"/>
            <a:ext cx="3171847" cy="342902"/>
          </a:xfrm>
          <a:prstGeom prst="roundRect">
            <a:avLst>
              <a:gd name="adj" fmla="val 50000"/>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sp>
        <p:nvSpPr>
          <p:cNvPr id="91" name="Rectangle 90"/>
          <p:cNvSpPr/>
          <p:nvPr/>
        </p:nvSpPr>
        <p:spPr>
          <a:xfrm>
            <a:off x="1705323" y="3153816"/>
            <a:ext cx="3171847" cy="342902"/>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a:solidFill>
                  <a:schemeClr val="tx1"/>
                </a:solidFill>
                <a:latin typeface="Agency FB" pitchFamily="34" charset="0"/>
              </a:rPr>
              <a:t>Le Garage entame les travaux de réparation </a:t>
            </a:r>
          </a:p>
        </p:txBody>
      </p:sp>
      <p:sp>
        <p:nvSpPr>
          <p:cNvPr id="135" name="Ellipse 134"/>
          <p:cNvSpPr/>
          <p:nvPr/>
        </p:nvSpPr>
        <p:spPr>
          <a:xfrm>
            <a:off x="5506162" y="5560099"/>
            <a:ext cx="342902" cy="327439"/>
          </a:xfrm>
          <a:prstGeom prst="ellipse">
            <a:avLst/>
          </a:prstGeom>
          <a:solidFill>
            <a:schemeClr val="bg1"/>
          </a:solidFill>
          <a:ln w="285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dirty="0">
              <a:solidFill>
                <a:schemeClr val="tx2">
                  <a:lumMod val="50000"/>
                </a:schemeClr>
              </a:solidFill>
            </a:endParaRPr>
          </a:p>
        </p:txBody>
      </p:sp>
      <p:sp>
        <p:nvSpPr>
          <p:cNvPr id="136" name="Rectangle 135"/>
          <p:cNvSpPr/>
          <p:nvPr/>
        </p:nvSpPr>
        <p:spPr>
          <a:xfrm>
            <a:off x="3952860" y="4800610"/>
            <a:ext cx="1885963" cy="685805"/>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dirty="0">
                <a:solidFill>
                  <a:schemeClr val="tx1"/>
                </a:solidFill>
                <a:latin typeface="Agency FB" pitchFamily="34" charset="0"/>
              </a:rPr>
              <a:t>Le client récupère son indemnisation</a:t>
            </a:r>
            <a:endParaRPr lang="fr-FR" sz="1260" b="1" dirty="0">
              <a:solidFill>
                <a:schemeClr val="tx1"/>
              </a:solidFill>
              <a:latin typeface="Agency FB" pitchFamily="34" charset="0"/>
            </a:endParaRPr>
          </a:p>
        </p:txBody>
      </p:sp>
      <p:pic>
        <p:nvPicPr>
          <p:cNvPr id="137" name="Image 136" descr="money-icon.png"/>
          <p:cNvPicPr>
            <a:picLocks noChangeAspect="1"/>
          </p:cNvPicPr>
          <p:nvPr/>
        </p:nvPicPr>
        <p:blipFill>
          <a:blip r:embed="rId17" cstate="print">
            <a:duotone>
              <a:prstClr val="black"/>
              <a:schemeClr val="accent6">
                <a:tint val="45000"/>
                <a:satMod val="400000"/>
              </a:schemeClr>
            </a:duotone>
          </a:blip>
          <a:stretch>
            <a:fillRect/>
          </a:stretch>
        </p:blipFill>
        <p:spPr>
          <a:xfrm rot="10800000">
            <a:off x="10125103" y="4457708"/>
            <a:ext cx="197244" cy="203711"/>
          </a:xfrm>
          <a:prstGeom prst="rect">
            <a:avLst/>
          </a:prstGeom>
        </p:spPr>
      </p:pic>
      <p:grpSp>
        <p:nvGrpSpPr>
          <p:cNvPr id="92" name="Groupe 91"/>
          <p:cNvGrpSpPr/>
          <p:nvPr/>
        </p:nvGrpSpPr>
        <p:grpSpPr>
          <a:xfrm>
            <a:off x="609562" y="2743195"/>
            <a:ext cx="1200120" cy="1200158"/>
            <a:chOff x="-32" y="2285996"/>
            <a:chExt cx="1000100" cy="1000132"/>
          </a:xfrm>
        </p:grpSpPr>
        <p:sp>
          <p:nvSpPr>
            <p:cNvPr id="111" name="Organigramme : Connecteur 110"/>
            <p:cNvSpPr/>
            <p:nvPr/>
          </p:nvSpPr>
          <p:spPr>
            <a:xfrm>
              <a:off x="-32" y="2285996"/>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1026" name="Picture 2"/>
            <p:cNvPicPr>
              <a:picLocks noChangeAspect="1" noChangeArrowheads="1"/>
            </p:cNvPicPr>
            <p:nvPr/>
          </p:nvPicPr>
          <p:blipFill>
            <a:blip r:embed="rId18" cstate="print">
              <a:clrChange>
                <a:clrFrom>
                  <a:srgbClr val="FFFFFF"/>
                </a:clrFrom>
                <a:clrTo>
                  <a:srgbClr val="FFFFFF">
                    <a:alpha val="0"/>
                  </a:srgbClr>
                </a:clrTo>
              </a:clrChange>
            </a:blip>
            <a:srcRect/>
            <a:stretch>
              <a:fillRect/>
            </a:stretch>
          </p:blipFill>
          <p:spPr bwMode="auto">
            <a:xfrm>
              <a:off x="537664" y="2400966"/>
              <a:ext cx="390998" cy="742286"/>
            </a:xfrm>
            <a:prstGeom prst="rect">
              <a:avLst/>
            </a:prstGeom>
            <a:noFill/>
            <a:ln w="9525">
              <a:noFill/>
              <a:miter lim="800000"/>
              <a:headEnd/>
              <a:tailEnd/>
            </a:ln>
            <a:effectLst/>
          </p:spPr>
        </p:pic>
        <p:pic>
          <p:nvPicPr>
            <p:cNvPr id="22" name="Picture 5"/>
            <p:cNvPicPr>
              <a:picLocks noChangeAspect="1" noChangeArrowheads="1"/>
            </p:cNvPicPr>
            <p:nvPr/>
          </p:nvPicPr>
          <p:blipFill>
            <a:blip r:embed="rId19" cstate="print">
              <a:clrChange>
                <a:clrFrom>
                  <a:srgbClr val="FEFEFE"/>
                </a:clrFrom>
                <a:clrTo>
                  <a:srgbClr val="FEFEFE">
                    <a:alpha val="0"/>
                  </a:srgbClr>
                </a:clrTo>
              </a:clrChange>
            </a:blip>
            <a:srcRect/>
            <a:stretch>
              <a:fillRect/>
            </a:stretch>
          </p:blipFill>
          <p:spPr bwMode="auto">
            <a:xfrm>
              <a:off x="71406" y="2571748"/>
              <a:ext cx="571504" cy="376630"/>
            </a:xfrm>
            <a:prstGeom prst="rect">
              <a:avLst/>
            </a:prstGeom>
            <a:noFill/>
            <a:ln w="9525">
              <a:noFill/>
              <a:miter lim="800000"/>
              <a:headEnd/>
              <a:tailEnd/>
            </a:ln>
            <a:effectLst/>
          </p:spPr>
        </p:pic>
      </p:grpSp>
      <p:pic>
        <p:nvPicPr>
          <p:cNvPr id="1030" name="Picture 6"/>
          <p:cNvPicPr>
            <a:picLocks noChangeAspect="1" noChangeArrowheads="1"/>
          </p:cNvPicPr>
          <p:nvPr/>
        </p:nvPicPr>
        <p:blipFill>
          <a:blip r:embed="rId20" cstate="print">
            <a:clrChange>
              <a:clrFrom>
                <a:srgbClr val="FFFFFF"/>
              </a:clrFrom>
              <a:clrTo>
                <a:srgbClr val="FFFFFF">
                  <a:alpha val="0"/>
                </a:srgbClr>
              </a:clrTo>
            </a:clrChange>
          </a:blip>
          <a:srcRect/>
          <a:stretch>
            <a:fillRect/>
          </a:stretch>
        </p:blipFill>
        <p:spPr bwMode="auto">
          <a:xfrm>
            <a:off x="5410196" y="4714884"/>
            <a:ext cx="810824" cy="817452"/>
          </a:xfrm>
          <a:prstGeom prst="rect">
            <a:avLst/>
          </a:prstGeom>
          <a:noFill/>
          <a:ln w="9525">
            <a:noFill/>
            <a:miter lim="800000"/>
            <a:headEnd/>
            <a:tailEnd/>
          </a:ln>
          <a:effectLst/>
        </p:spPr>
      </p:pic>
      <p:pic>
        <p:nvPicPr>
          <p:cNvPr id="1032" name="Picture 8"/>
          <p:cNvPicPr>
            <a:picLocks noChangeAspect="1" noChangeArrowheads="1"/>
          </p:cNvPicPr>
          <p:nvPr/>
        </p:nvPicPr>
        <p:blipFill>
          <a:blip r:embed="rId21" cstate="print">
            <a:clrChange>
              <a:clrFrom>
                <a:srgbClr val="F8FAFB"/>
              </a:clrFrom>
              <a:clrTo>
                <a:srgbClr val="F8FAFB">
                  <a:alpha val="0"/>
                </a:srgbClr>
              </a:clrTo>
            </a:clrChange>
          </a:blip>
          <a:srcRect/>
          <a:stretch>
            <a:fillRect/>
          </a:stretch>
        </p:blipFill>
        <p:spPr bwMode="auto">
          <a:xfrm>
            <a:off x="8347742" y="2283223"/>
            <a:ext cx="320027" cy="288522"/>
          </a:xfrm>
          <a:prstGeom prst="rect">
            <a:avLst/>
          </a:prstGeom>
          <a:noFill/>
          <a:ln w="9525">
            <a:noFill/>
            <a:miter lim="800000"/>
            <a:headEnd/>
            <a:tailEnd/>
          </a:ln>
          <a:effectLst/>
        </p:spPr>
      </p:pic>
      <p:sp>
        <p:nvSpPr>
          <p:cNvPr id="99" name="ZoneTexte 98"/>
          <p:cNvSpPr txBox="1"/>
          <p:nvPr/>
        </p:nvSpPr>
        <p:spPr>
          <a:xfrm>
            <a:off x="695287" y="657996"/>
            <a:ext cx="1200158" cy="867930"/>
          </a:xfrm>
          <a:prstGeom prst="rect">
            <a:avLst/>
          </a:prstGeom>
          <a:solidFill>
            <a:schemeClr val="bg1"/>
          </a:solidFill>
          <a:ln>
            <a:solidFill>
              <a:schemeClr val="bg2">
                <a:lumMod val="75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fr-FR" sz="1680" dirty="0">
                <a:latin typeface="Agency FB" pitchFamily="34" charset="0"/>
              </a:rPr>
              <a:t>Indemnisation après réparation</a:t>
            </a:r>
          </a:p>
        </p:txBody>
      </p:sp>
      <p:sp>
        <p:nvSpPr>
          <p:cNvPr id="100" name="Rectangle 99"/>
          <p:cNvSpPr/>
          <p:nvPr/>
        </p:nvSpPr>
        <p:spPr>
          <a:xfrm>
            <a:off x="7810512" y="491074"/>
            <a:ext cx="3429024" cy="428628"/>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dirty="0">
                <a:solidFill>
                  <a:schemeClr val="tx1"/>
                </a:solidFill>
                <a:latin typeface="Agency FB" pitchFamily="34" charset="0"/>
              </a:rPr>
              <a:t>Les prestations d’assistance sont activées conformément à la formule d’assistance souscrite par l’assuré</a:t>
            </a:r>
          </a:p>
        </p:txBody>
      </p:sp>
      <p:sp>
        <p:nvSpPr>
          <p:cNvPr id="102" name="Rectangle 101"/>
          <p:cNvSpPr/>
          <p:nvPr/>
        </p:nvSpPr>
        <p:spPr>
          <a:xfrm>
            <a:off x="6234764" y="1873615"/>
            <a:ext cx="2143140" cy="600079"/>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a:solidFill>
                  <a:schemeClr val="tx1"/>
                </a:solidFill>
                <a:latin typeface="Agency FB" pitchFamily="34" charset="0"/>
              </a:rPr>
              <a:t>Le sinistre est ouvert, l’expert est missionné</a:t>
            </a:r>
          </a:p>
        </p:txBody>
      </p:sp>
      <p:sp>
        <p:nvSpPr>
          <p:cNvPr id="103" name="Espace réservé du contenu 8"/>
          <p:cNvSpPr>
            <a:spLocks noGrp="1"/>
          </p:cNvSpPr>
          <p:nvPr>
            <p:ph sz="quarter" idx="12"/>
          </p:nvPr>
        </p:nvSpPr>
        <p:spPr bwMode="auto">
          <a:xfrm>
            <a:off x="5324470" y="6555718"/>
            <a:ext cx="6128390" cy="156847"/>
          </a:xfrm>
          <a:noFill/>
          <a:ln>
            <a:miter lim="800000"/>
            <a:headEnd/>
            <a:tailEnd/>
          </a:ln>
        </p:spPr>
        <p:txBody>
          <a:bodyPr wrap="square" numCol="1" anchorCtr="0" compatLnSpc="1">
            <a:prstTxWarp prst="textNoShape">
              <a:avLst/>
            </a:prstTxWarp>
          </a:bodyPr>
          <a:lstStyle/>
          <a:p>
            <a:pPr defTabSz="910554" fontAlgn="base">
              <a:spcBef>
                <a:spcPct val="0"/>
              </a:spcBef>
              <a:spcAft>
                <a:spcPct val="0"/>
              </a:spcAft>
            </a:pPr>
            <a:r>
              <a:rPr lang="fr-FR" b="1" dirty="0">
                <a:solidFill>
                  <a:schemeClr val="bg1"/>
                </a:solidFill>
                <a:latin typeface="Arial" charset="0"/>
                <a:cs typeface="Arial" charset="0"/>
              </a:rPr>
              <a:t>Direction </a:t>
            </a:r>
            <a:r>
              <a:rPr lang="fr-FR" b="1" dirty="0" smtClean="0">
                <a:solidFill>
                  <a:schemeClr val="bg1"/>
                </a:solidFill>
                <a:latin typeface="Arial" charset="0"/>
                <a:cs typeface="Arial" charset="0"/>
              </a:rPr>
              <a:t>Sinistres </a:t>
            </a:r>
            <a:r>
              <a:rPr lang="fr-FR" b="1" dirty="0">
                <a:solidFill>
                  <a:schemeClr val="bg1"/>
                </a:solidFill>
                <a:latin typeface="Arial" charset="0"/>
                <a:cs typeface="Arial" charset="0"/>
              </a:rPr>
              <a:t>Auto Matériels</a:t>
            </a:r>
          </a:p>
        </p:txBody>
      </p:sp>
      <p:sp>
        <p:nvSpPr>
          <p:cNvPr id="96" name="Rectangle 95"/>
          <p:cNvSpPr/>
          <p:nvPr/>
        </p:nvSpPr>
        <p:spPr>
          <a:xfrm>
            <a:off x="8426194" y="1794264"/>
            <a:ext cx="2261581" cy="600079"/>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dirty="0">
                <a:solidFill>
                  <a:schemeClr val="tx1"/>
                </a:solidFill>
                <a:latin typeface="Agency FB" pitchFamily="34" charset="0"/>
              </a:rPr>
              <a:t>Le client  déclare son sinistre sur </a:t>
            </a:r>
          </a:p>
          <a:p>
            <a:pPr algn="ctr"/>
            <a:r>
              <a:rPr lang="fr-FR" sz="1260" dirty="0">
                <a:solidFill>
                  <a:schemeClr val="tx1"/>
                </a:solidFill>
                <a:latin typeface="Agency FB" pitchFamily="34" charset="0"/>
              </a:rPr>
              <a:t>l’application </a:t>
            </a:r>
            <a:r>
              <a:rPr lang="fr-FR" sz="1260" b="1" dirty="0" err="1">
                <a:solidFill>
                  <a:schemeClr val="tx1"/>
                </a:solidFill>
                <a:latin typeface="Agency FB" pitchFamily="34" charset="0"/>
              </a:rPr>
              <a:t>MyWafa</a:t>
            </a:r>
            <a:endParaRPr lang="fr-FR" sz="1260" b="1" dirty="0">
              <a:solidFill>
                <a:schemeClr val="tx1"/>
              </a:solidFill>
              <a:latin typeface="Agency FB" pitchFamily="34" charset="0"/>
            </a:endParaRPr>
          </a:p>
          <a:p>
            <a:pPr algn="ctr"/>
            <a:r>
              <a:rPr lang="fr-FR" sz="1260" dirty="0">
                <a:solidFill>
                  <a:schemeClr val="tx1"/>
                </a:solidFill>
                <a:latin typeface="Agency FB" pitchFamily="34" charset="0"/>
              </a:rPr>
              <a:t> ou </a:t>
            </a:r>
            <a:r>
              <a:rPr lang="fr-FR" sz="1260" b="1" dirty="0">
                <a:solidFill>
                  <a:schemeClr val="tx1"/>
                </a:solidFill>
                <a:latin typeface="Agency FB" pitchFamily="34" charset="0"/>
              </a:rPr>
              <a:t>par téléphone à la plateforme ou chez son intermédiaire en transmettant le document de base</a:t>
            </a:r>
          </a:p>
        </p:txBody>
      </p:sp>
      <p:sp>
        <p:nvSpPr>
          <p:cNvPr id="9" name="ZoneTexte 8"/>
          <p:cNvSpPr txBox="1"/>
          <p:nvPr/>
        </p:nvSpPr>
        <p:spPr>
          <a:xfrm>
            <a:off x="3281892" y="2292444"/>
            <a:ext cx="1380416" cy="307777"/>
          </a:xfrm>
          <a:prstGeom prst="rect">
            <a:avLst/>
          </a:prstGeom>
          <a:solidFill>
            <a:srgbClr val="FFFF00"/>
          </a:solidFill>
          <a:ln>
            <a:solidFill>
              <a:schemeClr val="accent1"/>
            </a:solidFill>
          </a:ln>
        </p:spPr>
        <p:txBody>
          <a:bodyPr wrap="square" rtlCol="0">
            <a:spAutoFit/>
          </a:bodyPr>
          <a:lstStyle/>
          <a:p>
            <a:r>
              <a:rPr lang="fr-FR" sz="700" b="1" dirty="0" smtClean="0"/>
              <a:t>Si devis&gt;10000 dhs  Avance sur réparation possible </a:t>
            </a:r>
          </a:p>
        </p:txBody>
      </p:sp>
    </p:spTree>
    <p:extLst>
      <p:ext uri="{BB962C8B-B14F-4D97-AF65-F5344CB8AC3E}">
        <p14:creationId xmlns:p14="http://schemas.microsoft.com/office/powerpoint/2010/main" val="13087456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Virage 13"/>
          <p:cNvSpPr/>
          <p:nvPr/>
        </p:nvSpPr>
        <p:spPr>
          <a:xfrm rot="10800000">
            <a:off x="1258165" y="2564220"/>
            <a:ext cx="9936000" cy="182228"/>
          </a:xfrm>
          <a:prstGeom prst="bentArrow">
            <a:avLst>
              <a:gd name="adj1" fmla="val 41310"/>
              <a:gd name="adj2" fmla="val 25000"/>
              <a:gd name="adj3" fmla="val 25000"/>
              <a:gd name="adj4" fmla="val 95655"/>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20" name="Rectangle 119"/>
          <p:cNvSpPr/>
          <p:nvPr/>
        </p:nvSpPr>
        <p:spPr>
          <a:xfrm>
            <a:off x="1295366" y="2657470"/>
            <a:ext cx="3715200" cy="73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pic>
        <p:nvPicPr>
          <p:cNvPr id="2050" name="Picture 2"/>
          <p:cNvPicPr>
            <a:picLocks noChangeAspect="1" noChangeArrowheads="1"/>
          </p:cNvPicPr>
          <p:nvPr/>
        </p:nvPicPr>
        <p:blipFill>
          <a:blip r:embed="rId3" cstate="print"/>
          <a:srcRect/>
          <a:stretch>
            <a:fillRect/>
          </a:stretch>
        </p:blipFill>
        <p:spPr bwMode="auto">
          <a:xfrm>
            <a:off x="609600" y="3"/>
            <a:ext cx="10972800" cy="491072"/>
          </a:xfrm>
          <a:prstGeom prst="rect">
            <a:avLst/>
          </a:prstGeom>
          <a:noFill/>
          <a:ln w="9525">
            <a:noFill/>
            <a:miter lim="800000"/>
            <a:headEnd/>
            <a:tailEnd/>
          </a:ln>
        </p:spPr>
      </p:pic>
      <p:pic>
        <p:nvPicPr>
          <p:cNvPr id="5122" name="Image 4"/>
          <p:cNvPicPr>
            <a:picLocks noChangeAspect="1"/>
          </p:cNvPicPr>
          <p:nvPr/>
        </p:nvPicPr>
        <p:blipFill>
          <a:blip r:embed="rId4" cstate="print"/>
          <a:srcRect/>
          <a:stretch>
            <a:fillRect/>
          </a:stretch>
        </p:blipFill>
        <p:spPr bwMode="auto">
          <a:xfrm>
            <a:off x="835243" y="59764"/>
            <a:ext cx="1372325" cy="431311"/>
          </a:xfrm>
          <a:prstGeom prst="rect">
            <a:avLst/>
          </a:prstGeom>
          <a:noFill/>
          <a:ln w="9525">
            <a:noFill/>
            <a:miter lim="800000"/>
            <a:headEnd/>
            <a:tailEnd/>
          </a:ln>
        </p:spPr>
      </p:pic>
      <p:sp>
        <p:nvSpPr>
          <p:cNvPr id="73" name="Espace réservé du numéro de diapositive 72"/>
          <p:cNvSpPr>
            <a:spLocks noGrp="1"/>
          </p:cNvSpPr>
          <p:nvPr>
            <p:ph type="sldNum" sz="quarter" idx="12"/>
          </p:nvPr>
        </p:nvSpPr>
        <p:spPr>
          <a:xfrm>
            <a:off x="9071941" y="6520918"/>
            <a:ext cx="2467865" cy="364468"/>
          </a:xfrm>
        </p:spPr>
        <p:txBody>
          <a:bodyPr/>
          <a:lstStyle/>
          <a:p>
            <a:pPr>
              <a:defRPr/>
            </a:pPr>
            <a:fld id="{E11703BC-316E-4658-AE8F-B5827D54B665}" type="slidenum">
              <a:rPr lang="fr-FR" smtClean="0"/>
              <a:pPr>
                <a:defRPr/>
              </a:pPr>
              <a:t>10</a:t>
            </a:fld>
            <a:endParaRPr lang="fr-FR" dirty="0"/>
          </a:p>
        </p:txBody>
      </p:sp>
      <p:sp>
        <p:nvSpPr>
          <p:cNvPr id="56" name="Rectangle 55"/>
          <p:cNvSpPr/>
          <p:nvPr/>
        </p:nvSpPr>
        <p:spPr>
          <a:xfrm>
            <a:off x="652195" y="6567131"/>
            <a:ext cx="10843795" cy="231845"/>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770"/>
          </a:p>
        </p:txBody>
      </p:sp>
      <p:sp>
        <p:nvSpPr>
          <p:cNvPr id="57" name="Espace réservé du contenu 8"/>
          <p:cNvSpPr>
            <a:spLocks noGrp="1"/>
          </p:cNvSpPr>
          <p:nvPr>
            <p:ph sz="quarter" idx="11"/>
          </p:nvPr>
        </p:nvSpPr>
        <p:spPr bwMode="auto">
          <a:xfrm>
            <a:off x="565786" y="6572280"/>
            <a:ext cx="3328034" cy="226694"/>
          </a:xfrm>
          <a:noFill/>
          <a:ln>
            <a:miter lim="800000"/>
            <a:headEnd/>
            <a:tailEnd/>
          </a:ln>
        </p:spPr>
        <p:txBody>
          <a:bodyPr wrap="square" numCol="1" anchorCtr="0" compatLnSpc="1">
            <a:prstTxWarp prst="textNoShape">
              <a:avLst/>
            </a:prstTxWarp>
          </a:bodyPr>
          <a:lstStyle/>
          <a:p>
            <a:pPr defTabSz="910554" fontAlgn="base">
              <a:spcBef>
                <a:spcPct val="0"/>
              </a:spcBef>
              <a:spcAft>
                <a:spcPct val="0"/>
              </a:spcAft>
            </a:pPr>
            <a:r>
              <a:rPr lang="fr-FR" i="1" dirty="0">
                <a:solidFill>
                  <a:schemeClr val="bg1"/>
                </a:solidFill>
                <a:latin typeface="Arial" charset="0"/>
                <a:cs typeface="Arial" charset="0"/>
              </a:rPr>
              <a:t>À usage strictement interne ou confidentiel</a:t>
            </a:r>
          </a:p>
        </p:txBody>
      </p:sp>
      <p:sp>
        <p:nvSpPr>
          <p:cNvPr id="3" name="Virage 2"/>
          <p:cNvSpPr/>
          <p:nvPr/>
        </p:nvSpPr>
        <p:spPr>
          <a:xfrm rot="10800000" flipV="1">
            <a:off x="2251766" y="1161879"/>
            <a:ext cx="8942400" cy="182204"/>
          </a:xfrm>
          <a:prstGeom prst="bentArrow">
            <a:avLst>
              <a:gd name="adj1" fmla="val 41310"/>
              <a:gd name="adj2" fmla="val 25000"/>
              <a:gd name="adj3" fmla="val 25000"/>
              <a:gd name="adj4" fmla="val 9565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4" name="Rectangle 3"/>
          <p:cNvSpPr/>
          <p:nvPr/>
        </p:nvSpPr>
        <p:spPr>
          <a:xfrm>
            <a:off x="11116404" y="1339357"/>
            <a:ext cx="77760" cy="1271338"/>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5" name="Arc plein 4"/>
          <p:cNvSpPr/>
          <p:nvPr/>
        </p:nvSpPr>
        <p:spPr>
          <a:xfrm rot="16200000">
            <a:off x="508455" y="3273835"/>
            <a:ext cx="1613383" cy="382459"/>
          </a:xfrm>
          <a:prstGeom prst="blockArc">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6" name="Virage 15"/>
          <p:cNvSpPr/>
          <p:nvPr/>
        </p:nvSpPr>
        <p:spPr>
          <a:xfrm rot="10800000" flipV="1">
            <a:off x="1258162" y="4197380"/>
            <a:ext cx="9936000" cy="181440"/>
          </a:xfrm>
          <a:prstGeom prst="bentArrow">
            <a:avLst>
              <a:gd name="adj1" fmla="val 41310"/>
              <a:gd name="adj2" fmla="val 25000"/>
              <a:gd name="adj3" fmla="val 25000"/>
              <a:gd name="adj4" fmla="val 95655"/>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8" name="Virage 17"/>
          <p:cNvSpPr/>
          <p:nvPr/>
        </p:nvSpPr>
        <p:spPr>
          <a:xfrm rot="10800000">
            <a:off x="826163" y="5572140"/>
            <a:ext cx="10368000" cy="197856"/>
          </a:xfrm>
          <a:prstGeom prst="bentArrow">
            <a:avLst>
              <a:gd name="adj1" fmla="val 41310"/>
              <a:gd name="adj2" fmla="val 25000"/>
              <a:gd name="adj3" fmla="val 25000"/>
              <a:gd name="adj4" fmla="val 95655"/>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9" name="Rectangle 18"/>
          <p:cNvSpPr/>
          <p:nvPr/>
        </p:nvSpPr>
        <p:spPr>
          <a:xfrm>
            <a:off x="11116405" y="4378821"/>
            <a:ext cx="77759" cy="122031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8" name="ZoneTexte 7"/>
          <p:cNvSpPr txBox="1"/>
          <p:nvPr/>
        </p:nvSpPr>
        <p:spPr>
          <a:xfrm>
            <a:off x="3656178" y="1386005"/>
            <a:ext cx="6444393" cy="350865"/>
          </a:xfrm>
          <a:prstGeom prst="rect">
            <a:avLst/>
          </a:prstGeom>
          <a:noFill/>
        </p:spPr>
        <p:txBody>
          <a:bodyPr wrap="none" rtlCol="0">
            <a:spAutoFit/>
          </a:bodyPr>
          <a:lstStyle/>
          <a:p>
            <a:r>
              <a:rPr lang="fr-FR" sz="1680" b="1" dirty="0" smtClean="0">
                <a:solidFill>
                  <a:schemeClr val="tx2">
                    <a:lumMod val="75000"/>
                  </a:schemeClr>
                </a:solidFill>
                <a:latin typeface="Agency FB" pitchFamily="34" charset="0"/>
              </a:rPr>
              <a:t>Accord sur Devis &gt; 10000 DHS</a:t>
            </a:r>
            <a:r>
              <a:rPr lang="fr-FR" sz="1680" b="1" dirty="0">
                <a:solidFill>
                  <a:schemeClr val="tx2">
                    <a:lumMod val="75000"/>
                  </a:schemeClr>
                </a:solidFill>
                <a:latin typeface="Agency FB" pitchFamily="34" charset="0"/>
              </a:rPr>
              <a:t>		                                       </a:t>
            </a:r>
            <a:r>
              <a:rPr lang="fr-FR" sz="1680" b="1" dirty="0" smtClean="0">
                <a:solidFill>
                  <a:schemeClr val="tx2">
                    <a:lumMod val="75000"/>
                  </a:schemeClr>
                </a:solidFill>
                <a:latin typeface="Agency FB" pitchFamily="34" charset="0"/>
              </a:rPr>
              <a:t>Plateforme</a:t>
            </a:r>
            <a:endParaRPr lang="fr-FR" sz="1680" b="1" dirty="0">
              <a:solidFill>
                <a:schemeClr val="tx2">
                  <a:lumMod val="75000"/>
                </a:schemeClr>
              </a:solidFill>
              <a:latin typeface="Agency FB" pitchFamily="34" charset="0"/>
            </a:endParaRPr>
          </a:p>
        </p:txBody>
      </p:sp>
      <p:sp>
        <p:nvSpPr>
          <p:cNvPr id="35" name="ZoneTexte 34"/>
          <p:cNvSpPr txBox="1"/>
          <p:nvPr/>
        </p:nvSpPr>
        <p:spPr>
          <a:xfrm>
            <a:off x="4605225" y="4382567"/>
            <a:ext cx="7115225" cy="350865"/>
          </a:xfrm>
          <a:prstGeom prst="rect">
            <a:avLst/>
          </a:prstGeom>
          <a:noFill/>
        </p:spPr>
        <p:txBody>
          <a:bodyPr wrap="square" rtlCol="0">
            <a:spAutoFit/>
          </a:bodyPr>
          <a:lstStyle/>
          <a:p>
            <a:pPr algn="ctr"/>
            <a:r>
              <a:rPr lang="fr-FR" sz="1680" b="1" dirty="0">
                <a:solidFill>
                  <a:schemeClr val="accent4">
                    <a:lumMod val="75000"/>
                  </a:schemeClr>
                </a:solidFill>
                <a:latin typeface="Agency FB" pitchFamily="34" charset="0"/>
              </a:rPr>
              <a:t>            Remboursement                       	</a:t>
            </a:r>
          </a:p>
        </p:txBody>
      </p:sp>
      <p:sp>
        <p:nvSpPr>
          <p:cNvPr id="51" name="Chevron 50"/>
          <p:cNvSpPr/>
          <p:nvPr/>
        </p:nvSpPr>
        <p:spPr>
          <a:xfrm rot="10800000">
            <a:off x="781013" y="5486414"/>
            <a:ext cx="257177" cy="428628"/>
          </a:xfrm>
          <a:prstGeom prst="chevron">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60" name="Chevron 59"/>
          <p:cNvSpPr/>
          <p:nvPr/>
        </p:nvSpPr>
        <p:spPr>
          <a:xfrm>
            <a:off x="10296555" y="1079326"/>
            <a:ext cx="171451" cy="257177"/>
          </a:xfrm>
          <a:prstGeom prst="chevr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grpSp>
        <p:nvGrpSpPr>
          <p:cNvPr id="2" name="Groupe 99"/>
          <p:cNvGrpSpPr/>
          <p:nvPr/>
        </p:nvGrpSpPr>
        <p:grpSpPr>
          <a:xfrm>
            <a:off x="6781805" y="600055"/>
            <a:ext cx="1200120" cy="1200158"/>
            <a:chOff x="5143504" y="428608"/>
            <a:chExt cx="1000100" cy="1000132"/>
          </a:xfrm>
        </p:grpSpPr>
        <p:sp>
          <p:nvSpPr>
            <p:cNvPr id="52" name="Organigramme : Connecteur 51"/>
            <p:cNvSpPr/>
            <p:nvPr/>
          </p:nvSpPr>
          <p:spPr>
            <a:xfrm>
              <a:off x="5143504" y="428608"/>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1029" name="Picture 5"/>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5357818" y="571484"/>
              <a:ext cx="642942" cy="655931"/>
            </a:xfrm>
            <a:prstGeom prst="rect">
              <a:avLst/>
            </a:prstGeom>
            <a:noFill/>
            <a:ln w="9525">
              <a:noFill/>
              <a:miter lim="800000"/>
              <a:headEnd/>
              <a:tailEnd/>
            </a:ln>
            <a:effectLst/>
          </p:spPr>
        </p:pic>
      </p:grpSp>
      <p:sp>
        <p:nvSpPr>
          <p:cNvPr id="61" name="Rectangle 60"/>
          <p:cNvSpPr/>
          <p:nvPr/>
        </p:nvSpPr>
        <p:spPr>
          <a:xfrm>
            <a:off x="635171" y="1133611"/>
            <a:ext cx="1094166" cy="949725"/>
          </a:xfrm>
          <a:prstGeom prst="rect">
            <a:avLst/>
          </a:prstGeom>
          <a:solidFill>
            <a:srgbClr val="FFFF00"/>
          </a:solidFill>
          <a:ln>
            <a:noFill/>
            <a:prstDash val="sysDash"/>
          </a:ln>
          <a:effectLst>
            <a:glow rad="101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endParaRPr lang="fr-FR" sz="1100" b="1" dirty="0" smtClean="0">
              <a:solidFill>
                <a:schemeClr val="tx1"/>
              </a:solidFill>
              <a:latin typeface="Agency FB" pitchFamily="34" charset="0"/>
            </a:endParaRPr>
          </a:p>
          <a:p>
            <a:endParaRPr lang="fr-FR" sz="1100" b="1" dirty="0">
              <a:solidFill>
                <a:schemeClr val="tx1"/>
              </a:solidFill>
              <a:latin typeface="Agency FB" pitchFamily="34" charset="0"/>
            </a:endParaRPr>
          </a:p>
          <a:p>
            <a:r>
              <a:rPr lang="fr-FR" sz="1100" b="1" dirty="0" smtClean="0">
                <a:solidFill>
                  <a:schemeClr val="tx1"/>
                </a:solidFill>
                <a:latin typeface="Agency FB" pitchFamily="34" charset="0"/>
              </a:rPr>
              <a:t>Prérequis:</a:t>
            </a:r>
          </a:p>
          <a:p>
            <a:r>
              <a:rPr lang="fr-FR" sz="1100" b="1" dirty="0" smtClean="0">
                <a:solidFill>
                  <a:schemeClr val="tx1"/>
                </a:solidFill>
                <a:latin typeface="Agency FB" pitchFamily="34" charset="0"/>
              </a:rPr>
              <a:t>MT </a:t>
            </a:r>
            <a:r>
              <a:rPr lang="fr-FR" sz="1100" b="1" dirty="0">
                <a:solidFill>
                  <a:schemeClr val="tx1"/>
                </a:solidFill>
                <a:latin typeface="Agency FB" pitchFamily="34" charset="0"/>
              </a:rPr>
              <a:t>Devis &gt; 10000 dhs</a:t>
            </a:r>
          </a:p>
          <a:p>
            <a:r>
              <a:rPr lang="fr-FR" sz="1100" b="1" dirty="0">
                <a:solidFill>
                  <a:schemeClr val="tx1"/>
                </a:solidFill>
                <a:latin typeface="Agency FB" pitchFamily="34" charset="0"/>
              </a:rPr>
              <a:t>Police Annuelle</a:t>
            </a:r>
          </a:p>
          <a:p>
            <a:endParaRPr lang="fr-FR" sz="1100" b="1" dirty="0" smtClean="0">
              <a:solidFill>
                <a:schemeClr val="tx1"/>
              </a:solidFill>
              <a:latin typeface="Agency FB" pitchFamily="34" charset="0"/>
            </a:endParaRPr>
          </a:p>
          <a:p>
            <a:endParaRPr lang="fr-FR" sz="1100" b="1" dirty="0">
              <a:solidFill>
                <a:schemeClr val="tx1"/>
              </a:solidFill>
              <a:latin typeface="Agency FB" pitchFamily="34" charset="0"/>
            </a:endParaRPr>
          </a:p>
        </p:txBody>
      </p:sp>
      <p:grpSp>
        <p:nvGrpSpPr>
          <p:cNvPr id="7" name="Groupe 100"/>
          <p:cNvGrpSpPr/>
          <p:nvPr/>
        </p:nvGrpSpPr>
        <p:grpSpPr>
          <a:xfrm>
            <a:off x="10468025" y="1317779"/>
            <a:ext cx="1200120" cy="1200158"/>
            <a:chOff x="8143900" y="1071550"/>
            <a:chExt cx="1000100" cy="1000132"/>
          </a:xfrm>
        </p:grpSpPr>
        <p:sp>
          <p:nvSpPr>
            <p:cNvPr id="53" name="Organigramme : Connecteur 52"/>
            <p:cNvSpPr/>
            <p:nvPr/>
          </p:nvSpPr>
          <p:spPr>
            <a:xfrm>
              <a:off x="8143900" y="1071550"/>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72" name="Picture 4" descr="C:\Users\f.tabouti\Desktop\Icones\sm.png"/>
            <p:cNvPicPr>
              <a:picLocks noChangeAspect="1" noChangeArrowheads="1"/>
            </p:cNvPicPr>
            <p:nvPr/>
          </p:nvPicPr>
          <p:blipFill>
            <a:blip r:embed="rId6" cstate="print"/>
            <a:srcRect/>
            <a:stretch>
              <a:fillRect/>
            </a:stretch>
          </p:blipFill>
          <p:spPr bwMode="auto">
            <a:xfrm>
              <a:off x="8215338" y="1357302"/>
              <a:ext cx="500066" cy="500066"/>
            </a:xfrm>
            <a:prstGeom prst="rect">
              <a:avLst/>
            </a:prstGeom>
            <a:noFill/>
          </p:spPr>
        </p:pic>
        <p:pic>
          <p:nvPicPr>
            <p:cNvPr id="74" name="Image 73" descr="tel.png"/>
            <p:cNvPicPr>
              <a:picLocks noChangeAspect="1"/>
            </p:cNvPicPr>
            <p:nvPr/>
          </p:nvPicPr>
          <p:blipFill>
            <a:blip r:embed="rId7" cstate="print"/>
            <a:stretch>
              <a:fillRect/>
            </a:stretch>
          </p:blipFill>
          <p:spPr>
            <a:xfrm>
              <a:off x="8715404" y="1428740"/>
              <a:ext cx="357190" cy="357190"/>
            </a:xfrm>
            <a:prstGeom prst="rect">
              <a:avLst/>
            </a:prstGeom>
          </p:spPr>
        </p:pic>
      </p:grpSp>
      <p:pic>
        <p:nvPicPr>
          <p:cNvPr id="76" name="Image 75" descr="photo.png"/>
          <p:cNvPicPr>
            <a:picLocks noChangeAspect="1"/>
          </p:cNvPicPr>
          <p:nvPr/>
        </p:nvPicPr>
        <p:blipFill>
          <a:blip r:embed="rId8" cstate="print"/>
          <a:stretch>
            <a:fillRect/>
          </a:stretch>
        </p:blipFill>
        <p:spPr>
          <a:xfrm>
            <a:off x="7824629" y="2314567"/>
            <a:ext cx="171451" cy="171451"/>
          </a:xfrm>
          <a:prstGeom prst="rect">
            <a:avLst/>
          </a:prstGeom>
        </p:spPr>
      </p:pic>
      <p:grpSp>
        <p:nvGrpSpPr>
          <p:cNvPr id="10" name="Groupe 98"/>
          <p:cNvGrpSpPr/>
          <p:nvPr/>
        </p:nvGrpSpPr>
        <p:grpSpPr>
          <a:xfrm>
            <a:off x="2152622" y="600055"/>
            <a:ext cx="1285884" cy="1200158"/>
            <a:chOff x="1071538" y="428608"/>
            <a:chExt cx="1071570" cy="1000132"/>
          </a:xfrm>
        </p:grpSpPr>
        <p:sp>
          <p:nvSpPr>
            <p:cNvPr id="6" name="Organigramme : Connecteur 5"/>
            <p:cNvSpPr/>
            <p:nvPr/>
          </p:nvSpPr>
          <p:spPr>
            <a:xfrm>
              <a:off x="1143008" y="428608"/>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2051" name="Picture 3"/>
            <p:cNvPicPr>
              <a:picLocks noChangeAspect="1" noChangeArrowheads="1"/>
            </p:cNvPicPr>
            <p:nvPr/>
          </p:nvPicPr>
          <p:blipFill>
            <a:blip r:embed="rId9">
              <a:clrChange>
                <a:clrFrom>
                  <a:srgbClr val="FFFFFF"/>
                </a:clrFrom>
                <a:clrTo>
                  <a:srgbClr val="FFFFFF">
                    <a:alpha val="0"/>
                  </a:srgbClr>
                </a:clrTo>
              </a:clrChange>
            </a:blip>
            <a:srcRect/>
            <a:stretch>
              <a:fillRect/>
            </a:stretch>
          </p:blipFill>
          <p:spPr bwMode="auto">
            <a:xfrm>
              <a:off x="1071538" y="571484"/>
              <a:ext cx="1049990" cy="618399"/>
            </a:xfrm>
            <a:prstGeom prst="rect">
              <a:avLst/>
            </a:prstGeom>
            <a:noFill/>
            <a:ln w="9525">
              <a:noFill/>
              <a:miter lim="800000"/>
              <a:headEnd/>
              <a:tailEnd/>
            </a:ln>
            <a:effectLst/>
          </p:spPr>
        </p:pic>
      </p:grpSp>
      <p:sp>
        <p:nvSpPr>
          <p:cNvPr id="85" name="ZoneTexte 84"/>
          <p:cNvSpPr txBox="1"/>
          <p:nvPr/>
        </p:nvSpPr>
        <p:spPr>
          <a:xfrm>
            <a:off x="7538394" y="2828921"/>
            <a:ext cx="1657826" cy="350865"/>
          </a:xfrm>
          <a:prstGeom prst="rect">
            <a:avLst/>
          </a:prstGeom>
          <a:noFill/>
        </p:spPr>
        <p:txBody>
          <a:bodyPr wrap="none" rtlCol="0">
            <a:spAutoFit/>
          </a:bodyPr>
          <a:lstStyle/>
          <a:p>
            <a:r>
              <a:rPr lang="fr-FR" sz="1680" b="1" dirty="0" smtClean="0">
                <a:solidFill>
                  <a:schemeClr val="accent6">
                    <a:lumMod val="75000"/>
                  </a:schemeClr>
                </a:solidFill>
                <a:latin typeface="Agency FB" pitchFamily="34" charset="0"/>
              </a:rPr>
              <a:t>Parcours déclenché</a:t>
            </a:r>
            <a:endParaRPr lang="fr-FR" sz="1680" b="1" dirty="0">
              <a:solidFill>
                <a:schemeClr val="accent6">
                  <a:lumMod val="75000"/>
                </a:schemeClr>
              </a:solidFill>
              <a:latin typeface="Agency FB" pitchFamily="34" charset="0"/>
            </a:endParaRPr>
          </a:p>
        </p:txBody>
      </p:sp>
      <p:pic>
        <p:nvPicPr>
          <p:cNvPr id="97" name="Image 96" descr="po.png"/>
          <p:cNvPicPr>
            <a:picLocks noChangeAspect="1"/>
          </p:cNvPicPr>
          <p:nvPr/>
        </p:nvPicPr>
        <p:blipFill>
          <a:blip r:embed="rId10" cstate="print"/>
          <a:stretch>
            <a:fillRect/>
          </a:stretch>
        </p:blipFill>
        <p:spPr>
          <a:xfrm>
            <a:off x="8081806" y="2314567"/>
            <a:ext cx="157334" cy="159127"/>
          </a:xfrm>
          <a:prstGeom prst="rect">
            <a:avLst/>
          </a:prstGeom>
        </p:spPr>
      </p:pic>
      <p:pic>
        <p:nvPicPr>
          <p:cNvPr id="126" name="Image 125" descr="digital-icon-png-3.png"/>
          <p:cNvPicPr>
            <a:picLocks noChangeAspect="1"/>
          </p:cNvPicPr>
          <p:nvPr/>
        </p:nvPicPr>
        <p:blipFill>
          <a:blip r:embed="rId11" cstate="print"/>
          <a:stretch>
            <a:fillRect/>
          </a:stretch>
        </p:blipFill>
        <p:spPr>
          <a:xfrm>
            <a:off x="5324469" y="3659920"/>
            <a:ext cx="697389" cy="514354"/>
          </a:xfrm>
          <a:prstGeom prst="rect">
            <a:avLst/>
          </a:prstGeom>
        </p:spPr>
      </p:pic>
      <p:sp>
        <p:nvSpPr>
          <p:cNvPr id="127" name="Rectangle 126"/>
          <p:cNvSpPr/>
          <p:nvPr/>
        </p:nvSpPr>
        <p:spPr>
          <a:xfrm>
            <a:off x="866738" y="5680126"/>
            <a:ext cx="2419200" cy="7344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29" name="Chevron 128"/>
          <p:cNvSpPr/>
          <p:nvPr/>
        </p:nvSpPr>
        <p:spPr>
          <a:xfrm flipH="1">
            <a:off x="6181726" y="2571744"/>
            <a:ext cx="171451" cy="257177"/>
          </a:xfrm>
          <a:prstGeom prst="chevron">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30" name="Chevron 129"/>
          <p:cNvSpPr/>
          <p:nvPr/>
        </p:nvSpPr>
        <p:spPr>
          <a:xfrm>
            <a:off x="6096000" y="4114805"/>
            <a:ext cx="171451" cy="257177"/>
          </a:xfrm>
          <a:prstGeom prst="chevron">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grpSp>
        <p:nvGrpSpPr>
          <p:cNvPr id="110" name="Groupe 109"/>
          <p:cNvGrpSpPr/>
          <p:nvPr/>
        </p:nvGrpSpPr>
        <p:grpSpPr>
          <a:xfrm>
            <a:off x="3470310" y="5146200"/>
            <a:ext cx="1200120" cy="1200158"/>
            <a:chOff x="3500430" y="1714492"/>
            <a:chExt cx="1000100" cy="1000132"/>
          </a:xfrm>
        </p:grpSpPr>
        <p:grpSp>
          <p:nvGrpSpPr>
            <p:cNvPr id="15" name="Groupe 124"/>
            <p:cNvGrpSpPr/>
            <p:nvPr/>
          </p:nvGrpSpPr>
          <p:grpSpPr>
            <a:xfrm>
              <a:off x="3500430" y="1714492"/>
              <a:ext cx="1000100" cy="1000132"/>
              <a:chOff x="3643306" y="1643054"/>
              <a:chExt cx="1000100" cy="1000132"/>
            </a:xfrm>
          </p:grpSpPr>
          <p:sp>
            <p:nvSpPr>
              <p:cNvPr id="119" name="Organigramme : Connecteur 118"/>
              <p:cNvSpPr/>
              <p:nvPr/>
            </p:nvSpPr>
            <p:spPr>
              <a:xfrm>
                <a:off x="3643306" y="1643054"/>
                <a:ext cx="1000100" cy="1000132"/>
              </a:xfrm>
              <a:prstGeom prst="flowChartConnector">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pic>
            <p:nvPicPr>
              <p:cNvPr id="2056" name="Picture 8"/>
              <p:cNvPicPr>
                <a:picLocks noChangeAspect="1" noChangeArrowheads="1"/>
              </p:cNvPicPr>
              <p:nvPr/>
            </p:nvPicPr>
            <p:blipFill>
              <a:blip r:embed="rId12" cstate="print">
                <a:clrChange>
                  <a:clrFrom>
                    <a:srgbClr val="FFFFFF"/>
                  </a:clrFrom>
                  <a:clrTo>
                    <a:srgbClr val="FFFFFF">
                      <a:alpha val="0"/>
                    </a:srgbClr>
                  </a:clrTo>
                </a:clrChange>
              </a:blip>
              <a:srcRect/>
              <a:stretch>
                <a:fillRect/>
              </a:stretch>
            </p:blipFill>
            <p:spPr bwMode="auto">
              <a:xfrm>
                <a:off x="3714744" y="1714492"/>
                <a:ext cx="874324" cy="785818"/>
              </a:xfrm>
              <a:prstGeom prst="rect">
                <a:avLst/>
              </a:prstGeom>
              <a:noFill/>
              <a:ln w="9525">
                <a:noFill/>
                <a:miter lim="800000"/>
                <a:headEnd/>
                <a:tailEnd/>
              </a:ln>
              <a:effectLst/>
            </p:spPr>
          </p:pic>
        </p:grpSp>
        <p:sp>
          <p:nvSpPr>
            <p:cNvPr id="84" name="ZoneTexte 83"/>
            <p:cNvSpPr txBox="1"/>
            <p:nvPr/>
          </p:nvSpPr>
          <p:spPr>
            <a:xfrm rot="1946789">
              <a:off x="3732033" y="1956837"/>
              <a:ext cx="622767" cy="261610"/>
            </a:xfrm>
            <a:prstGeom prst="rect">
              <a:avLst/>
            </a:prstGeom>
            <a:noFill/>
          </p:spPr>
          <p:txBody>
            <a:bodyPr wrap="none" rtlCol="0">
              <a:spAutoFit/>
            </a:bodyPr>
            <a:lstStyle/>
            <a:p>
              <a:r>
                <a:rPr lang="fr-FR" sz="1440" b="1" dirty="0">
                  <a:solidFill>
                    <a:schemeClr val="bg1"/>
                  </a:solidFill>
                  <a:latin typeface="Agency FB" pitchFamily="34" charset="0"/>
                </a:rPr>
                <a:t>Gr. Privé</a:t>
              </a:r>
            </a:p>
          </p:txBody>
        </p:sp>
      </p:grpSp>
      <p:sp>
        <p:nvSpPr>
          <p:cNvPr id="98" name="Rectangle 97"/>
          <p:cNvSpPr/>
          <p:nvPr/>
        </p:nvSpPr>
        <p:spPr>
          <a:xfrm>
            <a:off x="3573758" y="25864"/>
            <a:ext cx="7801030" cy="370437"/>
          </a:xfrm>
          <a:prstGeom prst="rect">
            <a:avLst/>
          </a:prstGeom>
        </p:spPr>
        <p:txBody>
          <a:bodyPr wrap="square" lIns="110826" tIns="55411" rIns="110826" bIns="55411">
            <a:spAutoFit/>
          </a:bodyPr>
          <a:lstStyle/>
          <a:p>
            <a:pPr algn="r"/>
            <a:r>
              <a:rPr lang="fr-FR" altLang="fr-FR" sz="1680" b="1" dirty="0">
                <a:solidFill>
                  <a:schemeClr val="accent1">
                    <a:lumMod val="50000"/>
                  </a:schemeClr>
                </a:solidFill>
                <a:ea typeface="Tahoma" pitchFamily="34" charset="0"/>
                <a:cs typeface="Tahoma" pitchFamily="34" charset="0"/>
              </a:rPr>
              <a:t>Procédure classique: </a:t>
            </a:r>
            <a:r>
              <a:rPr lang="fr-FR" altLang="fr-FR" sz="1680" b="1" dirty="0" smtClean="0">
                <a:solidFill>
                  <a:schemeClr val="accent1">
                    <a:lumMod val="50000"/>
                  </a:schemeClr>
                </a:solidFill>
                <a:ea typeface="Tahoma" pitchFamily="34" charset="0"/>
                <a:cs typeface="Tahoma" pitchFamily="34" charset="0"/>
              </a:rPr>
              <a:t>Avance sur réparation</a:t>
            </a:r>
            <a:endParaRPr lang="fr-FR" sz="1680" dirty="0">
              <a:solidFill>
                <a:schemeClr val="accent1">
                  <a:lumMod val="50000"/>
                </a:schemeClr>
              </a:solidFill>
              <a:ea typeface="Tahoma" pitchFamily="34" charset="0"/>
              <a:cs typeface="Tahoma" pitchFamily="34" charset="0"/>
            </a:endParaRPr>
          </a:p>
        </p:txBody>
      </p:sp>
      <p:sp>
        <p:nvSpPr>
          <p:cNvPr id="115" name="Rectangle 114"/>
          <p:cNvSpPr/>
          <p:nvPr/>
        </p:nvSpPr>
        <p:spPr>
          <a:xfrm>
            <a:off x="1288289" y="1879180"/>
            <a:ext cx="3429024" cy="685805"/>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a:solidFill>
                  <a:schemeClr val="tx1"/>
                </a:solidFill>
                <a:latin typeface="Agency FB" pitchFamily="34" charset="0"/>
              </a:rPr>
              <a:t>L’expert valide le devis établit par le garage choisit par l’assuré</a:t>
            </a:r>
          </a:p>
        </p:txBody>
      </p:sp>
      <p:sp>
        <p:nvSpPr>
          <p:cNvPr id="121" name="Rectangle 120"/>
          <p:cNvSpPr/>
          <p:nvPr/>
        </p:nvSpPr>
        <p:spPr>
          <a:xfrm>
            <a:off x="1464424" y="2794642"/>
            <a:ext cx="3573496" cy="415000"/>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a:solidFill>
                  <a:schemeClr val="tx1"/>
                </a:solidFill>
                <a:latin typeface="Agency FB" pitchFamily="34" charset="0"/>
              </a:rPr>
              <a:t>Expert valide le rapport d’expertise </a:t>
            </a:r>
            <a:r>
              <a:rPr lang="fr-FR" sz="1260" b="1" dirty="0" smtClean="0">
                <a:solidFill>
                  <a:schemeClr val="tx1"/>
                </a:solidFill>
                <a:latin typeface="Agency FB" pitchFamily="34" charset="0"/>
              </a:rPr>
              <a:t>avance sur réparation</a:t>
            </a:r>
            <a:endParaRPr lang="fr-FR" sz="1260" b="1" dirty="0">
              <a:solidFill>
                <a:schemeClr val="tx1"/>
              </a:solidFill>
              <a:latin typeface="Agency FB" pitchFamily="34" charset="0"/>
            </a:endParaRPr>
          </a:p>
        </p:txBody>
      </p:sp>
      <p:sp>
        <p:nvSpPr>
          <p:cNvPr id="125" name="Rectangle à coins arrondis 124"/>
          <p:cNvSpPr/>
          <p:nvPr/>
        </p:nvSpPr>
        <p:spPr>
          <a:xfrm>
            <a:off x="716088" y="5125510"/>
            <a:ext cx="3171847" cy="342902"/>
          </a:xfrm>
          <a:prstGeom prst="roundRect">
            <a:avLst>
              <a:gd name="adj" fmla="val 50000"/>
            </a:avLst>
          </a:prstGeom>
          <a:solidFill>
            <a:schemeClr val="bg1"/>
          </a:solidFill>
          <a:ln>
            <a:solidFill>
              <a:schemeClr val="bg1">
                <a:lumMod val="85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p>
        </p:txBody>
      </p:sp>
      <p:sp>
        <p:nvSpPr>
          <p:cNvPr id="91" name="Rectangle 90"/>
          <p:cNvSpPr/>
          <p:nvPr/>
        </p:nvSpPr>
        <p:spPr>
          <a:xfrm>
            <a:off x="716491" y="5140938"/>
            <a:ext cx="3171847" cy="342902"/>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a:solidFill>
                  <a:schemeClr val="tx1"/>
                </a:solidFill>
                <a:latin typeface="Agency FB" pitchFamily="34" charset="0"/>
              </a:rPr>
              <a:t>Le Garage entame les travaux de réparation </a:t>
            </a:r>
          </a:p>
        </p:txBody>
      </p:sp>
      <p:sp>
        <p:nvSpPr>
          <p:cNvPr id="136" name="Rectangle 135"/>
          <p:cNvSpPr/>
          <p:nvPr/>
        </p:nvSpPr>
        <p:spPr>
          <a:xfrm>
            <a:off x="7849113" y="4988977"/>
            <a:ext cx="1885963" cy="685805"/>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b="1" dirty="0">
                <a:solidFill>
                  <a:schemeClr val="tx1"/>
                </a:solidFill>
                <a:latin typeface="Agency FB" pitchFamily="34" charset="0"/>
              </a:rPr>
              <a:t>Le client récupère son indemnisation</a:t>
            </a:r>
          </a:p>
        </p:txBody>
      </p:sp>
      <p:pic>
        <p:nvPicPr>
          <p:cNvPr id="1030" name="Picture 6"/>
          <p:cNvPicPr>
            <a:picLocks noChangeAspect="1" noChangeArrowheads="1"/>
          </p:cNvPicPr>
          <p:nvPr/>
        </p:nvPicPr>
        <p:blipFill>
          <a:blip r:embed="rId13" cstate="print">
            <a:clrChange>
              <a:clrFrom>
                <a:srgbClr val="FFFFFF"/>
              </a:clrFrom>
              <a:clrTo>
                <a:srgbClr val="FFFFFF">
                  <a:alpha val="0"/>
                </a:srgbClr>
              </a:clrTo>
            </a:clrChange>
          </a:blip>
          <a:srcRect/>
          <a:stretch>
            <a:fillRect/>
          </a:stretch>
        </p:blipFill>
        <p:spPr bwMode="auto">
          <a:xfrm>
            <a:off x="8936127" y="4387115"/>
            <a:ext cx="1426870" cy="459265"/>
          </a:xfrm>
          <a:prstGeom prst="rect">
            <a:avLst/>
          </a:prstGeom>
          <a:noFill/>
          <a:ln w="9525">
            <a:noFill/>
            <a:miter lim="800000"/>
            <a:headEnd/>
            <a:tailEnd/>
          </a:ln>
          <a:effectLst/>
        </p:spPr>
      </p:pic>
      <p:pic>
        <p:nvPicPr>
          <p:cNvPr id="1032" name="Picture 8"/>
          <p:cNvPicPr>
            <a:picLocks noChangeAspect="1" noChangeArrowheads="1"/>
          </p:cNvPicPr>
          <p:nvPr/>
        </p:nvPicPr>
        <p:blipFill>
          <a:blip r:embed="rId14" cstate="print">
            <a:clrChange>
              <a:clrFrom>
                <a:srgbClr val="F8FAFB"/>
              </a:clrFrom>
              <a:clrTo>
                <a:srgbClr val="F8FAFB">
                  <a:alpha val="0"/>
                </a:srgbClr>
              </a:clrTo>
            </a:clrChange>
          </a:blip>
          <a:srcRect/>
          <a:stretch>
            <a:fillRect/>
          </a:stretch>
        </p:blipFill>
        <p:spPr bwMode="auto">
          <a:xfrm>
            <a:off x="8347742" y="2283223"/>
            <a:ext cx="320027" cy="288522"/>
          </a:xfrm>
          <a:prstGeom prst="rect">
            <a:avLst/>
          </a:prstGeom>
          <a:noFill/>
          <a:ln w="9525">
            <a:noFill/>
            <a:miter lim="800000"/>
            <a:headEnd/>
            <a:tailEnd/>
          </a:ln>
          <a:effectLst/>
        </p:spPr>
      </p:pic>
      <p:sp>
        <p:nvSpPr>
          <p:cNvPr id="99" name="ZoneTexte 98"/>
          <p:cNvSpPr txBox="1"/>
          <p:nvPr/>
        </p:nvSpPr>
        <p:spPr>
          <a:xfrm>
            <a:off x="609562" y="683867"/>
            <a:ext cx="1200158" cy="609398"/>
          </a:xfrm>
          <a:prstGeom prst="rect">
            <a:avLst/>
          </a:prstGeom>
          <a:solidFill>
            <a:schemeClr val="accent6">
              <a:lumMod val="20000"/>
              <a:lumOff val="80000"/>
            </a:schemeClr>
          </a:solidFill>
          <a:ln>
            <a:solidFill>
              <a:schemeClr val="bg2">
                <a:lumMod val="75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fr-FR" sz="1680" dirty="0" smtClean="0">
                <a:latin typeface="Agency FB" pitchFamily="34" charset="0"/>
              </a:rPr>
              <a:t>Avance sur réparation </a:t>
            </a:r>
            <a:endParaRPr lang="fr-FR" sz="1680" dirty="0">
              <a:latin typeface="Agency FB" pitchFamily="34" charset="0"/>
            </a:endParaRPr>
          </a:p>
        </p:txBody>
      </p:sp>
      <p:sp>
        <p:nvSpPr>
          <p:cNvPr id="100" name="Rectangle 99"/>
          <p:cNvSpPr/>
          <p:nvPr/>
        </p:nvSpPr>
        <p:spPr>
          <a:xfrm>
            <a:off x="3274688" y="542185"/>
            <a:ext cx="3429024" cy="428628"/>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dirty="0" smtClean="0">
                <a:solidFill>
                  <a:schemeClr val="tx1"/>
                </a:solidFill>
                <a:latin typeface="Agency FB" pitchFamily="34" charset="0"/>
              </a:rPr>
              <a:t>Le client contacte la plateforme pour demande Avance sur réparation</a:t>
            </a:r>
            <a:endParaRPr lang="fr-FR" sz="1260" dirty="0">
              <a:solidFill>
                <a:schemeClr val="tx1"/>
              </a:solidFill>
              <a:latin typeface="Agency FB" pitchFamily="34" charset="0"/>
            </a:endParaRPr>
          </a:p>
        </p:txBody>
      </p:sp>
      <p:sp>
        <p:nvSpPr>
          <p:cNvPr id="103" name="Espace réservé du contenu 8"/>
          <p:cNvSpPr>
            <a:spLocks noGrp="1"/>
          </p:cNvSpPr>
          <p:nvPr>
            <p:ph sz="quarter" idx="12"/>
          </p:nvPr>
        </p:nvSpPr>
        <p:spPr bwMode="auto">
          <a:xfrm>
            <a:off x="5324470" y="6555718"/>
            <a:ext cx="6128390" cy="156847"/>
          </a:xfrm>
          <a:noFill/>
          <a:ln>
            <a:miter lim="800000"/>
            <a:headEnd/>
            <a:tailEnd/>
          </a:ln>
        </p:spPr>
        <p:txBody>
          <a:bodyPr wrap="square" numCol="1" anchorCtr="0" compatLnSpc="1">
            <a:prstTxWarp prst="textNoShape">
              <a:avLst/>
            </a:prstTxWarp>
          </a:bodyPr>
          <a:lstStyle/>
          <a:p>
            <a:pPr defTabSz="910554" fontAlgn="base">
              <a:spcBef>
                <a:spcPct val="0"/>
              </a:spcBef>
              <a:spcAft>
                <a:spcPct val="0"/>
              </a:spcAft>
            </a:pPr>
            <a:r>
              <a:rPr lang="fr-FR" b="1" dirty="0">
                <a:solidFill>
                  <a:schemeClr val="bg1"/>
                </a:solidFill>
                <a:latin typeface="Arial" charset="0"/>
                <a:cs typeface="Arial" charset="0"/>
              </a:rPr>
              <a:t>Direction </a:t>
            </a:r>
            <a:r>
              <a:rPr lang="fr-FR" b="1" dirty="0" smtClean="0">
                <a:solidFill>
                  <a:schemeClr val="bg1"/>
                </a:solidFill>
                <a:latin typeface="Arial" charset="0"/>
                <a:cs typeface="Arial" charset="0"/>
              </a:rPr>
              <a:t>Sinistres </a:t>
            </a:r>
            <a:r>
              <a:rPr lang="fr-FR" b="1" dirty="0">
                <a:solidFill>
                  <a:schemeClr val="bg1"/>
                </a:solidFill>
                <a:latin typeface="Arial" charset="0"/>
                <a:cs typeface="Arial" charset="0"/>
              </a:rPr>
              <a:t>Auto Matériels</a:t>
            </a:r>
          </a:p>
        </p:txBody>
      </p:sp>
      <p:sp>
        <p:nvSpPr>
          <p:cNvPr id="96" name="Rectangle 95"/>
          <p:cNvSpPr/>
          <p:nvPr/>
        </p:nvSpPr>
        <p:spPr>
          <a:xfrm>
            <a:off x="8232930" y="1687264"/>
            <a:ext cx="2261581" cy="600079"/>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3200" rIns="43200" rtlCol="0" anchor="ctr"/>
          <a:lstStyle/>
          <a:p>
            <a:pPr algn="ctr"/>
            <a:r>
              <a:rPr lang="fr-FR" sz="1260" dirty="0" smtClean="0">
                <a:solidFill>
                  <a:schemeClr val="tx1"/>
                </a:solidFill>
                <a:latin typeface="Agency FB" pitchFamily="34" charset="0"/>
              </a:rPr>
              <a:t>La plateforme déclenche  le parcours Avance sur réparation et récupère la CIN ou le RIB pour le règlement </a:t>
            </a:r>
            <a:endParaRPr lang="fr-FR" sz="1260" b="1" dirty="0">
              <a:solidFill>
                <a:schemeClr val="tx1"/>
              </a:solidFill>
              <a:latin typeface="Agency FB" pitchFamily="34" charset="0"/>
            </a:endParaRPr>
          </a:p>
        </p:txBody>
      </p:sp>
      <p:pic>
        <p:nvPicPr>
          <p:cNvPr id="9" name="Image 8"/>
          <p:cNvPicPr>
            <a:picLocks noChangeAspect="1"/>
          </p:cNvPicPr>
          <p:nvPr/>
        </p:nvPicPr>
        <p:blipFill>
          <a:blip r:embed="rId15"/>
          <a:stretch>
            <a:fillRect/>
          </a:stretch>
        </p:blipFill>
        <p:spPr>
          <a:xfrm>
            <a:off x="3470310" y="3696491"/>
            <a:ext cx="1457328" cy="112694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1" name="Image 20"/>
          <p:cNvPicPr>
            <a:picLocks noChangeAspect="1"/>
          </p:cNvPicPr>
          <p:nvPr/>
        </p:nvPicPr>
        <p:blipFill>
          <a:blip r:embed="rId16"/>
          <a:stretch>
            <a:fillRect/>
          </a:stretch>
        </p:blipFill>
        <p:spPr>
          <a:xfrm>
            <a:off x="5237151" y="2278449"/>
            <a:ext cx="1487765" cy="1093202"/>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3" name="Image 22"/>
          <p:cNvPicPr>
            <a:picLocks noChangeAspect="1"/>
          </p:cNvPicPr>
          <p:nvPr/>
        </p:nvPicPr>
        <p:blipFill>
          <a:blip r:embed="rId17"/>
          <a:stretch>
            <a:fillRect/>
          </a:stretch>
        </p:blipFill>
        <p:spPr>
          <a:xfrm>
            <a:off x="6825840" y="5095562"/>
            <a:ext cx="1106456" cy="113026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905011163"/>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7424</TotalTime>
  <Words>1375</Words>
  <Application>Microsoft Office PowerPoint</Application>
  <PresentationFormat>Grand écran</PresentationFormat>
  <Paragraphs>207</Paragraphs>
  <Slides>10</Slides>
  <Notes>10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10</vt:i4>
      </vt:variant>
    </vt:vector>
  </HeadingPairs>
  <TitlesOfParts>
    <vt:vector size="16" baseType="lpstr">
      <vt:lpstr>Agency FB</vt:lpstr>
      <vt:lpstr>Arial</vt:lpstr>
      <vt:lpstr>Calibri</vt:lpstr>
      <vt:lpstr>Calibri Light</vt:lpstr>
      <vt:lpstr>Tahoma</vt:lpstr>
      <vt:lpstr>Thème Office</vt:lpstr>
      <vt:lpstr>Présentation des parcours client en cas de sinistre Auto Matériel</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Sofia HASSOUNI</dc:creator>
  <cp:lastModifiedBy>Sofia HASSOUNI</cp:lastModifiedBy>
  <cp:revision>44</cp:revision>
  <dcterms:created xsi:type="dcterms:W3CDTF">2023-10-13T07:52:33Z</dcterms:created>
  <dcterms:modified xsi:type="dcterms:W3CDTF">2024-02-21T12:19:38Z</dcterms:modified>
</cp:coreProperties>
</file>