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60" r:id="rId5"/>
    <p:sldId id="261" r:id="rId6"/>
    <p:sldId id="262"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fr-FR" smtClean="0"/>
              <a:t>Modifiez le style du titre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5705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nchor="ct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325476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fr-FR" smtClean="0"/>
              <a:t>Modifiez le style du titre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2422388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0A36A2C7-EA4B-41E1-84BC-E23F5A07980B}" type="datetimeFigureOut">
              <a:rPr lang="fr-FR" smtClean="0"/>
              <a:t>22/09/2022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94762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0A36A2C7-EA4B-41E1-84BC-E23F5A07980B}" type="datetimeFigureOut">
              <a:rPr lang="fr-FR" smtClean="0"/>
              <a:t>22/09/2022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424861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0A36A2C7-EA4B-41E1-84BC-E23F5A07980B}" type="datetimeFigureOut">
              <a:rPr lang="fr-FR" smtClean="0"/>
              <a:t>22/09/2022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132894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36A2C7-EA4B-41E1-84BC-E23F5A07980B}" type="datetimeFigureOut">
              <a:rPr lang="fr-FR" smtClean="0"/>
              <a:t>22/09/2022</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2577468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0A36A2C7-EA4B-41E1-84BC-E23F5A07980B}" type="datetimeFigureOut">
              <a:rPr lang="fr-FR" smtClean="0"/>
              <a:t>22/09/2022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3771348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fr-FR" smtClean="0"/>
              <a:t>Modifiez le style du titre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0A36A2C7-EA4B-41E1-84BC-E23F5A07980B}" type="datetimeFigureOut">
              <a:rPr lang="fr-FR" smtClean="0"/>
              <a:t>22/09/2022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3925676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Date Placeholder 2"/>
          <p:cNvSpPr>
            <a:spLocks noGrp="1"/>
          </p:cNvSpPr>
          <p:nvPr>
            <p:ph type="dt" sz="half" idx="10"/>
          </p:nvPr>
        </p:nvSpPr>
        <p:spPr/>
        <p:txBody>
          <a:bodyPr/>
          <a:lstStyle/>
          <a:p>
            <a:fld id="{0A36A2C7-EA4B-41E1-84BC-E23F5A07980B}" type="datetimeFigureOut">
              <a:rPr lang="fr-FR" smtClean="0"/>
              <a:t>22/09/2022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71988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fr-FR" smtClean="0"/>
              <a:t>Modifiez le style du titre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3641964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71772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fr-FR" smtClean="0"/>
              <a:t>Modifiez le style du titre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20181602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374605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fr-FR" smtClean="0"/>
              <a:t>Modifiez le style du titre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3008402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1783228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A36A2C7-EA4B-41E1-84BC-E23F5A07980B}" type="datetimeFigureOut">
              <a:rPr lang="fr-FR" smtClean="0"/>
              <a:t>22/09/2022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99A7EBC-0AFD-4D57-9B54-EB8DFB01845B}" type="slidenum">
              <a:rPr lang="fr-FR" smtClean="0"/>
              <a:t>‹N°›</a:t>
            </a:fld>
            <a:endParaRPr lang="fr-FR"/>
          </a:p>
        </p:txBody>
      </p:sp>
    </p:spTree>
    <p:extLst>
      <p:ext uri="{BB962C8B-B14F-4D97-AF65-F5344CB8AC3E}">
        <p14:creationId xmlns:p14="http://schemas.microsoft.com/office/powerpoint/2010/main" val="180064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A36A2C7-EA4B-41E1-84BC-E23F5A07980B}" type="datetimeFigureOut">
              <a:rPr lang="fr-FR" smtClean="0"/>
              <a:t>22/09/2022</a:t>
            </a:fld>
            <a:endParaRPr lang="fr-FR"/>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fr-F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99A7EBC-0AFD-4D57-9B54-EB8DFB01845B}" type="slidenum">
              <a:rPr lang="fr-FR" smtClean="0"/>
              <a:t>‹N°›</a:t>
            </a:fld>
            <a:endParaRPr lang="fr-FR"/>
          </a:p>
        </p:txBody>
      </p:sp>
    </p:spTree>
    <p:extLst>
      <p:ext uri="{BB962C8B-B14F-4D97-AF65-F5344CB8AC3E}">
        <p14:creationId xmlns:p14="http://schemas.microsoft.com/office/powerpoint/2010/main" val="38625706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Réforme</a:t>
            </a:r>
            <a:endParaRPr lang="fr-FR" dirty="0"/>
          </a:p>
        </p:txBody>
      </p:sp>
    </p:spTree>
    <p:extLst>
      <p:ext uri="{BB962C8B-B14F-4D97-AF65-F5344CB8AC3E}">
        <p14:creationId xmlns:p14="http://schemas.microsoft.com/office/powerpoint/2010/main" val="27699291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86681" y="2108538"/>
            <a:ext cx="6096000" cy="2031325"/>
          </a:xfrm>
          <a:prstGeom prst="rect">
            <a:avLst/>
          </a:prstGeom>
        </p:spPr>
        <p:txBody>
          <a:bodyPr>
            <a:spAutoFit/>
          </a:bodyPr>
          <a:lstStyle/>
          <a:p>
            <a:r>
              <a:rPr lang="fr-FR" b="1" dirty="0" smtClean="0"/>
              <a:t>Réforme technique : Réforme prononcée lorsque les éléments structurants du véhicule sont gravement atteints. VH irréparable.</a:t>
            </a:r>
          </a:p>
          <a:p>
            <a:pPr>
              <a:buNone/>
            </a:pPr>
            <a:endParaRPr lang="fr-FR" b="1" dirty="0" smtClean="0"/>
          </a:p>
          <a:p>
            <a:r>
              <a:rPr lang="fr-FR" b="1" dirty="0" smtClean="0"/>
              <a:t>Réforme économique : Réforme prononcée lorsque le coût de réparation du véhicule dépasse les deux tiers de sa valeur vénale </a:t>
            </a:r>
          </a:p>
        </p:txBody>
      </p:sp>
    </p:spTree>
    <p:extLst>
      <p:ext uri="{BB962C8B-B14F-4D97-AF65-F5344CB8AC3E}">
        <p14:creationId xmlns:p14="http://schemas.microsoft.com/office/powerpoint/2010/main" val="41822290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p:cNvSpPr>
            <a:spLocks noGrp="1"/>
          </p:cNvSpPr>
          <p:nvPr>
            <p:ph idx="1"/>
          </p:nvPr>
        </p:nvSpPr>
        <p:spPr>
          <a:xfrm>
            <a:off x="1716532" y="1780130"/>
            <a:ext cx="8229600" cy="3098284"/>
          </a:xfrm>
        </p:spPr>
        <p:txBody>
          <a:bodyPr>
            <a:spAutoFit/>
          </a:bodyPr>
          <a:lstStyle/>
          <a:p>
            <a:pPr marL="0"/>
            <a:r>
              <a:rPr lang="fr-FR" sz="1800" b="1" dirty="0"/>
              <a:t>VALEUR : en assurance, c’est la somme en risque. On </a:t>
            </a:r>
            <a:r>
              <a:rPr lang="fr-FR" sz="1800" b="1" dirty="0" smtClean="0"/>
              <a:t>retient </a:t>
            </a:r>
            <a:r>
              <a:rPr lang="fr-FR" sz="1800" b="1" dirty="0"/>
              <a:t>essentiellement :</a:t>
            </a:r>
          </a:p>
          <a:p>
            <a:pPr marL="0"/>
            <a:r>
              <a:rPr lang="fr-FR" sz="1800" b="1" dirty="0"/>
              <a:t>La valeur assurée :la valeur du bien déclarée par l’assuré à son assureur à la souscription du contrat d’assurances.</a:t>
            </a:r>
          </a:p>
          <a:p>
            <a:pPr marL="0"/>
            <a:r>
              <a:rPr lang="fr-FR" sz="1800" b="1" dirty="0"/>
              <a:t>La valeur vénale : la valeur marchande du bien assuré selon les prix, les estimations ou les cours habituels juste avant sinistre/ La valeur vénale d'un véhicule correspond à la valeur de la voiture sur le marché juste avant le </a:t>
            </a:r>
            <a:r>
              <a:rPr lang="fr-FR" sz="1800" b="1" dirty="0" smtClean="0"/>
              <a:t>sinistre</a:t>
            </a:r>
          </a:p>
          <a:p>
            <a:pPr marL="0"/>
            <a:r>
              <a:rPr lang="fr-FR" sz="1800" b="1" dirty="0" smtClean="0"/>
              <a:t>La valeur d’épave: la valeur du véhicule sinistré (après accident) </a:t>
            </a:r>
          </a:p>
          <a:p>
            <a:pPr marL="0"/>
            <a:r>
              <a:rPr lang="fr-FR" sz="1800" b="1" dirty="0" smtClean="0"/>
              <a:t>La différence des valeurs: la différence entre la valeur vénale arrêtée par l’expert et la valeur de l’épave, cette différence correspond à la base d’indemnisation.</a:t>
            </a:r>
            <a:endParaRPr lang="fr-FR" sz="1800" b="1" dirty="0"/>
          </a:p>
        </p:txBody>
      </p:sp>
    </p:spTree>
    <p:extLst>
      <p:ext uri="{BB962C8B-B14F-4D97-AF65-F5344CB8AC3E}">
        <p14:creationId xmlns:p14="http://schemas.microsoft.com/office/powerpoint/2010/main" val="4017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166911" y="857232"/>
            <a:ext cx="4323107" cy="369332"/>
          </a:xfrm>
          <a:prstGeom prst="rect">
            <a:avLst/>
          </a:prstGeom>
          <a:noFill/>
        </p:spPr>
        <p:txBody>
          <a:bodyPr wrap="none" rtlCol="0">
            <a:spAutoFit/>
          </a:bodyPr>
          <a:lstStyle/>
          <a:p>
            <a:r>
              <a:rPr lang="fr-FR" dirty="0" smtClean="0"/>
              <a:t>Gestion Réforme avec la compagnie adverse</a:t>
            </a:r>
            <a:endParaRPr lang="fr-FR" dirty="0"/>
          </a:p>
        </p:txBody>
      </p:sp>
      <p:sp>
        <p:nvSpPr>
          <p:cNvPr id="7" name="Rectangle 6"/>
          <p:cNvSpPr/>
          <p:nvPr/>
        </p:nvSpPr>
        <p:spPr>
          <a:xfrm>
            <a:off x="1738283" y="3786190"/>
            <a:ext cx="6425733" cy="369332"/>
          </a:xfrm>
          <a:prstGeom prst="rect">
            <a:avLst/>
          </a:prstGeom>
        </p:spPr>
        <p:style>
          <a:lnRef idx="1">
            <a:schemeClr val="dk1"/>
          </a:lnRef>
          <a:fillRef idx="3">
            <a:schemeClr val="dk1"/>
          </a:fillRef>
          <a:effectRef idx="2">
            <a:schemeClr val="dk1"/>
          </a:effectRef>
          <a:fontRef idx="minor">
            <a:schemeClr val="lt1"/>
          </a:fontRef>
        </p:style>
        <p:txBody>
          <a:bodyPr wrap="none">
            <a:spAutoFit/>
          </a:bodyPr>
          <a:lstStyle/>
          <a:p>
            <a:r>
              <a:rPr lang="fr-FR" dirty="0"/>
              <a:t>Le 2ème assureur dispose de 15 jours ouvrés pour traiter l’épave </a:t>
            </a:r>
          </a:p>
        </p:txBody>
      </p:sp>
      <p:sp>
        <p:nvSpPr>
          <p:cNvPr id="10" name="Rectangle à coins arrondis 9"/>
          <p:cNvSpPr/>
          <p:nvPr/>
        </p:nvSpPr>
        <p:spPr>
          <a:xfrm>
            <a:off x="2238348" y="1857364"/>
            <a:ext cx="4286280" cy="5000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Cos signature du rapport préliminaire par les 2 experts</a:t>
            </a:r>
          </a:p>
        </p:txBody>
      </p:sp>
      <p:sp>
        <p:nvSpPr>
          <p:cNvPr id="13" name="Carré corné 12"/>
          <p:cNvSpPr/>
          <p:nvPr/>
        </p:nvSpPr>
        <p:spPr>
          <a:xfrm>
            <a:off x="6381752" y="4357694"/>
            <a:ext cx="4143404" cy="1643074"/>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Passé ce délai, le rapport préliminaire devient définitif et le 1er assureur peut entamer l’indemnisation de son assuré sur la base de ce rapport. </a:t>
            </a:r>
          </a:p>
        </p:txBody>
      </p:sp>
      <p:cxnSp>
        <p:nvCxnSpPr>
          <p:cNvPr id="17" name="Connecteur droit avec flèche 16"/>
          <p:cNvCxnSpPr>
            <a:stCxn id="10" idx="2"/>
          </p:cNvCxnSpPr>
          <p:nvPr/>
        </p:nvCxnSpPr>
        <p:spPr>
          <a:xfrm rot="5400000">
            <a:off x="3667108" y="3071810"/>
            <a:ext cx="14287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4530929" y="2435930"/>
            <a:ext cx="1214445" cy="1200329"/>
          </a:xfrm>
          <a:prstGeom prst="rect">
            <a:avLst/>
          </a:prstGeom>
        </p:spPr>
        <p:txBody>
          <a:bodyPr wrap="square">
            <a:spAutoFit/>
          </a:bodyPr>
          <a:lstStyle/>
          <a:p>
            <a:pPr algn="ctr"/>
            <a:r>
              <a:rPr lang="fr-FR" dirty="0"/>
              <a:t>1</a:t>
            </a:r>
            <a:r>
              <a:rPr lang="fr-FR" baseline="30000" dirty="0"/>
              <a:t>er</a:t>
            </a:r>
            <a:r>
              <a:rPr lang="fr-FR" dirty="0"/>
              <a:t> assureur  envoi un mail</a:t>
            </a:r>
          </a:p>
        </p:txBody>
      </p:sp>
    </p:spTree>
    <p:extLst>
      <p:ext uri="{BB962C8B-B14F-4D97-AF65-F5344CB8AC3E}">
        <p14:creationId xmlns:p14="http://schemas.microsoft.com/office/powerpoint/2010/main" val="323833686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98846" y="464781"/>
            <a:ext cx="7143800" cy="1200329"/>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fr-FR" dirty="0"/>
              <a:t>Le 1er assureur et ou le 1er expert disposent de 5 jours ouvrés pour retourner par courriel à l’adresse mail dédiée au 2ème assureur la décision de l'assuré relative au sort de l’épave (céder ou garder). Passé ce délai, l’assuré est preneur de l’épave sur la base de l’offre du 2ème assureur. </a:t>
            </a:r>
          </a:p>
        </p:txBody>
      </p:sp>
      <p:sp>
        <p:nvSpPr>
          <p:cNvPr id="5" name="Rectangle 4"/>
          <p:cNvSpPr/>
          <p:nvPr/>
        </p:nvSpPr>
        <p:spPr>
          <a:xfrm>
            <a:off x="2298846" y="2135269"/>
            <a:ext cx="7143800" cy="3416320"/>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fr-FR" dirty="0"/>
              <a:t>Au cas où l’épaviste du 2ème assureur s’est désengagé, le 1er assureur doit prendre contact avec le 2ème assureur par courriel à l’adresse mail dédiée pour l’informer de la décision de l’épaviste. Le 2ème assureur dispose de 5 jours ouvrés pour convaincre le même épaviste ou communiquer une nouvelle offre. Passé ce délai, le rapport préliminaire devient définitif et le 1er assureur peut entamer l’indemnisation sur la base de ce rapport et gère l’épave comme bon lui semble. </a:t>
            </a:r>
          </a:p>
          <a:p>
            <a:r>
              <a:rPr lang="fr-FR" dirty="0"/>
              <a:t>Si le deuxième épaviste se désiste, le 1er assureur est tenu d’en informer le 2ème assureur par courriel à l’adresse mail dédiée en lui accordant un délai de 24 heures pour convaincre le 2ème épaviste. Passé ce délai, le rapport préliminaire devient définitif et le 1er assureur peut entamer l’indemnisation sur la base de ce rapport et gère l’épave comme bon lui </a:t>
            </a:r>
          </a:p>
        </p:txBody>
      </p:sp>
    </p:spTree>
    <p:extLst>
      <p:ext uri="{BB962C8B-B14F-4D97-AF65-F5344CB8AC3E}">
        <p14:creationId xmlns:p14="http://schemas.microsoft.com/office/powerpoint/2010/main" val="223526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grpId="0" nodeType="clickEffect">
                                  <p:stCondLst>
                                    <p:cond delay="0"/>
                                  </p:stCondLst>
                                  <p:childTnLst>
                                    <p:animRot by="21600000">
                                      <p:cBhvr>
                                        <p:cTn id="12"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66369" y="874099"/>
            <a:ext cx="8143932" cy="923330"/>
          </a:xfrm>
          <a:prstGeom prst="rect">
            <a:avLst/>
          </a:prstGeom>
        </p:spPr>
        <p:txBody>
          <a:bodyPr wrap="square">
            <a:spAutoFit/>
          </a:bodyPr>
          <a:lstStyle/>
          <a:p>
            <a:r>
              <a:rPr lang="fr-FR" dirty="0"/>
              <a:t>Dans le cas où la réforme est technique, le rapport définitif n’est établi qu’après radiation de la carte grise par le service des mines conformément aux dispositions de la loi portant code de la route </a:t>
            </a:r>
          </a:p>
        </p:txBody>
      </p:sp>
      <p:sp>
        <p:nvSpPr>
          <p:cNvPr id="5" name="Rectangle 4"/>
          <p:cNvSpPr/>
          <p:nvPr/>
        </p:nvSpPr>
        <p:spPr>
          <a:xfrm>
            <a:off x="1966369" y="1959895"/>
            <a:ext cx="8143932" cy="3693319"/>
          </a:xfrm>
          <a:prstGeom prst="rect">
            <a:avLst/>
          </a:prstGeom>
        </p:spPr>
        <p:txBody>
          <a:bodyPr wrap="square">
            <a:spAutoFit/>
          </a:bodyPr>
          <a:lstStyle/>
          <a:p>
            <a:r>
              <a:rPr lang="fr-FR" b="1" dirty="0"/>
              <a:t>Si l’assuré veut céder l’épave : </a:t>
            </a:r>
          </a:p>
          <a:p>
            <a:r>
              <a:rPr lang="fr-FR" dirty="0"/>
              <a:t>L’assuré est tenu de signer un acte de cession conforme au modèle en annexe intitulé « Assuré souhaitant céder l’épave ». </a:t>
            </a:r>
          </a:p>
          <a:p>
            <a:r>
              <a:rPr lang="fr-FR" b="1" dirty="0"/>
              <a:t>Si l’assuré veut garder l’épave : </a:t>
            </a:r>
          </a:p>
          <a:p>
            <a:r>
              <a:rPr lang="fr-FR" dirty="0"/>
              <a:t>L’assuré est tenu de signer un engagement conforme au modèle en annexe « Assuré souhaitant garder l’épave ». </a:t>
            </a:r>
          </a:p>
          <a:p>
            <a:r>
              <a:rPr lang="fr-FR" dirty="0"/>
              <a:t>Les deux experts sont tenus de cosigner le rapport définitif. </a:t>
            </a:r>
          </a:p>
          <a:p>
            <a:r>
              <a:rPr lang="fr-FR" dirty="0"/>
              <a:t>Le 2ème expert doit restituer le rapport cosigné au 1er expert dans un délai de 24 heures. </a:t>
            </a:r>
          </a:p>
          <a:p>
            <a:r>
              <a:rPr lang="fr-FR" dirty="0"/>
              <a:t>Le 1er expert est tenu de transmettre le rapport définitif cosigné et accompagné dudit engagement signé par l’assuré par courriel à l’adresse e-mail dédiée au 1er assureur en mettant en copie le 2ème assureur et le 2</a:t>
            </a:r>
            <a:r>
              <a:rPr lang="fr-FR" baseline="30000" dirty="0"/>
              <a:t>ème</a:t>
            </a:r>
            <a:endParaRPr lang="fr-FR" dirty="0"/>
          </a:p>
          <a:p>
            <a:r>
              <a:rPr lang="fr-FR" dirty="0"/>
              <a:t>expert </a:t>
            </a:r>
          </a:p>
        </p:txBody>
      </p:sp>
    </p:spTree>
    <p:extLst>
      <p:ext uri="{BB962C8B-B14F-4D97-AF65-F5344CB8AC3E}">
        <p14:creationId xmlns:p14="http://schemas.microsoft.com/office/powerpoint/2010/main" val="1429032555"/>
      </p:ext>
    </p:extLst>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Secteur">
  <a:themeElements>
    <a:clrScheme name="Secteu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eu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eu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72</TotalTime>
  <Words>455</Words>
  <Application>Microsoft Office PowerPoint</Application>
  <PresentationFormat>Grand écran</PresentationFormat>
  <Paragraphs>26</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Century Gothic</vt:lpstr>
      <vt:lpstr>Wingdings 3</vt:lpstr>
      <vt:lpstr>Secteur</vt:lpstr>
      <vt:lpstr>Réforme</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Réforme</dc:title>
  <dc:creator>Sofia HASSOUNI</dc:creator>
  <cp:lastModifiedBy>Sofia HASSOUNI</cp:lastModifiedBy>
  <cp:revision>9</cp:revision>
  <dcterms:created xsi:type="dcterms:W3CDTF">2022-09-22T08:06:33Z</dcterms:created>
  <dcterms:modified xsi:type="dcterms:W3CDTF">2022-09-22T14:17:23Z</dcterms:modified>
</cp:coreProperties>
</file>